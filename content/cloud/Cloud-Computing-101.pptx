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sldIdLst>
    <p:sldId id="272" r:id="rId3"/>
    <p:sldId id="266" r:id="rId4"/>
    <p:sldId id="271" r:id="rId5"/>
    <p:sldId id="274" r:id="rId6"/>
    <p:sldId id="275" r:id="rId7"/>
    <p:sldId id="277" r:id="rId8"/>
    <p:sldId id="278" r:id="rId9"/>
    <p:sldId id="279" r:id="rId10"/>
    <p:sldId id="318" r:id="rId11"/>
    <p:sldId id="280" r:id="rId12"/>
    <p:sldId id="281" r:id="rId13"/>
    <p:sldId id="282" r:id="rId14"/>
    <p:sldId id="283" r:id="rId15"/>
    <p:sldId id="284" r:id="rId16"/>
    <p:sldId id="285" r:id="rId17"/>
    <p:sldId id="273" r:id="rId18"/>
    <p:sldId id="286" r:id="rId19"/>
    <p:sldId id="288" r:id="rId20"/>
    <p:sldId id="287" r:id="rId21"/>
    <p:sldId id="291" r:id="rId22"/>
    <p:sldId id="292" r:id="rId23"/>
    <p:sldId id="293" r:id="rId24"/>
    <p:sldId id="294" r:id="rId25"/>
    <p:sldId id="300" r:id="rId26"/>
    <p:sldId id="301" r:id="rId27"/>
    <p:sldId id="295" r:id="rId28"/>
    <p:sldId id="296" r:id="rId29"/>
    <p:sldId id="297" r:id="rId30"/>
    <p:sldId id="298" r:id="rId31"/>
    <p:sldId id="315" r:id="rId32"/>
    <p:sldId id="316" r:id="rId33"/>
    <p:sldId id="317" r:id="rId34"/>
    <p:sldId id="313" r:id="rId35"/>
    <p:sldId id="303" r:id="rId36"/>
    <p:sldId id="304" r:id="rId37"/>
    <p:sldId id="305" r:id="rId38"/>
    <p:sldId id="306" r:id="rId39"/>
    <p:sldId id="307" r:id="rId40"/>
    <p:sldId id="308" r:id="rId41"/>
    <p:sldId id="309" r:id="rId42"/>
    <p:sldId id="310" r:id="rId43"/>
    <p:sldId id="311" r:id="rId44"/>
    <p:sldId id="312" r:id="rId45"/>
    <p:sldId id="319" r:id="rId46"/>
    <p:sldId id="321" r:id="rId47"/>
    <p:sldId id="322" r:id="rId48"/>
    <p:sldId id="323" r:id="rId49"/>
    <p:sldId id="326" r:id="rId50"/>
    <p:sldId id="327" r:id="rId51"/>
    <p:sldId id="328" r:id="rId52"/>
    <p:sldId id="329" r:id="rId53"/>
    <p:sldId id="333" r:id="rId54"/>
    <p:sldId id="330" r:id="rId55"/>
    <p:sldId id="331" r:id="rId56"/>
    <p:sldId id="332" r:id="rId57"/>
    <p:sldId id="320" r:id="rId58"/>
    <p:sldId id="335" r:id="rId59"/>
    <p:sldId id="334" r:id="rId60"/>
  </p:sldIdLst>
  <p:sldSz cx="12192000" cy="6858000"/>
  <p:notesSz cx="6858000" cy="9144000"/>
  <p:defaultTextStyle>
    <a:defPPr>
      <a:defRPr lang="en-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p5pHGTHiMXKYBiYX6D1LFg==" hashData="u+j9WhrorVdsCTWRHSpySyFzvO5rrwrPppabEL/jqcokNa3vL6UkbOUnCXtk1gIlqs8UAWCrK2CsHIOBg9v9UA=="/>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FAA"/>
    <a:srgbClr val="EF14A8"/>
    <a:srgbClr val="FFA93A"/>
    <a:srgbClr val="EE3030"/>
    <a:srgbClr val="EE0002"/>
    <a:srgbClr val="FAF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870"/>
    <p:restoredTop sz="96301"/>
  </p:normalViewPr>
  <p:slideViewPr>
    <p:cSldViewPr snapToGrid="0">
      <p:cViewPr>
        <p:scale>
          <a:sx n="98" d="100"/>
          <a:sy n="98" d="100"/>
        </p:scale>
        <p:origin x="1552" y="8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presProps" Target="pres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4" Type="http://schemas.openxmlformats.org/officeDocument/2006/relationships/slide" Target="slides/slide2.xml"/><Relationship Id="rId9"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4760F6E-20C7-2568-F56E-155964DF5503}"/>
              </a:ext>
            </a:extLst>
          </p:cNvPr>
          <p:cNvSpPr/>
          <p:nvPr userDrawn="1"/>
        </p:nvSpPr>
        <p:spPr>
          <a:xfrm>
            <a:off x="0" y="0"/>
            <a:ext cx="12192000" cy="6858000"/>
          </a:xfrm>
          <a:prstGeom prst="rect">
            <a:avLst/>
          </a:prstGeom>
          <a:gradFill flip="none" rotWithShape="1">
            <a:gsLst>
              <a:gs pos="0">
                <a:srgbClr val="1B0273"/>
              </a:gs>
              <a:gs pos="100000">
                <a:srgbClr val="060126"/>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8" name="Picture 7" descr="A picture containing animal, reptile&#10;&#10;Description automatically generated">
            <a:extLst>
              <a:ext uri="{FF2B5EF4-FFF2-40B4-BE49-F238E27FC236}">
                <a16:creationId xmlns:a16="http://schemas.microsoft.com/office/drawing/2014/main" id="{A7978E91-775F-D09D-6903-F6A231B03FE8}"/>
              </a:ext>
            </a:extLst>
          </p:cNvPr>
          <p:cNvPicPr>
            <a:picLocks noChangeAspect="1"/>
          </p:cNvPicPr>
          <p:nvPr userDrawn="1"/>
        </p:nvPicPr>
        <p:blipFill rotWithShape="1">
          <a:blip r:embed="rId2">
            <a:alphaModFix amt="18000"/>
            <a:extLst>
              <a:ext uri="{28A0092B-C50C-407E-A947-70E740481C1C}">
                <a14:useLocalDpi xmlns:a14="http://schemas.microsoft.com/office/drawing/2010/main" val="0"/>
              </a:ext>
            </a:extLst>
          </a:blip>
          <a:srcRect l="27557" t="32804" r="19028" b="32275"/>
          <a:stretch/>
        </p:blipFill>
        <p:spPr>
          <a:xfrm>
            <a:off x="0" y="2537682"/>
            <a:ext cx="12192000" cy="5634957"/>
          </a:xfrm>
          <a:prstGeom prst="rect">
            <a:avLst/>
          </a:prstGeom>
        </p:spPr>
      </p:pic>
      <p:sp>
        <p:nvSpPr>
          <p:cNvPr id="9" name="TextBox 8">
            <a:extLst>
              <a:ext uri="{FF2B5EF4-FFF2-40B4-BE49-F238E27FC236}">
                <a16:creationId xmlns:a16="http://schemas.microsoft.com/office/drawing/2014/main" id="{2F299830-51BD-9792-4077-3B5D6096426C}"/>
              </a:ext>
            </a:extLst>
          </p:cNvPr>
          <p:cNvSpPr txBox="1"/>
          <p:nvPr userDrawn="1"/>
        </p:nvSpPr>
        <p:spPr>
          <a:xfrm>
            <a:off x="1503628" y="2257105"/>
            <a:ext cx="5268686" cy="1569660"/>
          </a:xfrm>
          <a:prstGeom prst="rect">
            <a:avLst/>
          </a:prstGeom>
          <a:noFill/>
        </p:spPr>
        <p:txBody>
          <a:bodyPr wrap="square" rtlCol="0">
            <a:spAutoFit/>
          </a:bodyPr>
          <a:lstStyle/>
          <a:p>
            <a:r>
              <a:rPr lang="en-US" sz="4800" dirty="0">
                <a:solidFill>
                  <a:schemeClr val="bg1"/>
                </a:solidFill>
                <a:latin typeface="Arial Black" panose="020B0A04020102020204" pitchFamily="34" charset="0"/>
              </a:rPr>
              <a:t>Cloud</a:t>
            </a:r>
            <a:br>
              <a:rPr lang="en-US" sz="4800" dirty="0">
                <a:solidFill>
                  <a:schemeClr val="bg1"/>
                </a:solidFill>
                <a:latin typeface="Arial Black" panose="020B0A04020102020204" pitchFamily="34" charset="0"/>
              </a:rPr>
            </a:br>
            <a:r>
              <a:rPr lang="en-US" sz="4800" dirty="0">
                <a:solidFill>
                  <a:schemeClr val="bg1"/>
                </a:solidFill>
                <a:latin typeface="Arial Black" panose="020B0A04020102020204" pitchFamily="34" charset="0"/>
              </a:rPr>
              <a:t>Computing</a:t>
            </a:r>
            <a:endParaRPr lang="en-ID" sz="4800" dirty="0">
              <a:solidFill>
                <a:schemeClr val="bg1"/>
              </a:solidFill>
              <a:latin typeface="Arial Black" panose="020B0A04020102020204" pitchFamily="34" charset="0"/>
            </a:endParaRPr>
          </a:p>
        </p:txBody>
      </p:sp>
      <p:cxnSp>
        <p:nvCxnSpPr>
          <p:cNvPr id="10" name="Straight Connector 9">
            <a:extLst>
              <a:ext uri="{FF2B5EF4-FFF2-40B4-BE49-F238E27FC236}">
                <a16:creationId xmlns:a16="http://schemas.microsoft.com/office/drawing/2014/main" id="{329B0C99-0C03-0AA9-48A3-2DCC58657CA9}"/>
              </a:ext>
            </a:extLst>
          </p:cNvPr>
          <p:cNvCxnSpPr/>
          <p:nvPr userDrawn="1"/>
        </p:nvCxnSpPr>
        <p:spPr>
          <a:xfrm>
            <a:off x="1592528" y="3924809"/>
            <a:ext cx="15675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Freeform: Shape 16">
            <a:extLst>
              <a:ext uri="{FF2B5EF4-FFF2-40B4-BE49-F238E27FC236}">
                <a16:creationId xmlns:a16="http://schemas.microsoft.com/office/drawing/2014/main" id="{03459B62-4833-DD35-BFC7-3092B6B1A05C}"/>
              </a:ext>
            </a:extLst>
          </p:cNvPr>
          <p:cNvSpPr/>
          <p:nvPr userDrawn="1"/>
        </p:nvSpPr>
        <p:spPr>
          <a:xfrm rot="8732702" flipH="1">
            <a:off x="7303524" y="3072245"/>
            <a:ext cx="2967053" cy="1915097"/>
          </a:xfrm>
          <a:custGeom>
            <a:avLst/>
            <a:gdLst>
              <a:gd name="connsiteX0" fmla="*/ 1415702 w 1435346"/>
              <a:gd name="connsiteY0" fmla="*/ 532493 h 926450"/>
              <a:gd name="connsiteX1" fmla="*/ 1420921 w 1435346"/>
              <a:gd name="connsiteY1" fmla="*/ 307536 h 926450"/>
              <a:gd name="connsiteX2" fmla="*/ 1233935 w 1435346"/>
              <a:gd name="connsiteY2" fmla="*/ 178876 h 926450"/>
              <a:gd name="connsiteX3" fmla="*/ 1066652 w 1435346"/>
              <a:gd name="connsiteY3" fmla="*/ 233289 h 926450"/>
              <a:gd name="connsiteX4" fmla="*/ 893366 w 1435346"/>
              <a:gd name="connsiteY4" fmla="*/ 259125 h 926450"/>
              <a:gd name="connsiteX5" fmla="*/ 736522 w 1435346"/>
              <a:gd name="connsiteY5" fmla="*/ 129292 h 926450"/>
              <a:gd name="connsiteX6" fmla="*/ 357069 w 1435346"/>
              <a:gd name="connsiteY6" fmla="*/ 4678 h 926450"/>
              <a:gd name="connsiteX7" fmla="*/ 53950 w 1435346"/>
              <a:gd name="connsiteY7" fmla="*/ 227026 h 926450"/>
              <a:gd name="connsiteX8" fmla="*/ 24721 w 1435346"/>
              <a:gd name="connsiteY8" fmla="*/ 629184 h 926450"/>
              <a:gd name="connsiteX9" fmla="*/ 235456 w 1435346"/>
              <a:gd name="connsiteY9" fmla="*/ 902421 h 926450"/>
              <a:gd name="connsiteX10" fmla="*/ 569239 w 1435346"/>
              <a:gd name="connsiteY10" fmla="*/ 855707 h 926450"/>
              <a:gd name="connsiteX11" fmla="*/ 737044 w 1435346"/>
              <a:gd name="connsiteY11" fmla="*/ 685292 h 926450"/>
              <a:gd name="connsiteX12" fmla="*/ 949214 w 1435346"/>
              <a:gd name="connsiteY12" fmla="*/ 587819 h 926450"/>
              <a:gd name="connsiteX13" fmla="*/ 1213579 w 1435346"/>
              <a:gd name="connsiteY13" fmla="*/ 661544 h 926450"/>
              <a:gd name="connsiteX14" fmla="*/ 1415702 w 1435346"/>
              <a:gd name="connsiteY14" fmla="*/ 532493 h 92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35346" h="926450">
                <a:moveTo>
                  <a:pt x="1415702" y="532493"/>
                </a:moveTo>
                <a:cubicBezTo>
                  <a:pt x="1452630" y="468033"/>
                  <a:pt x="1456544" y="380608"/>
                  <a:pt x="1420921" y="307536"/>
                </a:cubicBezTo>
                <a:cubicBezTo>
                  <a:pt x="1385299" y="234594"/>
                  <a:pt x="1309356" y="180181"/>
                  <a:pt x="1233935" y="178876"/>
                </a:cubicBezTo>
                <a:cubicBezTo>
                  <a:pt x="1173259" y="177833"/>
                  <a:pt x="1119760" y="208105"/>
                  <a:pt x="1066652" y="233289"/>
                </a:cubicBezTo>
                <a:cubicBezTo>
                  <a:pt x="1013544" y="258473"/>
                  <a:pt x="952738" y="279351"/>
                  <a:pt x="893366" y="259125"/>
                </a:cubicBezTo>
                <a:cubicBezTo>
                  <a:pt x="830472" y="237726"/>
                  <a:pt x="786498" y="176789"/>
                  <a:pt x="736522" y="129292"/>
                </a:cubicBezTo>
                <a:cubicBezTo>
                  <a:pt x="632525" y="30514"/>
                  <a:pt x="487164" y="-15548"/>
                  <a:pt x="357069" y="4678"/>
                </a:cubicBezTo>
                <a:cubicBezTo>
                  <a:pt x="226974" y="24903"/>
                  <a:pt x="114626" y="109588"/>
                  <a:pt x="53950" y="227026"/>
                </a:cubicBezTo>
                <a:cubicBezTo>
                  <a:pt x="-6726" y="344463"/>
                  <a:pt x="-15860" y="492434"/>
                  <a:pt x="24721" y="629184"/>
                </a:cubicBezTo>
                <a:cubicBezTo>
                  <a:pt x="58256" y="742315"/>
                  <a:pt x="130806" y="853097"/>
                  <a:pt x="235456" y="902421"/>
                </a:cubicBezTo>
                <a:cubicBezTo>
                  <a:pt x="348457" y="955659"/>
                  <a:pt x="478160" y="926561"/>
                  <a:pt x="569239" y="855707"/>
                </a:cubicBezTo>
                <a:cubicBezTo>
                  <a:pt x="632003" y="806905"/>
                  <a:pt x="679761" y="740749"/>
                  <a:pt x="737044" y="685292"/>
                </a:cubicBezTo>
                <a:cubicBezTo>
                  <a:pt x="794328" y="629836"/>
                  <a:pt x="866878" y="583774"/>
                  <a:pt x="949214" y="587819"/>
                </a:cubicBezTo>
                <a:cubicBezTo>
                  <a:pt x="1038989" y="592387"/>
                  <a:pt x="1124979" y="664806"/>
                  <a:pt x="1213579" y="661544"/>
                </a:cubicBezTo>
                <a:cubicBezTo>
                  <a:pt x="1290696" y="658673"/>
                  <a:pt x="1379166" y="596301"/>
                  <a:pt x="1415702" y="532493"/>
                </a:cubicBezTo>
                <a:close/>
              </a:path>
            </a:pathLst>
          </a:custGeom>
          <a:gradFill>
            <a:gsLst>
              <a:gs pos="7000">
                <a:srgbClr val="EF14A8"/>
              </a:gs>
              <a:gs pos="100000">
                <a:srgbClr val="FFA93A"/>
              </a:gs>
            </a:gsLst>
            <a:lin ang="2400000" scaled="0"/>
          </a:gradFill>
          <a:ln w="12700" cap="flat" cmpd="sng" algn="ctr">
            <a:noFill/>
            <a:prstDash val="solid"/>
            <a:miter lim="800000"/>
          </a:ln>
          <a:effectLst>
            <a:outerShdw blurRad="355600" sx="102000" sy="102000" algn="ctr" rotWithShape="0">
              <a:prstClr val="black">
                <a:alpha val="19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D" sz="3600" b="1" dirty="0">
              <a:solidFill>
                <a:schemeClr val="bg1"/>
              </a:solidFill>
              <a:latin typeface="Segoe UI" panose="020B0502040204020203" pitchFamily="34" charset="0"/>
              <a:ea typeface="Verdana" panose="020B0604030504040204" pitchFamily="34" charset="0"/>
              <a:cs typeface="Segoe UI" panose="020B0502040204020203" pitchFamily="34" charset="0"/>
            </a:endParaRPr>
          </a:p>
        </p:txBody>
      </p:sp>
      <p:pic>
        <p:nvPicPr>
          <p:cNvPr id="12" name="Graphic 11">
            <a:extLst>
              <a:ext uri="{FF2B5EF4-FFF2-40B4-BE49-F238E27FC236}">
                <a16:creationId xmlns:a16="http://schemas.microsoft.com/office/drawing/2014/main" id="{3D1D91CA-AC05-CC6D-DDFC-8535C588531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096000" y="1449149"/>
            <a:ext cx="3677894" cy="3308498"/>
          </a:xfrm>
          <a:prstGeom prst="rect">
            <a:avLst/>
          </a:prstGeom>
        </p:spPr>
      </p:pic>
      <p:grpSp>
        <p:nvGrpSpPr>
          <p:cNvPr id="13" name="Group 12">
            <a:extLst>
              <a:ext uri="{FF2B5EF4-FFF2-40B4-BE49-F238E27FC236}">
                <a16:creationId xmlns:a16="http://schemas.microsoft.com/office/drawing/2014/main" id="{EE7F3C39-1DCB-2F26-1C12-E6F255FC77CF}"/>
              </a:ext>
            </a:extLst>
          </p:cNvPr>
          <p:cNvGrpSpPr/>
          <p:nvPr userDrawn="1"/>
        </p:nvGrpSpPr>
        <p:grpSpPr>
          <a:xfrm>
            <a:off x="11262462" y="192996"/>
            <a:ext cx="706842" cy="363193"/>
            <a:chOff x="11262462" y="192996"/>
            <a:chExt cx="706842" cy="363193"/>
          </a:xfrm>
        </p:grpSpPr>
        <p:sp>
          <p:nvSpPr>
            <p:cNvPr id="14" name="Rectangle: Rounded Corners 22">
              <a:extLst>
                <a:ext uri="{FF2B5EF4-FFF2-40B4-BE49-F238E27FC236}">
                  <a16:creationId xmlns:a16="http://schemas.microsoft.com/office/drawing/2014/main" id="{E89D4989-95DB-6519-29D0-F46D0EC89494}"/>
                </a:ext>
              </a:extLst>
            </p:cNvPr>
            <p:cNvSpPr/>
            <p:nvPr/>
          </p:nvSpPr>
          <p:spPr>
            <a:xfrm>
              <a:off x="11350058" y="197125"/>
              <a:ext cx="41910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5" name="Oval 14">
              <a:extLst>
                <a:ext uri="{FF2B5EF4-FFF2-40B4-BE49-F238E27FC236}">
                  <a16:creationId xmlns:a16="http://schemas.microsoft.com/office/drawing/2014/main" id="{B5961297-2142-5CDD-BEB3-94553526A0D2}"/>
                </a:ext>
              </a:extLst>
            </p:cNvPr>
            <p:cNvSpPr/>
            <p:nvPr/>
          </p:nvSpPr>
          <p:spPr>
            <a:xfrm>
              <a:off x="11262462" y="192996"/>
              <a:ext cx="45720" cy="457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6" name="Rectangle: Rounded Corners 24">
              <a:extLst>
                <a:ext uri="{FF2B5EF4-FFF2-40B4-BE49-F238E27FC236}">
                  <a16:creationId xmlns:a16="http://schemas.microsoft.com/office/drawing/2014/main" id="{C56B1E9B-903B-62DE-259B-841B1190966E}"/>
                </a:ext>
              </a:extLst>
            </p:cNvPr>
            <p:cNvSpPr/>
            <p:nvPr/>
          </p:nvSpPr>
          <p:spPr>
            <a:xfrm>
              <a:off x="11309577" y="299337"/>
              <a:ext cx="32385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7" name="Rectangle: Rounded Corners 25">
              <a:extLst>
                <a:ext uri="{FF2B5EF4-FFF2-40B4-BE49-F238E27FC236}">
                  <a16:creationId xmlns:a16="http://schemas.microsoft.com/office/drawing/2014/main" id="{F2580C73-9804-F445-B68B-EB772DDF462D}"/>
                </a:ext>
              </a:extLst>
            </p:cNvPr>
            <p:cNvSpPr/>
            <p:nvPr/>
          </p:nvSpPr>
          <p:spPr>
            <a:xfrm>
              <a:off x="11564370" y="401549"/>
              <a:ext cx="204787"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8" name="Oval 17">
              <a:extLst>
                <a:ext uri="{FF2B5EF4-FFF2-40B4-BE49-F238E27FC236}">
                  <a16:creationId xmlns:a16="http://schemas.microsoft.com/office/drawing/2014/main" id="{A8AADE96-8631-846B-6DD5-9E7615B74F0E}"/>
                </a:ext>
              </a:extLst>
            </p:cNvPr>
            <p:cNvSpPr/>
            <p:nvPr/>
          </p:nvSpPr>
          <p:spPr>
            <a:xfrm>
              <a:off x="11471502" y="402616"/>
              <a:ext cx="45720" cy="457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9" name="Picture 18" descr="A white cloud on a black background&#10;&#10;Description automatically generated">
              <a:extLst>
                <a:ext uri="{FF2B5EF4-FFF2-40B4-BE49-F238E27FC236}">
                  <a16:creationId xmlns:a16="http://schemas.microsoft.com/office/drawing/2014/main" id="{17D72E39-992F-6BFF-4EEA-37AA83A8D89B}"/>
                </a:ext>
              </a:extLst>
            </p:cNvPr>
            <p:cNvPicPr>
              <a:picLocks noChangeAspect="1"/>
            </p:cNvPicPr>
            <p:nvPr/>
          </p:nvPicPr>
          <p:blipFill>
            <a:blip r:embed="rId5"/>
            <a:stretch>
              <a:fillRect/>
            </a:stretch>
          </p:blipFill>
          <p:spPr>
            <a:xfrm>
              <a:off x="11616160" y="203045"/>
              <a:ext cx="353144" cy="353144"/>
            </a:xfrm>
            <a:prstGeom prst="rect">
              <a:avLst/>
            </a:prstGeom>
          </p:spPr>
        </p:pic>
      </p:grpSp>
      <p:sp>
        <p:nvSpPr>
          <p:cNvPr id="20" name="TextBox 19">
            <a:extLst>
              <a:ext uri="{FF2B5EF4-FFF2-40B4-BE49-F238E27FC236}">
                <a16:creationId xmlns:a16="http://schemas.microsoft.com/office/drawing/2014/main" id="{DD8446C4-B7FD-6046-7D84-6430C3DCBADB}"/>
              </a:ext>
            </a:extLst>
          </p:cNvPr>
          <p:cNvSpPr txBox="1"/>
          <p:nvPr userDrawn="1"/>
        </p:nvSpPr>
        <p:spPr>
          <a:xfrm>
            <a:off x="1503628" y="4047277"/>
            <a:ext cx="1769908" cy="338554"/>
          </a:xfrm>
          <a:prstGeom prst="rect">
            <a:avLst/>
          </a:prstGeom>
          <a:noFill/>
        </p:spPr>
        <p:txBody>
          <a:bodyPr wrap="none" rtlCol="0">
            <a:spAutoFit/>
          </a:bodyPr>
          <a:lstStyle/>
          <a:p>
            <a:r>
              <a:rPr lang="en-US" sz="1600" dirty="0">
                <a:solidFill>
                  <a:schemeClr val="bg1"/>
                </a:solidFill>
                <a:latin typeface="Arial" panose="020B0604020202020204" pitchFamily="34" charset="0"/>
                <a:cs typeface="Arial" panose="020B0604020202020204" pitchFamily="34" charset="0"/>
              </a:rPr>
              <a:t>By: Ahmad Shata</a:t>
            </a:r>
            <a:endParaRPr lang="en-ID" sz="16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66704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CEED09B-AFD2-5FD7-FEA7-62AA843EFB68}"/>
              </a:ext>
            </a:extLst>
          </p:cNvPr>
          <p:cNvSpPr/>
          <p:nvPr userDrawn="1"/>
        </p:nvSpPr>
        <p:spPr>
          <a:xfrm>
            <a:off x="0" y="0"/>
            <a:ext cx="12192000" cy="6858000"/>
          </a:xfrm>
          <a:prstGeom prst="rect">
            <a:avLst/>
          </a:prstGeom>
          <a:gradFill flip="none" rotWithShape="1">
            <a:gsLst>
              <a:gs pos="0">
                <a:srgbClr val="1B0273"/>
              </a:gs>
              <a:gs pos="100000">
                <a:srgbClr val="060126"/>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D" sz="2400" dirty="0"/>
          </a:p>
        </p:txBody>
      </p:sp>
      <p:pic>
        <p:nvPicPr>
          <p:cNvPr id="17" name="Picture 16" descr="A picture containing animal, reptile&#10;&#10;Description automatically generated">
            <a:extLst>
              <a:ext uri="{FF2B5EF4-FFF2-40B4-BE49-F238E27FC236}">
                <a16:creationId xmlns:a16="http://schemas.microsoft.com/office/drawing/2014/main" id="{9640F149-DFA3-9C8D-56A3-45CDDFBC6834}"/>
              </a:ext>
            </a:extLst>
          </p:cNvPr>
          <p:cNvPicPr>
            <a:picLocks noChangeAspect="1"/>
          </p:cNvPicPr>
          <p:nvPr userDrawn="1"/>
        </p:nvPicPr>
        <p:blipFill rotWithShape="1">
          <a:blip r:embed="rId2">
            <a:alphaModFix amt="11000"/>
            <a:extLst>
              <a:ext uri="{28A0092B-C50C-407E-A947-70E740481C1C}">
                <a14:useLocalDpi xmlns:a14="http://schemas.microsoft.com/office/drawing/2010/main" val="0"/>
              </a:ext>
            </a:extLst>
          </a:blip>
          <a:srcRect l="27557" t="32804" r="19028" b="49735"/>
          <a:stretch/>
        </p:blipFill>
        <p:spPr>
          <a:xfrm>
            <a:off x="-322697" y="4210277"/>
            <a:ext cx="12192000" cy="2817479"/>
          </a:xfrm>
          <a:prstGeom prst="rect">
            <a:avLst/>
          </a:prstGeom>
        </p:spPr>
      </p:pic>
      <p:cxnSp>
        <p:nvCxnSpPr>
          <p:cNvPr id="18" name="Straight Connector 17">
            <a:extLst>
              <a:ext uri="{FF2B5EF4-FFF2-40B4-BE49-F238E27FC236}">
                <a16:creationId xmlns:a16="http://schemas.microsoft.com/office/drawing/2014/main" id="{304BBE11-61E0-B7ED-B145-CCD5940AEF76}"/>
              </a:ext>
            </a:extLst>
          </p:cNvPr>
          <p:cNvCxnSpPr>
            <a:cxnSpLocks/>
          </p:cNvCxnSpPr>
          <p:nvPr userDrawn="1"/>
        </p:nvCxnSpPr>
        <p:spPr>
          <a:xfrm>
            <a:off x="-322697" y="482039"/>
            <a:ext cx="676275" cy="0"/>
          </a:xfrm>
          <a:prstGeom prst="line">
            <a:avLst/>
          </a:prstGeom>
          <a:ln>
            <a:solidFill>
              <a:srgbClr val="FFB531"/>
            </a:solidFill>
            <a:tailEnd type="oval" w="lg" len="lg"/>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6A8E9B36-94F0-F73D-BA0A-F620B345F244}"/>
              </a:ext>
            </a:extLst>
          </p:cNvPr>
          <p:cNvGrpSpPr/>
          <p:nvPr userDrawn="1"/>
        </p:nvGrpSpPr>
        <p:grpSpPr>
          <a:xfrm>
            <a:off x="11262462" y="192996"/>
            <a:ext cx="706842" cy="363193"/>
            <a:chOff x="11262462" y="192996"/>
            <a:chExt cx="706842" cy="363193"/>
          </a:xfrm>
        </p:grpSpPr>
        <p:sp>
          <p:nvSpPr>
            <p:cNvPr id="20" name="Rectangle: Rounded Corners 22">
              <a:extLst>
                <a:ext uri="{FF2B5EF4-FFF2-40B4-BE49-F238E27FC236}">
                  <a16:creationId xmlns:a16="http://schemas.microsoft.com/office/drawing/2014/main" id="{8F18E4EE-4A13-DBE8-B92C-AC835BAA5FA6}"/>
                </a:ext>
              </a:extLst>
            </p:cNvPr>
            <p:cNvSpPr/>
            <p:nvPr/>
          </p:nvSpPr>
          <p:spPr>
            <a:xfrm>
              <a:off x="11350058" y="197125"/>
              <a:ext cx="41910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1" name="Oval 20">
              <a:extLst>
                <a:ext uri="{FF2B5EF4-FFF2-40B4-BE49-F238E27FC236}">
                  <a16:creationId xmlns:a16="http://schemas.microsoft.com/office/drawing/2014/main" id="{B2A03635-475A-2A8B-A84B-C05303F0B5AF}"/>
                </a:ext>
              </a:extLst>
            </p:cNvPr>
            <p:cNvSpPr/>
            <p:nvPr/>
          </p:nvSpPr>
          <p:spPr>
            <a:xfrm>
              <a:off x="11262462" y="192996"/>
              <a:ext cx="45720" cy="457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2" name="Rectangle: Rounded Corners 24">
              <a:extLst>
                <a:ext uri="{FF2B5EF4-FFF2-40B4-BE49-F238E27FC236}">
                  <a16:creationId xmlns:a16="http://schemas.microsoft.com/office/drawing/2014/main" id="{4D29934E-672A-1DB1-FB8C-11418B7E81D2}"/>
                </a:ext>
              </a:extLst>
            </p:cNvPr>
            <p:cNvSpPr/>
            <p:nvPr/>
          </p:nvSpPr>
          <p:spPr>
            <a:xfrm>
              <a:off x="11309577" y="299337"/>
              <a:ext cx="32385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Rounded Corners 25">
              <a:extLst>
                <a:ext uri="{FF2B5EF4-FFF2-40B4-BE49-F238E27FC236}">
                  <a16:creationId xmlns:a16="http://schemas.microsoft.com/office/drawing/2014/main" id="{5AF8791F-CABB-6392-7484-A166AD9E27B6}"/>
                </a:ext>
              </a:extLst>
            </p:cNvPr>
            <p:cNvSpPr/>
            <p:nvPr/>
          </p:nvSpPr>
          <p:spPr>
            <a:xfrm>
              <a:off x="11564370" y="401549"/>
              <a:ext cx="204787"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Oval 23">
              <a:extLst>
                <a:ext uri="{FF2B5EF4-FFF2-40B4-BE49-F238E27FC236}">
                  <a16:creationId xmlns:a16="http://schemas.microsoft.com/office/drawing/2014/main" id="{540D22E8-03C8-9D1D-21AB-E6E237F05A6B}"/>
                </a:ext>
              </a:extLst>
            </p:cNvPr>
            <p:cNvSpPr/>
            <p:nvPr/>
          </p:nvSpPr>
          <p:spPr>
            <a:xfrm>
              <a:off x="11471502" y="402616"/>
              <a:ext cx="45720" cy="457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25" name="Picture 24" descr="A white cloud on a black background&#10;&#10;Description automatically generated">
              <a:extLst>
                <a:ext uri="{FF2B5EF4-FFF2-40B4-BE49-F238E27FC236}">
                  <a16:creationId xmlns:a16="http://schemas.microsoft.com/office/drawing/2014/main" id="{FEBF5AED-2A38-C592-B019-53EA3321D5F8}"/>
                </a:ext>
              </a:extLst>
            </p:cNvPr>
            <p:cNvPicPr>
              <a:picLocks noChangeAspect="1"/>
            </p:cNvPicPr>
            <p:nvPr/>
          </p:nvPicPr>
          <p:blipFill>
            <a:blip r:embed="rId3"/>
            <a:stretch>
              <a:fillRect/>
            </a:stretch>
          </p:blipFill>
          <p:spPr>
            <a:xfrm>
              <a:off x="11616160" y="203045"/>
              <a:ext cx="353144" cy="353144"/>
            </a:xfrm>
            <a:prstGeom prst="rect">
              <a:avLst/>
            </a:prstGeom>
          </p:spPr>
        </p:pic>
      </p:grpSp>
    </p:spTree>
    <p:extLst>
      <p:ext uri="{BB962C8B-B14F-4D97-AF65-F5344CB8AC3E}">
        <p14:creationId xmlns:p14="http://schemas.microsoft.com/office/powerpoint/2010/main" val="975430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CEED09B-AFD2-5FD7-FEA7-62AA843EFB68}"/>
              </a:ext>
            </a:extLst>
          </p:cNvPr>
          <p:cNvSpPr/>
          <p:nvPr userDrawn="1"/>
        </p:nvSpPr>
        <p:spPr>
          <a:xfrm>
            <a:off x="0" y="0"/>
            <a:ext cx="12192000" cy="6858000"/>
          </a:xfrm>
          <a:prstGeom prst="rect">
            <a:avLst/>
          </a:prstGeom>
          <a:gradFill flip="none" rotWithShape="1">
            <a:gsLst>
              <a:gs pos="0">
                <a:srgbClr val="1B0273"/>
              </a:gs>
              <a:gs pos="100000">
                <a:srgbClr val="060126"/>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D" sz="2400" dirty="0"/>
          </a:p>
        </p:txBody>
      </p:sp>
      <p:pic>
        <p:nvPicPr>
          <p:cNvPr id="17" name="Picture 16" descr="A picture containing animal, reptile&#10;&#10;Description automatically generated">
            <a:extLst>
              <a:ext uri="{FF2B5EF4-FFF2-40B4-BE49-F238E27FC236}">
                <a16:creationId xmlns:a16="http://schemas.microsoft.com/office/drawing/2014/main" id="{9640F149-DFA3-9C8D-56A3-45CDDFBC6834}"/>
              </a:ext>
            </a:extLst>
          </p:cNvPr>
          <p:cNvPicPr>
            <a:picLocks noChangeAspect="1"/>
          </p:cNvPicPr>
          <p:nvPr userDrawn="1"/>
        </p:nvPicPr>
        <p:blipFill rotWithShape="1">
          <a:blip r:embed="rId2">
            <a:alphaModFix amt="11000"/>
            <a:extLst>
              <a:ext uri="{28A0092B-C50C-407E-A947-70E740481C1C}">
                <a14:useLocalDpi xmlns:a14="http://schemas.microsoft.com/office/drawing/2010/main" val="0"/>
              </a:ext>
            </a:extLst>
          </a:blip>
          <a:srcRect l="27557" t="32804" r="19028" b="49735"/>
          <a:stretch/>
        </p:blipFill>
        <p:spPr>
          <a:xfrm>
            <a:off x="-322697" y="4210277"/>
            <a:ext cx="12192000" cy="2817479"/>
          </a:xfrm>
          <a:prstGeom prst="rect">
            <a:avLst/>
          </a:prstGeom>
        </p:spPr>
      </p:pic>
    </p:spTree>
    <p:extLst>
      <p:ext uri="{BB962C8B-B14F-4D97-AF65-F5344CB8AC3E}">
        <p14:creationId xmlns:p14="http://schemas.microsoft.com/office/powerpoint/2010/main" val="3395151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41E05-551C-5208-0E17-139847B5A4D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EG"/>
          </a:p>
        </p:txBody>
      </p:sp>
      <p:sp>
        <p:nvSpPr>
          <p:cNvPr id="3" name="Text Placeholder 2">
            <a:extLst>
              <a:ext uri="{FF2B5EF4-FFF2-40B4-BE49-F238E27FC236}">
                <a16:creationId xmlns:a16="http://schemas.microsoft.com/office/drawing/2014/main" id="{28AE37A2-9F84-E723-5EBB-5BB7435339D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D2B5A1-778A-4061-B8E4-4F96BB978075}"/>
              </a:ext>
            </a:extLst>
          </p:cNvPr>
          <p:cNvSpPr>
            <a:spLocks noGrp="1"/>
          </p:cNvSpPr>
          <p:nvPr>
            <p:ph type="dt" sz="half" idx="10"/>
          </p:nvPr>
        </p:nvSpPr>
        <p:spPr/>
        <p:txBody>
          <a:bodyPr/>
          <a:lstStyle/>
          <a:p>
            <a:fld id="{187B2DC8-5CA9-D544-BA19-5B33A931FE20}" type="datetimeFigureOut">
              <a:rPr lang="en-EG" smtClean="0"/>
              <a:t>13/12/2024</a:t>
            </a:fld>
            <a:endParaRPr lang="en-EG"/>
          </a:p>
        </p:txBody>
      </p:sp>
      <p:sp>
        <p:nvSpPr>
          <p:cNvPr id="5" name="Footer Placeholder 4">
            <a:extLst>
              <a:ext uri="{FF2B5EF4-FFF2-40B4-BE49-F238E27FC236}">
                <a16:creationId xmlns:a16="http://schemas.microsoft.com/office/drawing/2014/main" id="{441719AE-8CBF-B915-C7E2-2ACDB73E4382}"/>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9C9DC8AA-64C9-9B67-9469-87301FA2E500}"/>
              </a:ext>
            </a:extLst>
          </p:cNvPr>
          <p:cNvSpPr>
            <a:spLocks noGrp="1"/>
          </p:cNvSpPr>
          <p:nvPr>
            <p:ph type="sldNum" sz="quarter" idx="12"/>
          </p:nvPr>
        </p:nvSpPr>
        <p:spPr/>
        <p:txBody>
          <a:bodyPr/>
          <a:lstStyle/>
          <a:p>
            <a:fld id="{70FBCF28-6574-554F-8867-04160A99B918}" type="slidenum">
              <a:rPr lang="en-EG" smtClean="0"/>
              <a:t>‹#›</a:t>
            </a:fld>
            <a:endParaRPr lang="en-EG"/>
          </a:p>
        </p:txBody>
      </p:sp>
    </p:spTree>
    <p:extLst>
      <p:ext uri="{BB962C8B-B14F-4D97-AF65-F5344CB8AC3E}">
        <p14:creationId xmlns:p14="http://schemas.microsoft.com/office/powerpoint/2010/main" val="1388901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DE98A-2E92-29F0-62AC-72AB733C83B3}"/>
              </a:ext>
            </a:extLst>
          </p:cNvPr>
          <p:cNvSpPr>
            <a:spLocks noGrp="1"/>
          </p:cNvSpPr>
          <p:nvPr>
            <p:ph type="title"/>
          </p:nvPr>
        </p:nvSpPr>
        <p:spPr/>
        <p:txBody>
          <a:bodyPr/>
          <a:lstStyle/>
          <a:p>
            <a:r>
              <a:rPr lang="en-US"/>
              <a:t>Click to edit Master title style</a:t>
            </a:r>
            <a:endParaRPr lang="en-EG"/>
          </a:p>
        </p:txBody>
      </p:sp>
      <p:sp>
        <p:nvSpPr>
          <p:cNvPr id="3" name="Content Placeholder 2">
            <a:extLst>
              <a:ext uri="{FF2B5EF4-FFF2-40B4-BE49-F238E27FC236}">
                <a16:creationId xmlns:a16="http://schemas.microsoft.com/office/drawing/2014/main" id="{8C05721D-9D63-46DD-7667-69153C55AA2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Content Placeholder 3">
            <a:extLst>
              <a:ext uri="{FF2B5EF4-FFF2-40B4-BE49-F238E27FC236}">
                <a16:creationId xmlns:a16="http://schemas.microsoft.com/office/drawing/2014/main" id="{14D42543-103F-54DB-416F-9137761710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5" name="Date Placeholder 4">
            <a:extLst>
              <a:ext uri="{FF2B5EF4-FFF2-40B4-BE49-F238E27FC236}">
                <a16:creationId xmlns:a16="http://schemas.microsoft.com/office/drawing/2014/main" id="{82496843-9660-DFA2-B727-80A36B703204}"/>
              </a:ext>
            </a:extLst>
          </p:cNvPr>
          <p:cNvSpPr>
            <a:spLocks noGrp="1"/>
          </p:cNvSpPr>
          <p:nvPr>
            <p:ph type="dt" sz="half" idx="10"/>
          </p:nvPr>
        </p:nvSpPr>
        <p:spPr/>
        <p:txBody>
          <a:bodyPr/>
          <a:lstStyle/>
          <a:p>
            <a:fld id="{187B2DC8-5CA9-D544-BA19-5B33A931FE20}" type="datetimeFigureOut">
              <a:rPr lang="en-EG" smtClean="0"/>
              <a:t>13/12/2024</a:t>
            </a:fld>
            <a:endParaRPr lang="en-EG"/>
          </a:p>
        </p:txBody>
      </p:sp>
      <p:sp>
        <p:nvSpPr>
          <p:cNvPr id="6" name="Footer Placeholder 5">
            <a:extLst>
              <a:ext uri="{FF2B5EF4-FFF2-40B4-BE49-F238E27FC236}">
                <a16:creationId xmlns:a16="http://schemas.microsoft.com/office/drawing/2014/main" id="{FDD09D8B-F458-9696-E5C9-7E8A4FF924F1}"/>
              </a:ext>
            </a:extLst>
          </p:cNvPr>
          <p:cNvSpPr>
            <a:spLocks noGrp="1"/>
          </p:cNvSpPr>
          <p:nvPr>
            <p:ph type="ftr" sz="quarter" idx="11"/>
          </p:nvPr>
        </p:nvSpPr>
        <p:spPr/>
        <p:txBody>
          <a:bodyPr/>
          <a:lstStyle/>
          <a:p>
            <a:endParaRPr lang="en-EG"/>
          </a:p>
        </p:txBody>
      </p:sp>
      <p:sp>
        <p:nvSpPr>
          <p:cNvPr id="7" name="Slide Number Placeholder 6">
            <a:extLst>
              <a:ext uri="{FF2B5EF4-FFF2-40B4-BE49-F238E27FC236}">
                <a16:creationId xmlns:a16="http://schemas.microsoft.com/office/drawing/2014/main" id="{901F1503-C763-43EE-B3FC-31A9DFCB2658}"/>
              </a:ext>
            </a:extLst>
          </p:cNvPr>
          <p:cNvSpPr>
            <a:spLocks noGrp="1"/>
          </p:cNvSpPr>
          <p:nvPr>
            <p:ph type="sldNum" sz="quarter" idx="12"/>
          </p:nvPr>
        </p:nvSpPr>
        <p:spPr/>
        <p:txBody>
          <a:bodyPr/>
          <a:lstStyle/>
          <a:p>
            <a:fld id="{70FBCF28-6574-554F-8867-04160A99B918}" type="slidenum">
              <a:rPr lang="en-EG" smtClean="0"/>
              <a:t>‹#›</a:t>
            </a:fld>
            <a:endParaRPr lang="en-EG"/>
          </a:p>
        </p:txBody>
      </p:sp>
    </p:spTree>
    <p:extLst>
      <p:ext uri="{BB962C8B-B14F-4D97-AF65-F5344CB8AC3E}">
        <p14:creationId xmlns:p14="http://schemas.microsoft.com/office/powerpoint/2010/main" val="3574915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08411-3549-74BB-3C67-E8F7D00BB0F6}"/>
              </a:ext>
            </a:extLst>
          </p:cNvPr>
          <p:cNvSpPr>
            <a:spLocks noGrp="1"/>
          </p:cNvSpPr>
          <p:nvPr>
            <p:ph type="title"/>
          </p:nvPr>
        </p:nvSpPr>
        <p:spPr>
          <a:xfrm>
            <a:off x="839788" y="365125"/>
            <a:ext cx="10515600" cy="1325563"/>
          </a:xfrm>
        </p:spPr>
        <p:txBody>
          <a:bodyPr/>
          <a:lstStyle/>
          <a:p>
            <a:r>
              <a:rPr lang="en-US"/>
              <a:t>Click to edit Master title style</a:t>
            </a:r>
            <a:endParaRPr lang="en-EG"/>
          </a:p>
        </p:txBody>
      </p:sp>
      <p:sp>
        <p:nvSpPr>
          <p:cNvPr id="3" name="Text Placeholder 2">
            <a:extLst>
              <a:ext uri="{FF2B5EF4-FFF2-40B4-BE49-F238E27FC236}">
                <a16:creationId xmlns:a16="http://schemas.microsoft.com/office/drawing/2014/main" id="{CFC9DE7B-105A-03DF-45A0-3186830D9B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509B037-BD7D-6D90-EBCC-F449E7BB49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5" name="Text Placeholder 4">
            <a:extLst>
              <a:ext uri="{FF2B5EF4-FFF2-40B4-BE49-F238E27FC236}">
                <a16:creationId xmlns:a16="http://schemas.microsoft.com/office/drawing/2014/main" id="{CD6390E5-7333-92F1-A12D-AE211AF222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6AD42E-1247-9870-E90F-68ADC993733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7" name="Date Placeholder 6">
            <a:extLst>
              <a:ext uri="{FF2B5EF4-FFF2-40B4-BE49-F238E27FC236}">
                <a16:creationId xmlns:a16="http://schemas.microsoft.com/office/drawing/2014/main" id="{76DB3DCA-D7D9-4852-1F5A-767008B4997F}"/>
              </a:ext>
            </a:extLst>
          </p:cNvPr>
          <p:cNvSpPr>
            <a:spLocks noGrp="1"/>
          </p:cNvSpPr>
          <p:nvPr>
            <p:ph type="dt" sz="half" idx="10"/>
          </p:nvPr>
        </p:nvSpPr>
        <p:spPr/>
        <p:txBody>
          <a:bodyPr/>
          <a:lstStyle/>
          <a:p>
            <a:fld id="{187B2DC8-5CA9-D544-BA19-5B33A931FE20}" type="datetimeFigureOut">
              <a:rPr lang="en-EG" smtClean="0"/>
              <a:t>13/12/2024</a:t>
            </a:fld>
            <a:endParaRPr lang="en-EG"/>
          </a:p>
        </p:txBody>
      </p:sp>
      <p:sp>
        <p:nvSpPr>
          <p:cNvPr id="8" name="Footer Placeholder 7">
            <a:extLst>
              <a:ext uri="{FF2B5EF4-FFF2-40B4-BE49-F238E27FC236}">
                <a16:creationId xmlns:a16="http://schemas.microsoft.com/office/drawing/2014/main" id="{1E634FC4-1FED-29C4-4262-DB03AF468F4D}"/>
              </a:ext>
            </a:extLst>
          </p:cNvPr>
          <p:cNvSpPr>
            <a:spLocks noGrp="1"/>
          </p:cNvSpPr>
          <p:nvPr>
            <p:ph type="ftr" sz="quarter" idx="11"/>
          </p:nvPr>
        </p:nvSpPr>
        <p:spPr/>
        <p:txBody>
          <a:bodyPr/>
          <a:lstStyle/>
          <a:p>
            <a:endParaRPr lang="en-EG"/>
          </a:p>
        </p:txBody>
      </p:sp>
      <p:sp>
        <p:nvSpPr>
          <p:cNvPr id="9" name="Slide Number Placeholder 8">
            <a:extLst>
              <a:ext uri="{FF2B5EF4-FFF2-40B4-BE49-F238E27FC236}">
                <a16:creationId xmlns:a16="http://schemas.microsoft.com/office/drawing/2014/main" id="{51AB24E6-8634-D8C0-75F8-765F43508096}"/>
              </a:ext>
            </a:extLst>
          </p:cNvPr>
          <p:cNvSpPr>
            <a:spLocks noGrp="1"/>
          </p:cNvSpPr>
          <p:nvPr>
            <p:ph type="sldNum" sz="quarter" idx="12"/>
          </p:nvPr>
        </p:nvSpPr>
        <p:spPr/>
        <p:txBody>
          <a:bodyPr/>
          <a:lstStyle/>
          <a:p>
            <a:fld id="{70FBCF28-6574-554F-8867-04160A99B918}" type="slidenum">
              <a:rPr lang="en-EG" smtClean="0"/>
              <a:t>‹#›</a:t>
            </a:fld>
            <a:endParaRPr lang="en-EG"/>
          </a:p>
        </p:txBody>
      </p:sp>
    </p:spTree>
    <p:extLst>
      <p:ext uri="{BB962C8B-B14F-4D97-AF65-F5344CB8AC3E}">
        <p14:creationId xmlns:p14="http://schemas.microsoft.com/office/powerpoint/2010/main" val="1605218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9DA7E-EFBB-7E43-2CA5-3D9B4250E0B3}"/>
              </a:ext>
            </a:extLst>
          </p:cNvPr>
          <p:cNvSpPr>
            <a:spLocks noGrp="1"/>
          </p:cNvSpPr>
          <p:nvPr>
            <p:ph type="title"/>
          </p:nvPr>
        </p:nvSpPr>
        <p:spPr/>
        <p:txBody>
          <a:bodyPr/>
          <a:lstStyle/>
          <a:p>
            <a:r>
              <a:rPr lang="en-US"/>
              <a:t>Click to edit Master title style</a:t>
            </a:r>
            <a:endParaRPr lang="en-EG"/>
          </a:p>
        </p:txBody>
      </p:sp>
      <p:sp>
        <p:nvSpPr>
          <p:cNvPr id="3" name="Date Placeholder 2">
            <a:extLst>
              <a:ext uri="{FF2B5EF4-FFF2-40B4-BE49-F238E27FC236}">
                <a16:creationId xmlns:a16="http://schemas.microsoft.com/office/drawing/2014/main" id="{2D313317-3FDE-BD5F-019C-E71B2F5E0764}"/>
              </a:ext>
            </a:extLst>
          </p:cNvPr>
          <p:cNvSpPr>
            <a:spLocks noGrp="1"/>
          </p:cNvSpPr>
          <p:nvPr>
            <p:ph type="dt" sz="half" idx="10"/>
          </p:nvPr>
        </p:nvSpPr>
        <p:spPr/>
        <p:txBody>
          <a:bodyPr/>
          <a:lstStyle/>
          <a:p>
            <a:fld id="{187B2DC8-5CA9-D544-BA19-5B33A931FE20}" type="datetimeFigureOut">
              <a:rPr lang="en-EG" smtClean="0"/>
              <a:t>13/12/2024</a:t>
            </a:fld>
            <a:endParaRPr lang="en-EG"/>
          </a:p>
        </p:txBody>
      </p:sp>
      <p:sp>
        <p:nvSpPr>
          <p:cNvPr id="4" name="Footer Placeholder 3">
            <a:extLst>
              <a:ext uri="{FF2B5EF4-FFF2-40B4-BE49-F238E27FC236}">
                <a16:creationId xmlns:a16="http://schemas.microsoft.com/office/drawing/2014/main" id="{E56C5AE8-5530-2920-5A9C-C7D309340113}"/>
              </a:ext>
            </a:extLst>
          </p:cNvPr>
          <p:cNvSpPr>
            <a:spLocks noGrp="1"/>
          </p:cNvSpPr>
          <p:nvPr>
            <p:ph type="ftr" sz="quarter" idx="11"/>
          </p:nvPr>
        </p:nvSpPr>
        <p:spPr/>
        <p:txBody>
          <a:bodyPr/>
          <a:lstStyle/>
          <a:p>
            <a:endParaRPr lang="en-EG"/>
          </a:p>
        </p:txBody>
      </p:sp>
      <p:sp>
        <p:nvSpPr>
          <p:cNvPr id="5" name="Slide Number Placeholder 4">
            <a:extLst>
              <a:ext uri="{FF2B5EF4-FFF2-40B4-BE49-F238E27FC236}">
                <a16:creationId xmlns:a16="http://schemas.microsoft.com/office/drawing/2014/main" id="{F4C24D71-E954-D09E-93AC-82C964341BA4}"/>
              </a:ext>
            </a:extLst>
          </p:cNvPr>
          <p:cNvSpPr>
            <a:spLocks noGrp="1"/>
          </p:cNvSpPr>
          <p:nvPr>
            <p:ph type="sldNum" sz="quarter" idx="12"/>
          </p:nvPr>
        </p:nvSpPr>
        <p:spPr/>
        <p:txBody>
          <a:bodyPr/>
          <a:lstStyle/>
          <a:p>
            <a:fld id="{70FBCF28-6574-554F-8867-04160A99B918}" type="slidenum">
              <a:rPr lang="en-EG" smtClean="0"/>
              <a:t>‹#›</a:t>
            </a:fld>
            <a:endParaRPr lang="en-EG"/>
          </a:p>
        </p:txBody>
      </p:sp>
    </p:spTree>
    <p:extLst>
      <p:ext uri="{BB962C8B-B14F-4D97-AF65-F5344CB8AC3E}">
        <p14:creationId xmlns:p14="http://schemas.microsoft.com/office/powerpoint/2010/main" val="23117002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0DB080-712A-8CF7-A806-6E14391D3366}"/>
              </a:ext>
            </a:extLst>
          </p:cNvPr>
          <p:cNvSpPr>
            <a:spLocks noGrp="1"/>
          </p:cNvSpPr>
          <p:nvPr>
            <p:ph type="dt" sz="half" idx="10"/>
          </p:nvPr>
        </p:nvSpPr>
        <p:spPr/>
        <p:txBody>
          <a:bodyPr/>
          <a:lstStyle/>
          <a:p>
            <a:fld id="{187B2DC8-5CA9-D544-BA19-5B33A931FE20}" type="datetimeFigureOut">
              <a:rPr lang="en-EG" smtClean="0"/>
              <a:t>13/12/2024</a:t>
            </a:fld>
            <a:endParaRPr lang="en-EG"/>
          </a:p>
        </p:txBody>
      </p:sp>
      <p:sp>
        <p:nvSpPr>
          <p:cNvPr id="3" name="Footer Placeholder 2">
            <a:extLst>
              <a:ext uri="{FF2B5EF4-FFF2-40B4-BE49-F238E27FC236}">
                <a16:creationId xmlns:a16="http://schemas.microsoft.com/office/drawing/2014/main" id="{217FCE10-7372-5D41-1863-C19D6993B7B2}"/>
              </a:ext>
            </a:extLst>
          </p:cNvPr>
          <p:cNvSpPr>
            <a:spLocks noGrp="1"/>
          </p:cNvSpPr>
          <p:nvPr>
            <p:ph type="ftr" sz="quarter" idx="11"/>
          </p:nvPr>
        </p:nvSpPr>
        <p:spPr/>
        <p:txBody>
          <a:bodyPr/>
          <a:lstStyle/>
          <a:p>
            <a:endParaRPr lang="en-EG"/>
          </a:p>
        </p:txBody>
      </p:sp>
      <p:sp>
        <p:nvSpPr>
          <p:cNvPr id="4" name="Slide Number Placeholder 3">
            <a:extLst>
              <a:ext uri="{FF2B5EF4-FFF2-40B4-BE49-F238E27FC236}">
                <a16:creationId xmlns:a16="http://schemas.microsoft.com/office/drawing/2014/main" id="{CA01C97B-3A75-A184-45DA-F0F69246D603}"/>
              </a:ext>
            </a:extLst>
          </p:cNvPr>
          <p:cNvSpPr>
            <a:spLocks noGrp="1"/>
          </p:cNvSpPr>
          <p:nvPr>
            <p:ph type="sldNum" sz="quarter" idx="12"/>
          </p:nvPr>
        </p:nvSpPr>
        <p:spPr/>
        <p:txBody>
          <a:bodyPr/>
          <a:lstStyle/>
          <a:p>
            <a:fld id="{70FBCF28-6574-554F-8867-04160A99B918}" type="slidenum">
              <a:rPr lang="en-EG" smtClean="0"/>
              <a:t>‹#›</a:t>
            </a:fld>
            <a:endParaRPr lang="en-EG"/>
          </a:p>
        </p:txBody>
      </p:sp>
    </p:spTree>
    <p:extLst>
      <p:ext uri="{BB962C8B-B14F-4D97-AF65-F5344CB8AC3E}">
        <p14:creationId xmlns:p14="http://schemas.microsoft.com/office/powerpoint/2010/main" val="1815324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E4A43-93CD-E5D0-F274-2A63511A5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EG"/>
          </a:p>
        </p:txBody>
      </p:sp>
      <p:sp>
        <p:nvSpPr>
          <p:cNvPr id="3" name="Content Placeholder 2">
            <a:extLst>
              <a:ext uri="{FF2B5EF4-FFF2-40B4-BE49-F238E27FC236}">
                <a16:creationId xmlns:a16="http://schemas.microsoft.com/office/drawing/2014/main" id="{6C6D8E10-58BC-1337-ABA8-C1EB34C0D3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Text Placeholder 3">
            <a:extLst>
              <a:ext uri="{FF2B5EF4-FFF2-40B4-BE49-F238E27FC236}">
                <a16:creationId xmlns:a16="http://schemas.microsoft.com/office/drawing/2014/main" id="{242CC8F5-5F6F-E2F5-B593-8883D0416F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B42016-2F21-5F13-8FE5-C1C2DE99F3AF}"/>
              </a:ext>
            </a:extLst>
          </p:cNvPr>
          <p:cNvSpPr>
            <a:spLocks noGrp="1"/>
          </p:cNvSpPr>
          <p:nvPr>
            <p:ph type="dt" sz="half" idx="10"/>
          </p:nvPr>
        </p:nvSpPr>
        <p:spPr/>
        <p:txBody>
          <a:bodyPr/>
          <a:lstStyle/>
          <a:p>
            <a:fld id="{187B2DC8-5CA9-D544-BA19-5B33A931FE20}" type="datetimeFigureOut">
              <a:rPr lang="en-EG" smtClean="0"/>
              <a:t>13/12/2024</a:t>
            </a:fld>
            <a:endParaRPr lang="en-EG"/>
          </a:p>
        </p:txBody>
      </p:sp>
      <p:sp>
        <p:nvSpPr>
          <p:cNvPr id="6" name="Footer Placeholder 5">
            <a:extLst>
              <a:ext uri="{FF2B5EF4-FFF2-40B4-BE49-F238E27FC236}">
                <a16:creationId xmlns:a16="http://schemas.microsoft.com/office/drawing/2014/main" id="{296764EE-AAB6-B704-4687-F4CCD00BC6A4}"/>
              </a:ext>
            </a:extLst>
          </p:cNvPr>
          <p:cNvSpPr>
            <a:spLocks noGrp="1"/>
          </p:cNvSpPr>
          <p:nvPr>
            <p:ph type="ftr" sz="quarter" idx="11"/>
          </p:nvPr>
        </p:nvSpPr>
        <p:spPr/>
        <p:txBody>
          <a:bodyPr/>
          <a:lstStyle/>
          <a:p>
            <a:endParaRPr lang="en-EG"/>
          </a:p>
        </p:txBody>
      </p:sp>
      <p:sp>
        <p:nvSpPr>
          <p:cNvPr id="7" name="Slide Number Placeholder 6">
            <a:extLst>
              <a:ext uri="{FF2B5EF4-FFF2-40B4-BE49-F238E27FC236}">
                <a16:creationId xmlns:a16="http://schemas.microsoft.com/office/drawing/2014/main" id="{39344812-E71A-0AA1-1610-4E4F4E4E02AE}"/>
              </a:ext>
            </a:extLst>
          </p:cNvPr>
          <p:cNvSpPr>
            <a:spLocks noGrp="1"/>
          </p:cNvSpPr>
          <p:nvPr>
            <p:ph type="sldNum" sz="quarter" idx="12"/>
          </p:nvPr>
        </p:nvSpPr>
        <p:spPr/>
        <p:txBody>
          <a:bodyPr/>
          <a:lstStyle/>
          <a:p>
            <a:fld id="{70FBCF28-6574-554F-8867-04160A99B918}" type="slidenum">
              <a:rPr lang="en-EG" smtClean="0"/>
              <a:t>‹#›</a:t>
            </a:fld>
            <a:endParaRPr lang="en-EG"/>
          </a:p>
        </p:txBody>
      </p:sp>
    </p:spTree>
    <p:extLst>
      <p:ext uri="{BB962C8B-B14F-4D97-AF65-F5344CB8AC3E}">
        <p14:creationId xmlns:p14="http://schemas.microsoft.com/office/powerpoint/2010/main" val="40054468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FEF4B-B780-0801-288A-56EDBE8F62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EG"/>
          </a:p>
        </p:txBody>
      </p:sp>
      <p:sp>
        <p:nvSpPr>
          <p:cNvPr id="3" name="Picture Placeholder 2">
            <a:extLst>
              <a:ext uri="{FF2B5EF4-FFF2-40B4-BE49-F238E27FC236}">
                <a16:creationId xmlns:a16="http://schemas.microsoft.com/office/drawing/2014/main" id="{D950DFD4-8CA5-6F43-7107-1E976C95A7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EG"/>
          </a:p>
        </p:txBody>
      </p:sp>
      <p:sp>
        <p:nvSpPr>
          <p:cNvPr id="4" name="Text Placeholder 3">
            <a:extLst>
              <a:ext uri="{FF2B5EF4-FFF2-40B4-BE49-F238E27FC236}">
                <a16:creationId xmlns:a16="http://schemas.microsoft.com/office/drawing/2014/main" id="{1148F4BB-F397-42EA-BE74-18B13954F2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F5721E-BAB9-FE7A-C15D-35BECEE57C6A}"/>
              </a:ext>
            </a:extLst>
          </p:cNvPr>
          <p:cNvSpPr>
            <a:spLocks noGrp="1"/>
          </p:cNvSpPr>
          <p:nvPr>
            <p:ph type="dt" sz="half" idx="10"/>
          </p:nvPr>
        </p:nvSpPr>
        <p:spPr/>
        <p:txBody>
          <a:bodyPr/>
          <a:lstStyle/>
          <a:p>
            <a:fld id="{187B2DC8-5CA9-D544-BA19-5B33A931FE20}" type="datetimeFigureOut">
              <a:rPr lang="en-EG" smtClean="0"/>
              <a:t>13/12/2024</a:t>
            </a:fld>
            <a:endParaRPr lang="en-EG"/>
          </a:p>
        </p:txBody>
      </p:sp>
      <p:sp>
        <p:nvSpPr>
          <p:cNvPr id="6" name="Footer Placeholder 5">
            <a:extLst>
              <a:ext uri="{FF2B5EF4-FFF2-40B4-BE49-F238E27FC236}">
                <a16:creationId xmlns:a16="http://schemas.microsoft.com/office/drawing/2014/main" id="{A4CBF282-B498-251C-F4B2-D86BE00F5AB5}"/>
              </a:ext>
            </a:extLst>
          </p:cNvPr>
          <p:cNvSpPr>
            <a:spLocks noGrp="1"/>
          </p:cNvSpPr>
          <p:nvPr>
            <p:ph type="ftr" sz="quarter" idx="11"/>
          </p:nvPr>
        </p:nvSpPr>
        <p:spPr/>
        <p:txBody>
          <a:bodyPr/>
          <a:lstStyle/>
          <a:p>
            <a:endParaRPr lang="en-EG"/>
          </a:p>
        </p:txBody>
      </p:sp>
      <p:sp>
        <p:nvSpPr>
          <p:cNvPr id="7" name="Slide Number Placeholder 6">
            <a:extLst>
              <a:ext uri="{FF2B5EF4-FFF2-40B4-BE49-F238E27FC236}">
                <a16:creationId xmlns:a16="http://schemas.microsoft.com/office/drawing/2014/main" id="{FD768B01-659A-A607-817E-8CE8A1F1AD9F}"/>
              </a:ext>
            </a:extLst>
          </p:cNvPr>
          <p:cNvSpPr>
            <a:spLocks noGrp="1"/>
          </p:cNvSpPr>
          <p:nvPr>
            <p:ph type="sldNum" sz="quarter" idx="12"/>
          </p:nvPr>
        </p:nvSpPr>
        <p:spPr/>
        <p:txBody>
          <a:bodyPr/>
          <a:lstStyle/>
          <a:p>
            <a:fld id="{70FBCF28-6574-554F-8867-04160A99B918}" type="slidenum">
              <a:rPr lang="en-EG" smtClean="0"/>
              <a:t>‹#›</a:t>
            </a:fld>
            <a:endParaRPr lang="en-EG"/>
          </a:p>
        </p:txBody>
      </p:sp>
    </p:spTree>
    <p:extLst>
      <p:ext uri="{BB962C8B-B14F-4D97-AF65-F5344CB8AC3E}">
        <p14:creationId xmlns:p14="http://schemas.microsoft.com/office/powerpoint/2010/main" val="7905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400F9-1952-8646-C76F-6CF812DA04A4}"/>
              </a:ext>
            </a:extLst>
          </p:cNvPr>
          <p:cNvSpPr>
            <a:spLocks noGrp="1"/>
          </p:cNvSpPr>
          <p:nvPr>
            <p:ph type="title"/>
          </p:nvPr>
        </p:nvSpPr>
        <p:spPr/>
        <p:txBody>
          <a:bodyPr/>
          <a:lstStyle/>
          <a:p>
            <a:r>
              <a:rPr lang="en-US"/>
              <a:t>Click to edit Master title style</a:t>
            </a:r>
            <a:endParaRPr lang="en-EG"/>
          </a:p>
        </p:txBody>
      </p:sp>
      <p:sp>
        <p:nvSpPr>
          <p:cNvPr id="3" name="Vertical Text Placeholder 2">
            <a:extLst>
              <a:ext uri="{FF2B5EF4-FFF2-40B4-BE49-F238E27FC236}">
                <a16:creationId xmlns:a16="http://schemas.microsoft.com/office/drawing/2014/main" id="{3A8021BA-A402-3E73-FF64-C789A387FD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Date Placeholder 3">
            <a:extLst>
              <a:ext uri="{FF2B5EF4-FFF2-40B4-BE49-F238E27FC236}">
                <a16:creationId xmlns:a16="http://schemas.microsoft.com/office/drawing/2014/main" id="{F0845E98-EB61-0AD4-3A5D-29FF37BD105D}"/>
              </a:ext>
            </a:extLst>
          </p:cNvPr>
          <p:cNvSpPr>
            <a:spLocks noGrp="1"/>
          </p:cNvSpPr>
          <p:nvPr>
            <p:ph type="dt" sz="half" idx="10"/>
          </p:nvPr>
        </p:nvSpPr>
        <p:spPr/>
        <p:txBody>
          <a:bodyPr/>
          <a:lstStyle/>
          <a:p>
            <a:fld id="{187B2DC8-5CA9-D544-BA19-5B33A931FE20}" type="datetimeFigureOut">
              <a:rPr lang="en-EG" smtClean="0"/>
              <a:t>13/12/2024</a:t>
            </a:fld>
            <a:endParaRPr lang="en-EG"/>
          </a:p>
        </p:txBody>
      </p:sp>
      <p:sp>
        <p:nvSpPr>
          <p:cNvPr id="5" name="Footer Placeholder 4">
            <a:extLst>
              <a:ext uri="{FF2B5EF4-FFF2-40B4-BE49-F238E27FC236}">
                <a16:creationId xmlns:a16="http://schemas.microsoft.com/office/drawing/2014/main" id="{BFAAB1F9-8209-D82E-5A95-17617033A6D8}"/>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E6D8A1BD-81E6-78EA-9D78-59780F448AC9}"/>
              </a:ext>
            </a:extLst>
          </p:cNvPr>
          <p:cNvSpPr>
            <a:spLocks noGrp="1"/>
          </p:cNvSpPr>
          <p:nvPr>
            <p:ph type="sldNum" sz="quarter" idx="12"/>
          </p:nvPr>
        </p:nvSpPr>
        <p:spPr/>
        <p:txBody>
          <a:bodyPr/>
          <a:lstStyle/>
          <a:p>
            <a:fld id="{70FBCF28-6574-554F-8867-04160A99B918}" type="slidenum">
              <a:rPr lang="en-EG" smtClean="0"/>
              <a:t>‹#›</a:t>
            </a:fld>
            <a:endParaRPr lang="en-EG"/>
          </a:p>
        </p:txBody>
      </p:sp>
    </p:spTree>
    <p:extLst>
      <p:ext uri="{BB962C8B-B14F-4D97-AF65-F5344CB8AC3E}">
        <p14:creationId xmlns:p14="http://schemas.microsoft.com/office/powerpoint/2010/main" val="24957444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661DAB-B8CB-EC5C-0837-CD4CA125F2E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EG"/>
          </a:p>
        </p:txBody>
      </p:sp>
      <p:sp>
        <p:nvSpPr>
          <p:cNvPr id="3" name="Vertical Text Placeholder 2">
            <a:extLst>
              <a:ext uri="{FF2B5EF4-FFF2-40B4-BE49-F238E27FC236}">
                <a16:creationId xmlns:a16="http://schemas.microsoft.com/office/drawing/2014/main" id="{7DFE0C62-D2B4-F596-CEF7-018F166EDC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Date Placeholder 3">
            <a:extLst>
              <a:ext uri="{FF2B5EF4-FFF2-40B4-BE49-F238E27FC236}">
                <a16:creationId xmlns:a16="http://schemas.microsoft.com/office/drawing/2014/main" id="{933D386A-2ED6-ACA0-05AA-4C06D89E8AD3}"/>
              </a:ext>
            </a:extLst>
          </p:cNvPr>
          <p:cNvSpPr>
            <a:spLocks noGrp="1"/>
          </p:cNvSpPr>
          <p:nvPr>
            <p:ph type="dt" sz="half" idx="10"/>
          </p:nvPr>
        </p:nvSpPr>
        <p:spPr/>
        <p:txBody>
          <a:bodyPr/>
          <a:lstStyle/>
          <a:p>
            <a:fld id="{187B2DC8-5CA9-D544-BA19-5B33A931FE20}" type="datetimeFigureOut">
              <a:rPr lang="en-EG" smtClean="0"/>
              <a:t>13/12/2024</a:t>
            </a:fld>
            <a:endParaRPr lang="en-EG"/>
          </a:p>
        </p:txBody>
      </p:sp>
      <p:sp>
        <p:nvSpPr>
          <p:cNvPr id="5" name="Footer Placeholder 4">
            <a:extLst>
              <a:ext uri="{FF2B5EF4-FFF2-40B4-BE49-F238E27FC236}">
                <a16:creationId xmlns:a16="http://schemas.microsoft.com/office/drawing/2014/main" id="{5CBAF101-577B-293C-DC4F-863A5E30FCD6}"/>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B5CCBBE8-5475-1C09-825A-8224551BE1E2}"/>
              </a:ext>
            </a:extLst>
          </p:cNvPr>
          <p:cNvSpPr>
            <a:spLocks noGrp="1"/>
          </p:cNvSpPr>
          <p:nvPr>
            <p:ph type="sldNum" sz="quarter" idx="12"/>
          </p:nvPr>
        </p:nvSpPr>
        <p:spPr/>
        <p:txBody>
          <a:bodyPr/>
          <a:lstStyle/>
          <a:p>
            <a:fld id="{70FBCF28-6574-554F-8867-04160A99B918}" type="slidenum">
              <a:rPr lang="en-EG" smtClean="0"/>
              <a:t>‹#›</a:t>
            </a:fld>
            <a:endParaRPr lang="en-EG"/>
          </a:p>
        </p:txBody>
      </p:sp>
    </p:spTree>
    <p:extLst>
      <p:ext uri="{BB962C8B-B14F-4D97-AF65-F5344CB8AC3E}">
        <p14:creationId xmlns:p14="http://schemas.microsoft.com/office/powerpoint/2010/main" val="37988868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1198D-E1EB-97A1-5DA1-F0B16318A4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EG"/>
          </a:p>
        </p:txBody>
      </p:sp>
      <p:sp>
        <p:nvSpPr>
          <p:cNvPr id="3" name="Subtitle 2">
            <a:extLst>
              <a:ext uri="{FF2B5EF4-FFF2-40B4-BE49-F238E27FC236}">
                <a16:creationId xmlns:a16="http://schemas.microsoft.com/office/drawing/2014/main" id="{475CB7F2-2F01-939B-593E-12424068B6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EG"/>
          </a:p>
        </p:txBody>
      </p:sp>
      <p:sp>
        <p:nvSpPr>
          <p:cNvPr id="4" name="Date Placeholder 3">
            <a:extLst>
              <a:ext uri="{FF2B5EF4-FFF2-40B4-BE49-F238E27FC236}">
                <a16:creationId xmlns:a16="http://schemas.microsoft.com/office/drawing/2014/main" id="{00D01757-4C53-B696-9BAD-3BBCB4074A70}"/>
              </a:ext>
            </a:extLst>
          </p:cNvPr>
          <p:cNvSpPr>
            <a:spLocks noGrp="1"/>
          </p:cNvSpPr>
          <p:nvPr>
            <p:ph type="dt" sz="half" idx="10"/>
          </p:nvPr>
        </p:nvSpPr>
        <p:spPr/>
        <p:txBody>
          <a:bodyPr/>
          <a:lstStyle/>
          <a:p>
            <a:fld id="{187B2DC8-5CA9-D544-BA19-5B33A931FE20}" type="datetimeFigureOut">
              <a:rPr lang="en-EG" smtClean="0"/>
              <a:t>13/12/2024</a:t>
            </a:fld>
            <a:endParaRPr lang="en-EG"/>
          </a:p>
        </p:txBody>
      </p:sp>
      <p:sp>
        <p:nvSpPr>
          <p:cNvPr id="5" name="Footer Placeholder 4">
            <a:extLst>
              <a:ext uri="{FF2B5EF4-FFF2-40B4-BE49-F238E27FC236}">
                <a16:creationId xmlns:a16="http://schemas.microsoft.com/office/drawing/2014/main" id="{6481D63E-7A05-7A72-C2D5-FA5BD66968B3}"/>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40FCAF7F-9A16-32B4-34AE-44D350DC1F74}"/>
              </a:ext>
            </a:extLst>
          </p:cNvPr>
          <p:cNvSpPr>
            <a:spLocks noGrp="1"/>
          </p:cNvSpPr>
          <p:nvPr>
            <p:ph type="sldNum" sz="quarter" idx="12"/>
          </p:nvPr>
        </p:nvSpPr>
        <p:spPr/>
        <p:txBody>
          <a:bodyPr/>
          <a:lstStyle/>
          <a:p>
            <a:fld id="{70FBCF28-6574-554F-8867-04160A99B918}" type="slidenum">
              <a:rPr lang="en-EG" smtClean="0"/>
              <a:t>‹#›</a:t>
            </a:fld>
            <a:endParaRPr lang="en-EG"/>
          </a:p>
        </p:txBody>
      </p:sp>
    </p:spTree>
    <p:extLst>
      <p:ext uri="{BB962C8B-B14F-4D97-AF65-F5344CB8AC3E}">
        <p14:creationId xmlns:p14="http://schemas.microsoft.com/office/powerpoint/2010/main" val="22175513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0AE05-53D9-E14A-684D-C42C8DFE0844}"/>
              </a:ext>
            </a:extLst>
          </p:cNvPr>
          <p:cNvSpPr>
            <a:spLocks noGrp="1"/>
          </p:cNvSpPr>
          <p:nvPr>
            <p:ph type="title"/>
          </p:nvPr>
        </p:nvSpPr>
        <p:spPr/>
        <p:txBody>
          <a:bodyPr/>
          <a:lstStyle/>
          <a:p>
            <a:r>
              <a:rPr lang="en-US"/>
              <a:t>Click to edit Master title style</a:t>
            </a:r>
            <a:endParaRPr lang="en-EG"/>
          </a:p>
        </p:txBody>
      </p:sp>
      <p:sp>
        <p:nvSpPr>
          <p:cNvPr id="3" name="Content Placeholder 2">
            <a:extLst>
              <a:ext uri="{FF2B5EF4-FFF2-40B4-BE49-F238E27FC236}">
                <a16:creationId xmlns:a16="http://schemas.microsoft.com/office/drawing/2014/main" id="{E30D6D3C-2B85-DEC4-E67E-B10D9D31D0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Date Placeholder 3">
            <a:extLst>
              <a:ext uri="{FF2B5EF4-FFF2-40B4-BE49-F238E27FC236}">
                <a16:creationId xmlns:a16="http://schemas.microsoft.com/office/drawing/2014/main" id="{DC81FDC2-DBBC-0414-EEB5-4C02A94CB538}"/>
              </a:ext>
            </a:extLst>
          </p:cNvPr>
          <p:cNvSpPr>
            <a:spLocks noGrp="1"/>
          </p:cNvSpPr>
          <p:nvPr>
            <p:ph type="dt" sz="half" idx="10"/>
          </p:nvPr>
        </p:nvSpPr>
        <p:spPr/>
        <p:txBody>
          <a:bodyPr/>
          <a:lstStyle/>
          <a:p>
            <a:fld id="{187B2DC8-5CA9-D544-BA19-5B33A931FE20}" type="datetimeFigureOut">
              <a:rPr lang="en-EG" smtClean="0"/>
              <a:t>13/12/2024</a:t>
            </a:fld>
            <a:endParaRPr lang="en-EG"/>
          </a:p>
        </p:txBody>
      </p:sp>
      <p:sp>
        <p:nvSpPr>
          <p:cNvPr id="5" name="Footer Placeholder 4">
            <a:extLst>
              <a:ext uri="{FF2B5EF4-FFF2-40B4-BE49-F238E27FC236}">
                <a16:creationId xmlns:a16="http://schemas.microsoft.com/office/drawing/2014/main" id="{365D168E-C6EE-E474-584C-7388E66621BA}"/>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530BE605-20B0-93D0-E687-F0A9EDCB2A09}"/>
              </a:ext>
            </a:extLst>
          </p:cNvPr>
          <p:cNvSpPr>
            <a:spLocks noGrp="1"/>
          </p:cNvSpPr>
          <p:nvPr>
            <p:ph type="sldNum" sz="quarter" idx="12"/>
          </p:nvPr>
        </p:nvSpPr>
        <p:spPr/>
        <p:txBody>
          <a:bodyPr/>
          <a:lstStyle/>
          <a:p>
            <a:fld id="{70FBCF28-6574-554F-8867-04160A99B918}" type="slidenum">
              <a:rPr lang="en-EG" smtClean="0"/>
              <a:t>‹#›</a:t>
            </a:fld>
            <a:endParaRPr lang="en-EG"/>
          </a:p>
        </p:txBody>
      </p:sp>
    </p:spTree>
    <p:extLst>
      <p:ext uri="{BB962C8B-B14F-4D97-AF65-F5344CB8AC3E}">
        <p14:creationId xmlns:p14="http://schemas.microsoft.com/office/powerpoint/2010/main" val="19597260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41E05-551C-5208-0E17-139847B5A4D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EG"/>
          </a:p>
        </p:txBody>
      </p:sp>
      <p:sp>
        <p:nvSpPr>
          <p:cNvPr id="3" name="Text Placeholder 2">
            <a:extLst>
              <a:ext uri="{FF2B5EF4-FFF2-40B4-BE49-F238E27FC236}">
                <a16:creationId xmlns:a16="http://schemas.microsoft.com/office/drawing/2014/main" id="{28AE37A2-9F84-E723-5EBB-5BB7435339D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D2B5A1-778A-4061-B8E4-4F96BB978075}"/>
              </a:ext>
            </a:extLst>
          </p:cNvPr>
          <p:cNvSpPr>
            <a:spLocks noGrp="1"/>
          </p:cNvSpPr>
          <p:nvPr>
            <p:ph type="dt" sz="half" idx="10"/>
          </p:nvPr>
        </p:nvSpPr>
        <p:spPr/>
        <p:txBody>
          <a:bodyPr/>
          <a:lstStyle/>
          <a:p>
            <a:fld id="{187B2DC8-5CA9-D544-BA19-5B33A931FE20}" type="datetimeFigureOut">
              <a:rPr lang="en-EG" smtClean="0"/>
              <a:t>13/12/2024</a:t>
            </a:fld>
            <a:endParaRPr lang="en-EG"/>
          </a:p>
        </p:txBody>
      </p:sp>
      <p:sp>
        <p:nvSpPr>
          <p:cNvPr id="5" name="Footer Placeholder 4">
            <a:extLst>
              <a:ext uri="{FF2B5EF4-FFF2-40B4-BE49-F238E27FC236}">
                <a16:creationId xmlns:a16="http://schemas.microsoft.com/office/drawing/2014/main" id="{441719AE-8CBF-B915-C7E2-2ACDB73E4382}"/>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9C9DC8AA-64C9-9B67-9469-87301FA2E500}"/>
              </a:ext>
            </a:extLst>
          </p:cNvPr>
          <p:cNvSpPr>
            <a:spLocks noGrp="1"/>
          </p:cNvSpPr>
          <p:nvPr>
            <p:ph type="sldNum" sz="quarter" idx="12"/>
          </p:nvPr>
        </p:nvSpPr>
        <p:spPr/>
        <p:txBody>
          <a:bodyPr/>
          <a:lstStyle/>
          <a:p>
            <a:fld id="{70FBCF28-6574-554F-8867-04160A99B918}" type="slidenum">
              <a:rPr lang="en-EG" smtClean="0"/>
              <a:t>‹#›</a:t>
            </a:fld>
            <a:endParaRPr lang="en-EG"/>
          </a:p>
        </p:txBody>
      </p:sp>
    </p:spTree>
    <p:extLst>
      <p:ext uri="{BB962C8B-B14F-4D97-AF65-F5344CB8AC3E}">
        <p14:creationId xmlns:p14="http://schemas.microsoft.com/office/powerpoint/2010/main" val="7374918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DE98A-2E92-29F0-62AC-72AB733C83B3}"/>
              </a:ext>
            </a:extLst>
          </p:cNvPr>
          <p:cNvSpPr>
            <a:spLocks noGrp="1"/>
          </p:cNvSpPr>
          <p:nvPr>
            <p:ph type="title"/>
          </p:nvPr>
        </p:nvSpPr>
        <p:spPr/>
        <p:txBody>
          <a:bodyPr/>
          <a:lstStyle/>
          <a:p>
            <a:r>
              <a:rPr lang="en-US"/>
              <a:t>Click to edit Master title style</a:t>
            </a:r>
            <a:endParaRPr lang="en-EG"/>
          </a:p>
        </p:txBody>
      </p:sp>
      <p:sp>
        <p:nvSpPr>
          <p:cNvPr id="3" name="Content Placeholder 2">
            <a:extLst>
              <a:ext uri="{FF2B5EF4-FFF2-40B4-BE49-F238E27FC236}">
                <a16:creationId xmlns:a16="http://schemas.microsoft.com/office/drawing/2014/main" id="{8C05721D-9D63-46DD-7667-69153C55AA2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Content Placeholder 3">
            <a:extLst>
              <a:ext uri="{FF2B5EF4-FFF2-40B4-BE49-F238E27FC236}">
                <a16:creationId xmlns:a16="http://schemas.microsoft.com/office/drawing/2014/main" id="{14D42543-103F-54DB-416F-9137761710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5" name="Date Placeholder 4">
            <a:extLst>
              <a:ext uri="{FF2B5EF4-FFF2-40B4-BE49-F238E27FC236}">
                <a16:creationId xmlns:a16="http://schemas.microsoft.com/office/drawing/2014/main" id="{82496843-9660-DFA2-B727-80A36B703204}"/>
              </a:ext>
            </a:extLst>
          </p:cNvPr>
          <p:cNvSpPr>
            <a:spLocks noGrp="1"/>
          </p:cNvSpPr>
          <p:nvPr>
            <p:ph type="dt" sz="half" idx="10"/>
          </p:nvPr>
        </p:nvSpPr>
        <p:spPr/>
        <p:txBody>
          <a:bodyPr/>
          <a:lstStyle/>
          <a:p>
            <a:fld id="{187B2DC8-5CA9-D544-BA19-5B33A931FE20}" type="datetimeFigureOut">
              <a:rPr lang="en-EG" smtClean="0"/>
              <a:t>13/12/2024</a:t>
            </a:fld>
            <a:endParaRPr lang="en-EG"/>
          </a:p>
        </p:txBody>
      </p:sp>
      <p:sp>
        <p:nvSpPr>
          <p:cNvPr id="6" name="Footer Placeholder 5">
            <a:extLst>
              <a:ext uri="{FF2B5EF4-FFF2-40B4-BE49-F238E27FC236}">
                <a16:creationId xmlns:a16="http://schemas.microsoft.com/office/drawing/2014/main" id="{FDD09D8B-F458-9696-E5C9-7E8A4FF924F1}"/>
              </a:ext>
            </a:extLst>
          </p:cNvPr>
          <p:cNvSpPr>
            <a:spLocks noGrp="1"/>
          </p:cNvSpPr>
          <p:nvPr>
            <p:ph type="ftr" sz="quarter" idx="11"/>
          </p:nvPr>
        </p:nvSpPr>
        <p:spPr/>
        <p:txBody>
          <a:bodyPr/>
          <a:lstStyle/>
          <a:p>
            <a:endParaRPr lang="en-EG"/>
          </a:p>
        </p:txBody>
      </p:sp>
      <p:sp>
        <p:nvSpPr>
          <p:cNvPr id="7" name="Slide Number Placeholder 6">
            <a:extLst>
              <a:ext uri="{FF2B5EF4-FFF2-40B4-BE49-F238E27FC236}">
                <a16:creationId xmlns:a16="http://schemas.microsoft.com/office/drawing/2014/main" id="{901F1503-C763-43EE-B3FC-31A9DFCB2658}"/>
              </a:ext>
            </a:extLst>
          </p:cNvPr>
          <p:cNvSpPr>
            <a:spLocks noGrp="1"/>
          </p:cNvSpPr>
          <p:nvPr>
            <p:ph type="sldNum" sz="quarter" idx="12"/>
          </p:nvPr>
        </p:nvSpPr>
        <p:spPr/>
        <p:txBody>
          <a:bodyPr/>
          <a:lstStyle/>
          <a:p>
            <a:fld id="{70FBCF28-6574-554F-8867-04160A99B918}" type="slidenum">
              <a:rPr lang="en-EG" smtClean="0"/>
              <a:t>‹#›</a:t>
            </a:fld>
            <a:endParaRPr lang="en-EG"/>
          </a:p>
        </p:txBody>
      </p:sp>
    </p:spTree>
    <p:extLst>
      <p:ext uri="{BB962C8B-B14F-4D97-AF65-F5344CB8AC3E}">
        <p14:creationId xmlns:p14="http://schemas.microsoft.com/office/powerpoint/2010/main" val="1778142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08411-3549-74BB-3C67-E8F7D00BB0F6}"/>
              </a:ext>
            </a:extLst>
          </p:cNvPr>
          <p:cNvSpPr>
            <a:spLocks noGrp="1"/>
          </p:cNvSpPr>
          <p:nvPr>
            <p:ph type="title"/>
          </p:nvPr>
        </p:nvSpPr>
        <p:spPr>
          <a:xfrm>
            <a:off x="839788" y="365125"/>
            <a:ext cx="10515600" cy="1325563"/>
          </a:xfrm>
        </p:spPr>
        <p:txBody>
          <a:bodyPr/>
          <a:lstStyle/>
          <a:p>
            <a:r>
              <a:rPr lang="en-US"/>
              <a:t>Click to edit Master title style</a:t>
            </a:r>
            <a:endParaRPr lang="en-EG"/>
          </a:p>
        </p:txBody>
      </p:sp>
      <p:sp>
        <p:nvSpPr>
          <p:cNvPr id="3" name="Text Placeholder 2">
            <a:extLst>
              <a:ext uri="{FF2B5EF4-FFF2-40B4-BE49-F238E27FC236}">
                <a16:creationId xmlns:a16="http://schemas.microsoft.com/office/drawing/2014/main" id="{CFC9DE7B-105A-03DF-45A0-3186830D9B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509B037-BD7D-6D90-EBCC-F449E7BB49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5" name="Text Placeholder 4">
            <a:extLst>
              <a:ext uri="{FF2B5EF4-FFF2-40B4-BE49-F238E27FC236}">
                <a16:creationId xmlns:a16="http://schemas.microsoft.com/office/drawing/2014/main" id="{CD6390E5-7333-92F1-A12D-AE211AF222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6AD42E-1247-9870-E90F-68ADC993733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7" name="Date Placeholder 6">
            <a:extLst>
              <a:ext uri="{FF2B5EF4-FFF2-40B4-BE49-F238E27FC236}">
                <a16:creationId xmlns:a16="http://schemas.microsoft.com/office/drawing/2014/main" id="{76DB3DCA-D7D9-4852-1F5A-767008B4997F}"/>
              </a:ext>
            </a:extLst>
          </p:cNvPr>
          <p:cNvSpPr>
            <a:spLocks noGrp="1"/>
          </p:cNvSpPr>
          <p:nvPr>
            <p:ph type="dt" sz="half" idx="10"/>
          </p:nvPr>
        </p:nvSpPr>
        <p:spPr/>
        <p:txBody>
          <a:bodyPr/>
          <a:lstStyle/>
          <a:p>
            <a:fld id="{187B2DC8-5CA9-D544-BA19-5B33A931FE20}" type="datetimeFigureOut">
              <a:rPr lang="en-EG" smtClean="0"/>
              <a:t>13/12/2024</a:t>
            </a:fld>
            <a:endParaRPr lang="en-EG"/>
          </a:p>
        </p:txBody>
      </p:sp>
      <p:sp>
        <p:nvSpPr>
          <p:cNvPr id="8" name="Footer Placeholder 7">
            <a:extLst>
              <a:ext uri="{FF2B5EF4-FFF2-40B4-BE49-F238E27FC236}">
                <a16:creationId xmlns:a16="http://schemas.microsoft.com/office/drawing/2014/main" id="{1E634FC4-1FED-29C4-4262-DB03AF468F4D}"/>
              </a:ext>
            </a:extLst>
          </p:cNvPr>
          <p:cNvSpPr>
            <a:spLocks noGrp="1"/>
          </p:cNvSpPr>
          <p:nvPr>
            <p:ph type="ftr" sz="quarter" idx="11"/>
          </p:nvPr>
        </p:nvSpPr>
        <p:spPr/>
        <p:txBody>
          <a:bodyPr/>
          <a:lstStyle/>
          <a:p>
            <a:endParaRPr lang="en-EG"/>
          </a:p>
        </p:txBody>
      </p:sp>
      <p:sp>
        <p:nvSpPr>
          <p:cNvPr id="9" name="Slide Number Placeholder 8">
            <a:extLst>
              <a:ext uri="{FF2B5EF4-FFF2-40B4-BE49-F238E27FC236}">
                <a16:creationId xmlns:a16="http://schemas.microsoft.com/office/drawing/2014/main" id="{51AB24E6-8634-D8C0-75F8-765F43508096}"/>
              </a:ext>
            </a:extLst>
          </p:cNvPr>
          <p:cNvSpPr>
            <a:spLocks noGrp="1"/>
          </p:cNvSpPr>
          <p:nvPr>
            <p:ph type="sldNum" sz="quarter" idx="12"/>
          </p:nvPr>
        </p:nvSpPr>
        <p:spPr/>
        <p:txBody>
          <a:bodyPr/>
          <a:lstStyle/>
          <a:p>
            <a:fld id="{70FBCF28-6574-554F-8867-04160A99B918}" type="slidenum">
              <a:rPr lang="en-EG" smtClean="0"/>
              <a:t>‹#›</a:t>
            </a:fld>
            <a:endParaRPr lang="en-EG"/>
          </a:p>
        </p:txBody>
      </p:sp>
    </p:spTree>
    <p:extLst>
      <p:ext uri="{BB962C8B-B14F-4D97-AF65-F5344CB8AC3E}">
        <p14:creationId xmlns:p14="http://schemas.microsoft.com/office/powerpoint/2010/main" val="42935788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9DA7E-EFBB-7E43-2CA5-3D9B4250E0B3}"/>
              </a:ext>
            </a:extLst>
          </p:cNvPr>
          <p:cNvSpPr>
            <a:spLocks noGrp="1"/>
          </p:cNvSpPr>
          <p:nvPr>
            <p:ph type="title"/>
          </p:nvPr>
        </p:nvSpPr>
        <p:spPr/>
        <p:txBody>
          <a:bodyPr/>
          <a:lstStyle/>
          <a:p>
            <a:r>
              <a:rPr lang="en-US"/>
              <a:t>Click to edit Master title style</a:t>
            </a:r>
            <a:endParaRPr lang="en-EG"/>
          </a:p>
        </p:txBody>
      </p:sp>
      <p:sp>
        <p:nvSpPr>
          <p:cNvPr id="3" name="Date Placeholder 2">
            <a:extLst>
              <a:ext uri="{FF2B5EF4-FFF2-40B4-BE49-F238E27FC236}">
                <a16:creationId xmlns:a16="http://schemas.microsoft.com/office/drawing/2014/main" id="{2D313317-3FDE-BD5F-019C-E71B2F5E0764}"/>
              </a:ext>
            </a:extLst>
          </p:cNvPr>
          <p:cNvSpPr>
            <a:spLocks noGrp="1"/>
          </p:cNvSpPr>
          <p:nvPr>
            <p:ph type="dt" sz="half" idx="10"/>
          </p:nvPr>
        </p:nvSpPr>
        <p:spPr/>
        <p:txBody>
          <a:bodyPr/>
          <a:lstStyle/>
          <a:p>
            <a:fld id="{187B2DC8-5CA9-D544-BA19-5B33A931FE20}" type="datetimeFigureOut">
              <a:rPr lang="en-EG" smtClean="0"/>
              <a:t>13/12/2024</a:t>
            </a:fld>
            <a:endParaRPr lang="en-EG"/>
          </a:p>
        </p:txBody>
      </p:sp>
      <p:sp>
        <p:nvSpPr>
          <p:cNvPr id="4" name="Footer Placeholder 3">
            <a:extLst>
              <a:ext uri="{FF2B5EF4-FFF2-40B4-BE49-F238E27FC236}">
                <a16:creationId xmlns:a16="http://schemas.microsoft.com/office/drawing/2014/main" id="{E56C5AE8-5530-2920-5A9C-C7D309340113}"/>
              </a:ext>
            </a:extLst>
          </p:cNvPr>
          <p:cNvSpPr>
            <a:spLocks noGrp="1"/>
          </p:cNvSpPr>
          <p:nvPr>
            <p:ph type="ftr" sz="quarter" idx="11"/>
          </p:nvPr>
        </p:nvSpPr>
        <p:spPr/>
        <p:txBody>
          <a:bodyPr/>
          <a:lstStyle/>
          <a:p>
            <a:endParaRPr lang="en-EG"/>
          </a:p>
        </p:txBody>
      </p:sp>
      <p:sp>
        <p:nvSpPr>
          <p:cNvPr id="5" name="Slide Number Placeholder 4">
            <a:extLst>
              <a:ext uri="{FF2B5EF4-FFF2-40B4-BE49-F238E27FC236}">
                <a16:creationId xmlns:a16="http://schemas.microsoft.com/office/drawing/2014/main" id="{F4C24D71-E954-D09E-93AC-82C964341BA4}"/>
              </a:ext>
            </a:extLst>
          </p:cNvPr>
          <p:cNvSpPr>
            <a:spLocks noGrp="1"/>
          </p:cNvSpPr>
          <p:nvPr>
            <p:ph type="sldNum" sz="quarter" idx="12"/>
          </p:nvPr>
        </p:nvSpPr>
        <p:spPr/>
        <p:txBody>
          <a:bodyPr/>
          <a:lstStyle/>
          <a:p>
            <a:fld id="{70FBCF28-6574-554F-8867-04160A99B918}" type="slidenum">
              <a:rPr lang="en-EG" smtClean="0"/>
              <a:t>‹#›</a:t>
            </a:fld>
            <a:endParaRPr lang="en-EG"/>
          </a:p>
        </p:txBody>
      </p:sp>
    </p:spTree>
    <p:extLst>
      <p:ext uri="{BB962C8B-B14F-4D97-AF65-F5344CB8AC3E}">
        <p14:creationId xmlns:p14="http://schemas.microsoft.com/office/powerpoint/2010/main" val="32429134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0DB080-712A-8CF7-A806-6E14391D3366}"/>
              </a:ext>
            </a:extLst>
          </p:cNvPr>
          <p:cNvSpPr>
            <a:spLocks noGrp="1"/>
          </p:cNvSpPr>
          <p:nvPr>
            <p:ph type="dt" sz="half" idx="10"/>
          </p:nvPr>
        </p:nvSpPr>
        <p:spPr/>
        <p:txBody>
          <a:bodyPr/>
          <a:lstStyle/>
          <a:p>
            <a:fld id="{187B2DC8-5CA9-D544-BA19-5B33A931FE20}" type="datetimeFigureOut">
              <a:rPr lang="en-EG" smtClean="0"/>
              <a:t>13/12/2024</a:t>
            </a:fld>
            <a:endParaRPr lang="en-EG"/>
          </a:p>
        </p:txBody>
      </p:sp>
      <p:sp>
        <p:nvSpPr>
          <p:cNvPr id="3" name="Footer Placeholder 2">
            <a:extLst>
              <a:ext uri="{FF2B5EF4-FFF2-40B4-BE49-F238E27FC236}">
                <a16:creationId xmlns:a16="http://schemas.microsoft.com/office/drawing/2014/main" id="{217FCE10-7372-5D41-1863-C19D6993B7B2}"/>
              </a:ext>
            </a:extLst>
          </p:cNvPr>
          <p:cNvSpPr>
            <a:spLocks noGrp="1"/>
          </p:cNvSpPr>
          <p:nvPr>
            <p:ph type="ftr" sz="quarter" idx="11"/>
          </p:nvPr>
        </p:nvSpPr>
        <p:spPr/>
        <p:txBody>
          <a:bodyPr/>
          <a:lstStyle/>
          <a:p>
            <a:endParaRPr lang="en-EG"/>
          </a:p>
        </p:txBody>
      </p:sp>
      <p:sp>
        <p:nvSpPr>
          <p:cNvPr id="4" name="Slide Number Placeholder 3">
            <a:extLst>
              <a:ext uri="{FF2B5EF4-FFF2-40B4-BE49-F238E27FC236}">
                <a16:creationId xmlns:a16="http://schemas.microsoft.com/office/drawing/2014/main" id="{CA01C97B-3A75-A184-45DA-F0F69246D603}"/>
              </a:ext>
            </a:extLst>
          </p:cNvPr>
          <p:cNvSpPr>
            <a:spLocks noGrp="1"/>
          </p:cNvSpPr>
          <p:nvPr>
            <p:ph type="sldNum" sz="quarter" idx="12"/>
          </p:nvPr>
        </p:nvSpPr>
        <p:spPr/>
        <p:txBody>
          <a:bodyPr/>
          <a:lstStyle/>
          <a:p>
            <a:fld id="{70FBCF28-6574-554F-8867-04160A99B918}" type="slidenum">
              <a:rPr lang="en-EG" smtClean="0"/>
              <a:t>‹#›</a:t>
            </a:fld>
            <a:endParaRPr lang="en-EG"/>
          </a:p>
        </p:txBody>
      </p:sp>
    </p:spTree>
    <p:extLst>
      <p:ext uri="{BB962C8B-B14F-4D97-AF65-F5344CB8AC3E}">
        <p14:creationId xmlns:p14="http://schemas.microsoft.com/office/powerpoint/2010/main" val="8327035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E4A43-93CD-E5D0-F274-2A63511A5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EG"/>
          </a:p>
        </p:txBody>
      </p:sp>
      <p:sp>
        <p:nvSpPr>
          <p:cNvPr id="3" name="Content Placeholder 2">
            <a:extLst>
              <a:ext uri="{FF2B5EF4-FFF2-40B4-BE49-F238E27FC236}">
                <a16:creationId xmlns:a16="http://schemas.microsoft.com/office/drawing/2014/main" id="{6C6D8E10-58BC-1337-ABA8-C1EB34C0D3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Text Placeholder 3">
            <a:extLst>
              <a:ext uri="{FF2B5EF4-FFF2-40B4-BE49-F238E27FC236}">
                <a16:creationId xmlns:a16="http://schemas.microsoft.com/office/drawing/2014/main" id="{242CC8F5-5F6F-E2F5-B593-8883D0416F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B42016-2F21-5F13-8FE5-C1C2DE99F3AF}"/>
              </a:ext>
            </a:extLst>
          </p:cNvPr>
          <p:cNvSpPr>
            <a:spLocks noGrp="1"/>
          </p:cNvSpPr>
          <p:nvPr>
            <p:ph type="dt" sz="half" idx="10"/>
          </p:nvPr>
        </p:nvSpPr>
        <p:spPr/>
        <p:txBody>
          <a:bodyPr/>
          <a:lstStyle/>
          <a:p>
            <a:fld id="{187B2DC8-5CA9-D544-BA19-5B33A931FE20}" type="datetimeFigureOut">
              <a:rPr lang="en-EG" smtClean="0"/>
              <a:t>13/12/2024</a:t>
            </a:fld>
            <a:endParaRPr lang="en-EG"/>
          </a:p>
        </p:txBody>
      </p:sp>
      <p:sp>
        <p:nvSpPr>
          <p:cNvPr id="6" name="Footer Placeholder 5">
            <a:extLst>
              <a:ext uri="{FF2B5EF4-FFF2-40B4-BE49-F238E27FC236}">
                <a16:creationId xmlns:a16="http://schemas.microsoft.com/office/drawing/2014/main" id="{296764EE-AAB6-B704-4687-F4CCD00BC6A4}"/>
              </a:ext>
            </a:extLst>
          </p:cNvPr>
          <p:cNvSpPr>
            <a:spLocks noGrp="1"/>
          </p:cNvSpPr>
          <p:nvPr>
            <p:ph type="ftr" sz="quarter" idx="11"/>
          </p:nvPr>
        </p:nvSpPr>
        <p:spPr/>
        <p:txBody>
          <a:bodyPr/>
          <a:lstStyle/>
          <a:p>
            <a:endParaRPr lang="en-EG"/>
          </a:p>
        </p:txBody>
      </p:sp>
      <p:sp>
        <p:nvSpPr>
          <p:cNvPr id="7" name="Slide Number Placeholder 6">
            <a:extLst>
              <a:ext uri="{FF2B5EF4-FFF2-40B4-BE49-F238E27FC236}">
                <a16:creationId xmlns:a16="http://schemas.microsoft.com/office/drawing/2014/main" id="{39344812-E71A-0AA1-1610-4E4F4E4E02AE}"/>
              </a:ext>
            </a:extLst>
          </p:cNvPr>
          <p:cNvSpPr>
            <a:spLocks noGrp="1"/>
          </p:cNvSpPr>
          <p:nvPr>
            <p:ph type="sldNum" sz="quarter" idx="12"/>
          </p:nvPr>
        </p:nvSpPr>
        <p:spPr/>
        <p:txBody>
          <a:bodyPr/>
          <a:lstStyle/>
          <a:p>
            <a:fld id="{70FBCF28-6574-554F-8867-04160A99B918}" type="slidenum">
              <a:rPr lang="en-EG" smtClean="0"/>
              <a:t>‹#›</a:t>
            </a:fld>
            <a:endParaRPr lang="en-EG"/>
          </a:p>
        </p:txBody>
      </p:sp>
    </p:spTree>
    <p:extLst>
      <p:ext uri="{BB962C8B-B14F-4D97-AF65-F5344CB8AC3E}">
        <p14:creationId xmlns:p14="http://schemas.microsoft.com/office/powerpoint/2010/main" val="18825950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FEF4B-B780-0801-288A-56EDBE8F62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EG"/>
          </a:p>
        </p:txBody>
      </p:sp>
      <p:sp>
        <p:nvSpPr>
          <p:cNvPr id="3" name="Picture Placeholder 2">
            <a:extLst>
              <a:ext uri="{FF2B5EF4-FFF2-40B4-BE49-F238E27FC236}">
                <a16:creationId xmlns:a16="http://schemas.microsoft.com/office/drawing/2014/main" id="{D950DFD4-8CA5-6F43-7107-1E976C95A7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EG"/>
          </a:p>
        </p:txBody>
      </p:sp>
      <p:sp>
        <p:nvSpPr>
          <p:cNvPr id="4" name="Text Placeholder 3">
            <a:extLst>
              <a:ext uri="{FF2B5EF4-FFF2-40B4-BE49-F238E27FC236}">
                <a16:creationId xmlns:a16="http://schemas.microsoft.com/office/drawing/2014/main" id="{1148F4BB-F397-42EA-BE74-18B13954F2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F5721E-BAB9-FE7A-C15D-35BECEE57C6A}"/>
              </a:ext>
            </a:extLst>
          </p:cNvPr>
          <p:cNvSpPr>
            <a:spLocks noGrp="1"/>
          </p:cNvSpPr>
          <p:nvPr>
            <p:ph type="dt" sz="half" idx="10"/>
          </p:nvPr>
        </p:nvSpPr>
        <p:spPr/>
        <p:txBody>
          <a:bodyPr/>
          <a:lstStyle/>
          <a:p>
            <a:fld id="{187B2DC8-5CA9-D544-BA19-5B33A931FE20}" type="datetimeFigureOut">
              <a:rPr lang="en-EG" smtClean="0"/>
              <a:t>13/12/2024</a:t>
            </a:fld>
            <a:endParaRPr lang="en-EG"/>
          </a:p>
        </p:txBody>
      </p:sp>
      <p:sp>
        <p:nvSpPr>
          <p:cNvPr id="6" name="Footer Placeholder 5">
            <a:extLst>
              <a:ext uri="{FF2B5EF4-FFF2-40B4-BE49-F238E27FC236}">
                <a16:creationId xmlns:a16="http://schemas.microsoft.com/office/drawing/2014/main" id="{A4CBF282-B498-251C-F4B2-D86BE00F5AB5}"/>
              </a:ext>
            </a:extLst>
          </p:cNvPr>
          <p:cNvSpPr>
            <a:spLocks noGrp="1"/>
          </p:cNvSpPr>
          <p:nvPr>
            <p:ph type="ftr" sz="quarter" idx="11"/>
          </p:nvPr>
        </p:nvSpPr>
        <p:spPr/>
        <p:txBody>
          <a:bodyPr/>
          <a:lstStyle/>
          <a:p>
            <a:endParaRPr lang="en-EG"/>
          </a:p>
        </p:txBody>
      </p:sp>
      <p:sp>
        <p:nvSpPr>
          <p:cNvPr id="7" name="Slide Number Placeholder 6">
            <a:extLst>
              <a:ext uri="{FF2B5EF4-FFF2-40B4-BE49-F238E27FC236}">
                <a16:creationId xmlns:a16="http://schemas.microsoft.com/office/drawing/2014/main" id="{FD768B01-659A-A607-817E-8CE8A1F1AD9F}"/>
              </a:ext>
            </a:extLst>
          </p:cNvPr>
          <p:cNvSpPr>
            <a:spLocks noGrp="1"/>
          </p:cNvSpPr>
          <p:nvPr>
            <p:ph type="sldNum" sz="quarter" idx="12"/>
          </p:nvPr>
        </p:nvSpPr>
        <p:spPr/>
        <p:txBody>
          <a:bodyPr/>
          <a:lstStyle/>
          <a:p>
            <a:fld id="{70FBCF28-6574-554F-8867-04160A99B918}" type="slidenum">
              <a:rPr lang="en-EG" smtClean="0"/>
              <a:t>‹#›</a:t>
            </a:fld>
            <a:endParaRPr lang="en-EG"/>
          </a:p>
        </p:txBody>
      </p:sp>
    </p:spTree>
    <p:extLst>
      <p:ext uri="{BB962C8B-B14F-4D97-AF65-F5344CB8AC3E}">
        <p14:creationId xmlns:p14="http://schemas.microsoft.com/office/powerpoint/2010/main" val="40276405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400F9-1952-8646-C76F-6CF812DA04A4}"/>
              </a:ext>
            </a:extLst>
          </p:cNvPr>
          <p:cNvSpPr>
            <a:spLocks noGrp="1"/>
          </p:cNvSpPr>
          <p:nvPr>
            <p:ph type="title"/>
          </p:nvPr>
        </p:nvSpPr>
        <p:spPr/>
        <p:txBody>
          <a:bodyPr/>
          <a:lstStyle/>
          <a:p>
            <a:r>
              <a:rPr lang="en-US"/>
              <a:t>Click to edit Master title style</a:t>
            </a:r>
            <a:endParaRPr lang="en-EG"/>
          </a:p>
        </p:txBody>
      </p:sp>
      <p:sp>
        <p:nvSpPr>
          <p:cNvPr id="3" name="Vertical Text Placeholder 2">
            <a:extLst>
              <a:ext uri="{FF2B5EF4-FFF2-40B4-BE49-F238E27FC236}">
                <a16:creationId xmlns:a16="http://schemas.microsoft.com/office/drawing/2014/main" id="{3A8021BA-A402-3E73-FF64-C789A387FD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Date Placeholder 3">
            <a:extLst>
              <a:ext uri="{FF2B5EF4-FFF2-40B4-BE49-F238E27FC236}">
                <a16:creationId xmlns:a16="http://schemas.microsoft.com/office/drawing/2014/main" id="{F0845E98-EB61-0AD4-3A5D-29FF37BD105D}"/>
              </a:ext>
            </a:extLst>
          </p:cNvPr>
          <p:cNvSpPr>
            <a:spLocks noGrp="1"/>
          </p:cNvSpPr>
          <p:nvPr>
            <p:ph type="dt" sz="half" idx="10"/>
          </p:nvPr>
        </p:nvSpPr>
        <p:spPr/>
        <p:txBody>
          <a:bodyPr/>
          <a:lstStyle/>
          <a:p>
            <a:fld id="{187B2DC8-5CA9-D544-BA19-5B33A931FE20}" type="datetimeFigureOut">
              <a:rPr lang="en-EG" smtClean="0"/>
              <a:t>13/12/2024</a:t>
            </a:fld>
            <a:endParaRPr lang="en-EG"/>
          </a:p>
        </p:txBody>
      </p:sp>
      <p:sp>
        <p:nvSpPr>
          <p:cNvPr id="5" name="Footer Placeholder 4">
            <a:extLst>
              <a:ext uri="{FF2B5EF4-FFF2-40B4-BE49-F238E27FC236}">
                <a16:creationId xmlns:a16="http://schemas.microsoft.com/office/drawing/2014/main" id="{BFAAB1F9-8209-D82E-5A95-17617033A6D8}"/>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E6D8A1BD-81E6-78EA-9D78-59780F448AC9}"/>
              </a:ext>
            </a:extLst>
          </p:cNvPr>
          <p:cNvSpPr>
            <a:spLocks noGrp="1"/>
          </p:cNvSpPr>
          <p:nvPr>
            <p:ph type="sldNum" sz="quarter" idx="12"/>
          </p:nvPr>
        </p:nvSpPr>
        <p:spPr/>
        <p:txBody>
          <a:bodyPr/>
          <a:lstStyle/>
          <a:p>
            <a:fld id="{70FBCF28-6574-554F-8867-04160A99B918}" type="slidenum">
              <a:rPr lang="en-EG" smtClean="0"/>
              <a:t>‹#›</a:t>
            </a:fld>
            <a:endParaRPr lang="en-EG"/>
          </a:p>
        </p:txBody>
      </p:sp>
    </p:spTree>
    <p:extLst>
      <p:ext uri="{BB962C8B-B14F-4D97-AF65-F5344CB8AC3E}">
        <p14:creationId xmlns:p14="http://schemas.microsoft.com/office/powerpoint/2010/main" val="3877722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661DAB-B8CB-EC5C-0837-CD4CA125F2E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EG"/>
          </a:p>
        </p:txBody>
      </p:sp>
      <p:sp>
        <p:nvSpPr>
          <p:cNvPr id="3" name="Vertical Text Placeholder 2">
            <a:extLst>
              <a:ext uri="{FF2B5EF4-FFF2-40B4-BE49-F238E27FC236}">
                <a16:creationId xmlns:a16="http://schemas.microsoft.com/office/drawing/2014/main" id="{7DFE0C62-D2B4-F596-CEF7-018F166EDC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Date Placeholder 3">
            <a:extLst>
              <a:ext uri="{FF2B5EF4-FFF2-40B4-BE49-F238E27FC236}">
                <a16:creationId xmlns:a16="http://schemas.microsoft.com/office/drawing/2014/main" id="{933D386A-2ED6-ACA0-05AA-4C06D89E8AD3}"/>
              </a:ext>
            </a:extLst>
          </p:cNvPr>
          <p:cNvSpPr>
            <a:spLocks noGrp="1"/>
          </p:cNvSpPr>
          <p:nvPr>
            <p:ph type="dt" sz="half" idx="10"/>
          </p:nvPr>
        </p:nvSpPr>
        <p:spPr/>
        <p:txBody>
          <a:bodyPr/>
          <a:lstStyle/>
          <a:p>
            <a:fld id="{187B2DC8-5CA9-D544-BA19-5B33A931FE20}" type="datetimeFigureOut">
              <a:rPr lang="en-EG" smtClean="0"/>
              <a:t>13/12/2024</a:t>
            </a:fld>
            <a:endParaRPr lang="en-EG"/>
          </a:p>
        </p:txBody>
      </p:sp>
      <p:sp>
        <p:nvSpPr>
          <p:cNvPr id="5" name="Footer Placeholder 4">
            <a:extLst>
              <a:ext uri="{FF2B5EF4-FFF2-40B4-BE49-F238E27FC236}">
                <a16:creationId xmlns:a16="http://schemas.microsoft.com/office/drawing/2014/main" id="{5CBAF101-577B-293C-DC4F-863A5E30FCD6}"/>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B5CCBBE8-5475-1C09-825A-8224551BE1E2}"/>
              </a:ext>
            </a:extLst>
          </p:cNvPr>
          <p:cNvSpPr>
            <a:spLocks noGrp="1"/>
          </p:cNvSpPr>
          <p:nvPr>
            <p:ph type="sldNum" sz="quarter" idx="12"/>
          </p:nvPr>
        </p:nvSpPr>
        <p:spPr/>
        <p:txBody>
          <a:bodyPr/>
          <a:lstStyle/>
          <a:p>
            <a:fld id="{70FBCF28-6574-554F-8867-04160A99B918}" type="slidenum">
              <a:rPr lang="en-EG" smtClean="0"/>
              <a:t>‹#›</a:t>
            </a:fld>
            <a:endParaRPr lang="en-EG"/>
          </a:p>
        </p:txBody>
      </p:sp>
    </p:spTree>
    <p:extLst>
      <p:ext uri="{BB962C8B-B14F-4D97-AF65-F5344CB8AC3E}">
        <p14:creationId xmlns:p14="http://schemas.microsoft.com/office/powerpoint/2010/main" val="21266969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DB3393-19C7-40FF-600A-B6B06881BD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EG"/>
          </a:p>
        </p:txBody>
      </p:sp>
      <p:sp>
        <p:nvSpPr>
          <p:cNvPr id="3" name="Text Placeholder 2">
            <a:extLst>
              <a:ext uri="{FF2B5EF4-FFF2-40B4-BE49-F238E27FC236}">
                <a16:creationId xmlns:a16="http://schemas.microsoft.com/office/drawing/2014/main" id="{83E0986D-161D-24E1-3FC1-2AE8B50E4B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Date Placeholder 3">
            <a:extLst>
              <a:ext uri="{FF2B5EF4-FFF2-40B4-BE49-F238E27FC236}">
                <a16:creationId xmlns:a16="http://schemas.microsoft.com/office/drawing/2014/main" id="{A139B37C-744C-033B-1E9A-DCC36C6D4B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87B2DC8-5CA9-D544-BA19-5B33A931FE20}" type="datetimeFigureOut">
              <a:rPr lang="en-EG" smtClean="0"/>
              <a:t>13/12/2024</a:t>
            </a:fld>
            <a:endParaRPr lang="en-EG"/>
          </a:p>
        </p:txBody>
      </p:sp>
      <p:sp>
        <p:nvSpPr>
          <p:cNvPr id="5" name="Footer Placeholder 4">
            <a:extLst>
              <a:ext uri="{FF2B5EF4-FFF2-40B4-BE49-F238E27FC236}">
                <a16:creationId xmlns:a16="http://schemas.microsoft.com/office/drawing/2014/main" id="{C0867050-AE07-3460-65E0-1471C9D0EC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EG"/>
          </a:p>
        </p:txBody>
      </p:sp>
      <p:sp>
        <p:nvSpPr>
          <p:cNvPr id="6" name="Slide Number Placeholder 5">
            <a:extLst>
              <a:ext uri="{FF2B5EF4-FFF2-40B4-BE49-F238E27FC236}">
                <a16:creationId xmlns:a16="http://schemas.microsoft.com/office/drawing/2014/main" id="{19E04E15-3CFA-A734-2F9A-2CC410CDBC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FBCF28-6574-554F-8867-04160A99B918}" type="slidenum">
              <a:rPr lang="en-EG" smtClean="0"/>
              <a:t>‹#›</a:t>
            </a:fld>
            <a:endParaRPr lang="en-EG"/>
          </a:p>
        </p:txBody>
      </p:sp>
    </p:spTree>
    <p:extLst>
      <p:ext uri="{BB962C8B-B14F-4D97-AF65-F5344CB8AC3E}">
        <p14:creationId xmlns:p14="http://schemas.microsoft.com/office/powerpoint/2010/main" val="23250481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2"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DB3393-19C7-40FF-600A-B6B06881BD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EG"/>
          </a:p>
        </p:txBody>
      </p:sp>
      <p:sp>
        <p:nvSpPr>
          <p:cNvPr id="3" name="Text Placeholder 2">
            <a:extLst>
              <a:ext uri="{FF2B5EF4-FFF2-40B4-BE49-F238E27FC236}">
                <a16:creationId xmlns:a16="http://schemas.microsoft.com/office/drawing/2014/main" id="{83E0986D-161D-24E1-3FC1-2AE8B50E4B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Date Placeholder 3">
            <a:extLst>
              <a:ext uri="{FF2B5EF4-FFF2-40B4-BE49-F238E27FC236}">
                <a16:creationId xmlns:a16="http://schemas.microsoft.com/office/drawing/2014/main" id="{A139B37C-744C-033B-1E9A-DCC36C6D4B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87B2DC8-5CA9-D544-BA19-5B33A931FE20}" type="datetimeFigureOut">
              <a:rPr lang="en-EG" smtClean="0"/>
              <a:t>13/12/2024</a:t>
            </a:fld>
            <a:endParaRPr lang="en-EG"/>
          </a:p>
        </p:txBody>
      </p:sp>
      <p:sp>
        <p:nvSpPr>
          <p:cNvPr id="5" name="Footer Placeholder 4">
            <a:extLst>
              <a:ext uri="{FF2B5EF4-FFF2-40B4-BE49-F238E27FC236}">
                <a16:creationId xmlns:a16="http://schemas.microsoft.com/office/drawing/2014/main" id="{C0867050-AE07-3460-65E0-1471C9D0EC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EG"/>
          </a:p>
        </p:txBody>
      </p:sp>
      <p:sp>
        <p:nvSpPr>
          <p:cNvPr id="6" name="Slide Number Placeholder 5">
            <a:extLst>
              <a:ext uri="{FF2B5EF4-FFF2-40B4-BE49-F238E27FC236}">
                <a16:creationId xmlns:a16="http://schemas.microsoft.com/office/drawing/2014/main" id="{19E04E15-3CFA-A734-2F9A-2CC410CDBC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FBCF28-6574-554F-8867-04160A99B918}" type="slidenum">
              <a:rPr lang="en-EG" smtClean="0"/>
              <a:t>‹#›</a:t>
            </a:fld>
            <a:endParaRPr lang="en-EG"/>
          </a:p>
        </p:txBody>
      </p:sp>
    </p:spTree>
    <p:extLst>
      <p:ext uri="{BB962C8B-B14F-4D97-AF65-F5344CB8AC3E}">
        <p14:creationId xmlns:p14="http://schemas.microsoft.com/office/powerpoint/2010/main" val="40521147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5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564817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D6423-A123-6D5E-817A-5FD8BC75B91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2BE0921-18FE-450A-751E-78B050AC72B2}"/>
              </a:ext>
            </a:extLst>
          </p:cNvPr>
          <p:cNvSpPr txBox="1"/>
          <p:nvPr/>
        </p:nvSpPr>
        <p:spPr>
          <a:xfrm>
            <a:off x="177631" y="590239"/>
            <a:ext cx="3810772"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Syllabus</a:t>
            </a:r>
            <a:endParaRPr lang="en-ID" sz="2400" dirty="0">
              <a:solidFill>
                <a:schemeClr val="bg1"/>
              </a:solidFill>
              <a:latin typeface="Arial Black" panose="020B0A04020102020204" pitchFamily="34" charset="0"/>
            </a:endParaRPr>
          </a:p>
        </p:txBody>
      </p:sp>
      <p:grpSp>
        <p:nvGrpSpPr>
          <p:cNvPr id="11" name="Group 10">
            <a:extLst>
              <a:ext uri="{FF2B5EF4-FFF2-40B4-BE49-F238E27FC236}">
                <a16:creationId xmlns:a16="http://schemas.microsoft.com/office/drawing/2014/main" id="{C689CFAD-E5A9-9D6E-6CA4-5913AB3404FB}"/>
              </a:ext>
            </a:extLst>
          </p:cNvPr>
          <p:cNvGrpSpPr/>
          <p:nvPr/>
        </p:nvGrpSpPr>
        <p:grpSpPr>
          <a:xfrm>
            <a:off x="2336683" y="1534503"/>
            <a:ext cx="3248165" cy="2540778"/>
            <a:chOff x="1863486" y="1160719"/>
            <a:chExt cx="3248165" cy="2540778"/>
          </a:xfrm>
        </p:grpSpPr>
        <p:sp>
          <p:nvSpPr>
            <p:cNvPr id="54" name="Arc 53">
              <a:extLst>
                <a:ext uri="{FF2B5EF4-FFF2-40B4-BE49-F238E27FC236}">
                  <a16:creationId xmlns:a16="http://schemas.microsoft.com/office/drawing/2014/main" id="{DFBFC36D-34CC-6D47-67D5-A6690DE071EC}"/>
                </a:ext>
              </a:extLst>
            </p:cNvPr>
            <p:cNvSpPr/>
            <p:nvPr/>
          </p:nvSpPr>
          <p:spPr>
            <a:xfrm rot="16200000">
              <a:off x="1863484" y="1160721"/>
              <a:ext cx="2540778" cy="2540774"/>
            </a:xfrm>
            <a:prstGeom prst="arc">
              <a:avLst>
                <a:gd name="adj1" fmla="val 10862003"/>
                <a:gd name="adj2" fmla="val 0"/>
              </a:avLst>
            </a:prstGeom>
            <a:ln w="19050">
              <a:gradFill>
                <a:gsLst>
                  <a:gs pos="0">
                    <a:srgbClr val="FFB531"/>
                  </a:gs>
                  <a:gs pos="100000">
                    <a:srgbClr val="ED00B7"/>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9" name="Straight Connector 58">
              <a:extLst>
                <a:ext uri="{FF2B5EF4-FFF2-40B4-BE49-F238E27FC236}">
                  <a16:creationId xmlns:a16="http://schemas.microsoft.com/office/drawing/2014/main" id="{3EDE087D-45E1-EA0A-FB19-FD8E0E649A4F}"/>
                </a:ext>
              </a:extLst>
            </p:cNvPr>
            <p:cNvCxnSpPr/>
            <p:nvPr/>
          </p:nvCxnSpPr>
          <p:spPr>
            <a:xfrm>
              <a:off x="3086636" y="3701497"/>
              <a:ext cx="2025015" cy="0"/>
            </a:xfrm>
            <a:prstGeom prst="line">
              <a:avLst/>
            </a:prstGeom>
            <a:ln w="19050">
              <a:gradFill flip="none" rotWithShape="1">
                <a:gsLst>
                  <a:gs pos="0">
                    <a:srgbClr val="ED00B7"/>
                  </a:gs>
                  <a:gs pos="100000">
                    <a:srgbClr val="FFB53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9CB2F04E-58DA-A68C-3919-6B04003A395D}"/>
                </a:ext>
              </a:extLst>
            </p:cNvPr>
            <p:cNvCxnSpPr/>
            <p:nvPr/>
          </p:nvCxnSpPr>
          <p:spPr>
            <a:xfrm flipV="1">
              <a:off x="5111651" y="3095389"/>
              <a:ext cx="0" cy="606108"/>
            </a:xfrm>
            <a:prstGeom prst="line">
              <a:avLst/>
            </a:prstGeom>
            <a:ln w="19050">
              <a:solidFill>
                <a:srgbClr val="FFB531"/>
              </a:solidFill>
              <a:tailEnd type="oval"/>
            </a:ln>
          </p:spPr>
          <p:style>
            <a:lnRef idx="1">
              <a:schemeClr val="accent1"/>
            </a:lnRef>
            <a:fillRef idx="0">
              <a:schemeClr val="accent1"/>
            </a:fillRef>
            <a:effectRef idx="0">
              <a:schemeClr val="accent1"/>
            </a:effectRef>
            <a:fontRef idx="minor">
              <a:schemeClr val="tx1"/>
            </a:fontRef>
          </p:style>
        </p:cxnSp>
      </p:grpSp>
      <p:sp>
        <p:nvSpPr>
          <p:cNvPr id="74" name="TextBox 73">
            <a:extLst>
              <a:ext uri="{FF2B5EF4-FFF2-40B4-BE49-F238E27FC236}">
                <a16:creationId xmlns:a16="http://schemas.microsoft.com/office/drawing/2014/main" id="{E1AA358A-4393-9B91-DEA2-B5431154ABEF}"/>
              </a:ext>
            </a:extLst>
          </p:cNvPr>
          <p:cNvSpPr txBox="1"/>
          <p:nvPr/>
        </p:nvSpPr>
        <p:spPr>
          <a:xfrm>
            <a:off x="5581883" y="2732753"/>
            <a:ext cx="1619675" cy="492443"/>
          </a:xfrm>
          <a:prstGeom prst="rect">
            <a:avLst/>
          </a:prstGeom>
          <a:noFill/>
        </p:spPr>
        <p:txBody>
          <a:bodyPr wrap="square" lIns="0" tIns="0" rIns="0" bIns="0" rtlCol="0" anchor="t">
            <a:spAutoFit/>
          </a:bodyPr>
          <a:lstStyle/>
          <a:p>
            <a:pPr defTabSz="457200"/>
            <a:r>
              <a:rPr lang="en-US" sz="1600" b="1" dirty="0">
                <a:solidFill>
                  <a:schemeClr val="bg1"/>
                </a:solidFill>
                <a:latin typeface="Segoe UI" panose="020B0502040204020203" pitchFamily="34" charset="0"/>
                <a:cs typeface="Segoe UI" panose="020B0502040204020203" pitchFamily="34" charset="0"/>
              </a:rPr>
              <a:t>What is Cloud Computing?</a:t>
            </a:r>
          </a:p>
        </p:txBody>
      </p:sp>
      <p:sp>
        <p:nvSpPr>
          <p:cNvPr id="2" name="Circle: Hollow 1">
            <a:extLst>
              <a:ext uri="{FF2B5EF4-FFF2-40B4-BE49-F238E27FC236}">
                <a16:creationId xmlns:a16="http://schemas.microsoft.com/office/drawing/2014/main" id="{C7D4EDD6-E09B-318C-A5CD-47A4EC23BFC9}"/>
              </a:ext>
            </a:extLst>
          </p:cNvPr>
          <p:cNvSpPr/>
          <p:nvPr/>
        </p:nvSpPr>
        <p:spPr>
          <a:xfrm>
            <a:off x="2580655" y="1744015"/>
            <a:ext cx="2121751" cy="2121751"/>
          </a:xfrm>
          <a:prstGeom prst="donut">
            <a:avLst>
              <a:gd name="adj" fmla="val 11264"/>
            </a:avLst>
          </a:prstGeom>
          <a:solidFill>
            <a:srgbClr val="0200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1"/>
              </a:solidFill>
            </a:endParaRPr>
          </a:p>
        </p:txBody>
      </p:sp>
      <p:sp>
        <p:nvSpPr>
          <p:cNvPr id="3" name="Block Arc 2">
            <a:extLst>
              <a:ext uri="{FF2B5EF4-FFF2-40B4-BE49-F238E27FC236}">
                <a16:creationId xmlns:a16="http://schemas.microsoft.com/office/drawing/2014/main" id="{7682A248-4CC8-672C-2782-40C0211FAD0F}"/>
              </a:ext>
            </a:extLst>
          </p:cNvPr>
          <p:cNvSpPr/>
          <p:nvPr/>
        </p:nvSpPr>
        <p:spPr>
          <a:xfrm>
            <a:off x="2594097" y="1757683"/>
            <a:ext cx="2108309" cy="2089552"/>
          </a:xfrm>
          <a:prstGeom prst="blockArc">
            <a:avLst>
              <a:gd name="adj1" fmla="val 13265427"/>
              <a:gd name="adj2" fmla="val 16740458"/>
              <a:gd name="adj3" fmla="val 10159"/>
            </a:avLst>
          </a:prstGeom>
          <a:gradFill flip="none" rotWithShape="1">
            <a:gsLst>
              <a:gs pos="41000">
                <a:srgbClr val="ED00B7"/>
              </a:gs>
              <a:gs pos="77000">
                <a:srgbClr val="B9009A"/>
              </a:gs>
              <a:gs pos="100000">
                <a:srgbClr val="4A004C"/>
              </a:gs>
              <a:gs pos="31000">
                <a:srgbClr val="E02AC4"/>
              </a:gs>
              <a:gs pos="85000">
                <a:srgbClr val="FF4BE5"/>
              </a:gs>
              <a:gs pos="1000">
                <a:srgbClr val="54006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1"/>
              </a:solidFill>
            </a:endParaRPr>
          </a:p>
        </p:txBody>
      </p:sp>
      <p:pic>
        <p:nvPicPr>
          <p:cNvPr id="8" name="Picture 7">
            <a:extLst>
              <a:ext uri="{FF2B5EF4-FFF2-40B4-BE49-F238E27FC236}">
                <a16:creationId xmlns:a16="http://schemas.microsoft.com/office/drawing/2014/main" id="{9AE5C7BB-BFE4-2DBC-A51A-53CBFDFB1F17}"/>
              </a:ext>
            </a:extLst>
          </p:cNvPr>
          <p:cNvPicPr>
            <a:picLocks noChangeAspect="1"/>
          </p:cNvPicPr>
          <p:nvPr/>
        </p:nvPicPr>
        <p:blipFill>
          <a:blip r:embed="rId2"/>
          <a:srcRect/>
          <a:stretch/>
        </p:blipFill>
        <p:spPr>
          <a:xfrm>
            <a:off x="3147551" y="2266412"/>
            <a:ext cx="1001399" cy="1001399"/>
          </a:xfrm>
          <a:prstGeom prst="rect">
            <a:avLst/>
          </a:prstGeom>
        </p:spPr>
      </p:pic>
      <p:grpSp>
        <p:nvGrpSpPr>
          <p:cNvPr id="19" name="Group 18">
            <a:extLst>
              <a:ext uri="{FF2B5EF4-FFF2-40B4-BE49-F238E27FC236}">
                <a16:creationId xmlns:a16="http://schemas.microsoft.com/office/drawing/2014/main" id="{A58D1FCE-12F3-AEE4-6A7F-5F7E79479D39}"/>
              </a:ext>
            </a:extLst>
          </p:cNvPr>
          <p:cNvGrpSpPr/>
          <p:nvPr/>
        </p:nvGrpSpPr>
        <p:grpSpPr>
          <a:xfrm>
            <a:off x="2177934" y="1375754"/>
            <a:ext cx="5525274" cy="2858276"/>
            <a:chOff x="1704737" y="1001970"/>
            <a:chExt cx="5525274" cy="2858276"/>
          </a:xfrm>
        </p:grpSpPr>
        <p:sp>
          <p:nvSpPr>
            <p:cNvPr id="16" name="Arc 15">
              <a:extLst>
                <a:ext uri="{FF2B5EF4-FFF2-40B4-BE49-F238E27FC236}">
                  <a16:creationId xmlns:a16="http://schemas.microsoft.com/office/drawing/2014/main" id="{95B86068-66C8-C0AA-FED8-4965FC0114A4}"/>
                </a:ext>
              </a:extLst>
            </p:cNvPr>
            <p:cNvSpPr/>
            <p:nvPr/>
          </p:nvSpPr>
          <p:spPr>
            <a:xfrm rot="16200000">
              <a:off x="1704735" y="1001972"/>
              <a:ext cx="2858276" cy="2858272"/>
            </a:xfrm>
            <a:prstGeom prst="arc">
              <a:avLst>
                <a:gd name="adj1" fmla="val 10859147"/>
                <a:gd name="adj2" fmla="val 19930814"/>
              </a:avLst>
            </a:prstGeom>
            <a:ln w="19050">
              <a:gradFill>
                <a:gsLst>
                  <a:gs pos="0">
                    <a:srgbClr val="FFB531"/>
                  </a:gs>
                  <a:gs pos="100000">
                    <a:srgbClr val="ED00B7"/>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1D0E23D0-6FCF-3D94-C57B-94CBDA332EC9}"/>
                </a:ext>
              </a:extLst>
            </p:cNvPr>
            <p:cNvCxnSpPr/>
            <p:nvPr/>
          </p:nvCxnSpPr>
          <p:spPr>
            <a:xfrm>
              <a:off x="3086636" y="3860246"/>
              <a:ext cx="4143375" cy="0"/>
            </a:xfrm>
            <a:prstGeom prst="line">
              <a:avLst/>
            </a:prstGeom>
            <a:ln w="19050">
              <a:gradFill flip="none" rotWithShape="1">
                <a:gsLst>
                  <a:gs pos="0">
                    <a:srgbClr val="ED00B7"/>
                  </a:gs>
                  <a:gs pos="100000">
                    <a:srgbClr val="FFB53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B87A68B-E4FC-6FCF-A2A4-39DA0A88FE30}"/>
                </a:ext>
              </a:extLst>
            </p:cNvPr>
            <p:cNvCxnSpPr/>
            <p:nvPr/>
          </p:nvCxnSpPr>
          <p:spPr>
            <a:xfrm flipV="1">
              <a:off x="7230011" y="3095389"/>
              <a:ext cx="0" cy="764857"/>
            </a:xfrm>
            <a:prstGeom prst="line">
              <a:avLst/>
            </a:prstGeom>
            <a:ln w="19050">
              <a:solidFill>
                <a:srgbClr val="FFB531"/>
              </a:solidFill>
              <a:tailEnd type="oval"/>
            </a:ln>
          </p:spPr>
          <p:style>
            <a:lnRef idx="1">
              <a:schemeClr val="accent1"/>
            </a:lnRef>
            <a:fillRef idx="0">
              <a:schemeClr val="accent1"/>
            </a:fillRef>
            <a:effectRef idx="0">
              <a:schemeClr val="accent1"/>
            </a:effectRef>
            <a:fontRef idx="minor">
              <a:schemeClr val="tx1"/>
            </a:fontRef>
          </p:style>
        </p:cxnSp>
      </p:grpSp>
      <p:sp>
        <p:nvSpPr>
          <p:cNvPr id="23" name="TextBox 22">
            <a:extLst>
              <a:ext uri="{FF2B5EF4-FFF2-40B4-BE49-F238E27FC236}">
                <a16:creationId xmlns:a16="http://schemas.microsoft.com/office/drawing/2014/main" id="{1E01DAC8-B1A0-0C1A-3F76-3B4D6CBC9968}"/>
              </a:ext>
            </a:extLst>
          </p:cNvPr>
          <p:cNvSpPr txBox="1"/>
          <p:nvPr/>
        </p:nvSpPr>
        <p:spPr>
          <a:xfrm>
            <a:off x="7703208" y="2751251"/>
            <a:ext cx="1619675" cy="492443"/>
          </a:xfrm>
          <a:prstGeom prst="rect">
            <a:avLst/>
          </a:prstGeom>
          <a:noFill/>
        </p:spPr>
        <p:txBody>
          <a:bodyPr wrap="square" lIns="0" tIns="0" rIns="0" bIns="0" rtlCol="0" anchor="t">
            <a:spAutoFit/>
          </a:bodyPr>
          <a:lstStyle/>
          <a:p>
            <a:pPr defTabSz="457200"/>
            <a:r>
              <a:rPr lang="en-US" sz="1600" b="1" dirty="0">
                <a:solidFill>
                  <a:schemeClr val="bg1"/>
                </a:solidFill>
                <a:latin typeface="Segoe UI" panose="020B0502040204020203" pitchFamily="34" charset="0"/>
                <a:cs typeface="Segoe UI" panose="020B0502040204020203" pitchFamily="34" charset="0"/>
              </a:rPr>
              <a:t>History and Cloud Evolution</a:t>
            </a:r>
          </a:p>
        </p:txBody>
      </p:sp>
      <p:grpSp>
        <p:nvGrpSpPr>
          <p:cNvPr id="27" name="Group 26">
            <a:extLst>
              <a:ext uri="{FF2B5EF4-FFF2-40B4-BE49-F238E27FC236}">
                <a16:creationId xmlns:a16="http://schemas.microsoft.com/office/drawing/2014/main" id="{333D5039-99FF-6341-BF56-8AD7271AB6A9}"/>
              </a:ext>
            </a:extLst>
          </p:cNvPr>
          <p:cNvGrpSpPr/>
          <p:nvPr/>
        </p:nvGrpSpPr>
        <p:grpSpPr>
          <a:xfrm>
            <a:off x="2013219" y="1211039"/>
            <a:ext cx="8018754" cy="3187706"/>
            <a:chOff x="1540022" y="837255"/>
            <a:chExt cx="8018754" cy="3187706"/>
          </a:xfrm>
        </p:grpSpPr>
        <p:sp>
          <p:nvSpPr>
            <p:cNvPr id="24" name="Arc 23">
              <a:extLst>
                <a:ext uri="{FF2B5EF4-FFF2-40B4-BE49-F238E27FC236}">
                  <a16:creationId xmlns:a16="http://schemas.microsoft.com/office/drawing/2014/main" id="{0FE582F0-61D2-8270-7127-F8B5131AB898}"/>
                </a:ext>
              </a:extLst>
            </p:cNvPr>
            <p:cNvSpPr/>
            <p:nvPr/>
          </p:nvSpPr>
          <p:spPr>
            <a:xfrm rot="16200000">
              <a:off x="1540020" y="837257"/>
              <a:ext cx="3187706" cy="3187702"/>
            </a:xfrm>
            <a:prstGeom prst="arc">
              <a:avLst>
                <a:gd name="adj1" fmla="val 10838772"/>
                <a:gd name="adj2" fmla="val 18298962"/>
              </a:avLst>
            </a:prstGeom>
            <a:ln w="19050">
              <a:gradFill>
                <a:gsLst>
                  <a:gs pos="0">
                    <a:srgbClr val="FFB531"/>
                  </a:gs>
                  <a:gs pos="100000">
                    <a:srgbClr val="ED00B7"/>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07655C53-D12B-5313-AC44-120E59D56CC3}"/>
                </a:ext>
              </a:extLst>
            </p:cNvPr>
            <p:cNvCxnSpPr/>
            <p:nvPr/>
          </p:nvCxnSpPr>
          <p:spPr>
            <a:xfrm>
              <a:off x="3086636" y="4024961"/>
              <a:ext cx="6472140" cy="0"/>
            </a:xfrm>
            <a:prstGeom prst="line">
              <a:avLst/>
            </a:prstGeom>
            <a:ln w="19050">
              <a:gradFill flip="none" rotWithShape="1">
                <a:gsLst>
                  <a:gs pos="0">
                    <a:srgbClr val="ED00B7"/>
                  </a:gs>
                  <a:gs pos="100000">
                    <a:srgbClr val="FFB53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34EA003-A777-8A2A-2BC5-5CA5D212E39B}"/>
                </a:ext>
              </a:extLst>
            </p:cNvPr>
            <p:cNvCxnSpPr/>
            <p:nvPr/>
          </p:nvCxnSpPr>
          <p:spPr>
            <a:xfrm flipV="1">
              <a:off x="9558776" y="3095390"/>
              <a:ext cx="0" cy="929571"/>
            </a:xfrm>
            <a:prstGeom prst="line">
              <a:avLst/>
            </a:prstGeom>
            <a:ln w="19050">
              <a:solidFill>
                <a:srgbClr val="FFB531"/>
              </a:solidFill>
              <a:tailEnd type="oval"/>
            </a:ln>
          </p:spPr>
          <p:style>
            <a:lnRef idx="1">
              <a:schemeClr val="accent1"/>
            </a:lnRef>
            <a:fillRef idx="0">
              <a:schemeClr val="accent1"/>
            </a:fillRef>
            <a:effectRef idx="0">
              <a:schemeClr val="accent1"/>
            </a:effectRef>
            <a:fontRef idx="minor">
              <a:schemeClr val="tx1"/>
            </a:fontRef>
          </p:style>
        </p:cxnSp>
      </p:grpSp>
      <p:sp>
        <p:nvSpPr>
          <p:cNvPr id="31" name="TextBox 30">
            <a:extLst>
              <a:ext uri="{FF2B5EF4-FFF2-40B4-BE49-F238E27FC236}">
                <a16:creationId xmlns:a16="http://schemas.microsoft.com/office/drawing/2014/main" id="{F7EB0260-D20C-05A1-FC88-1368A93E1606}"/>
              </a:ext>
            </a:extLst>
          </p:cNvPr>
          <p:cNvSpPr txBox="1"/>
          <p:nvPr/>
        </p:nvSpPr>
        <p:spPr>
          <a:xfrm>
            <a:off x="10031973" y="2609642"/>
            <a:ext cx="1619675" cy="738664"/>
          </a:xfrm>
          <a:prstGeom prst="rect">
            <a:avLst/>
          </a:prstGeom>
          <a:noFill/>
        </p:spPr>
        <p:txBody>
          <a:bodyPr wrap="square" lIns="0" tIns="0" rIns="0" bIns="0" rtlCol="0" anchor="t">
            <a:spAutoFit/>
          </a:bodyPr>
          <a:lstStyle/>
          <a:p>
            <a:pPr defTabSz="457200"/>
            <a:r>
              <a:rPr lang="en-US" sz="1600" b="1" dirty="0">
                <a:solidFill>
                  <a:schemeClr val="bg1"/>
                </a:solidFill>
                <a:latin typeface="Segoe UI" panose="020B0502040204020203" pitchFamily="34" charset="0"/>
                <a:cs typeface="Segoe UI" panose="020B0502040204020203" pitchFamily="34" charset="0"/>
              </a:rPr>
              <a:t>Virtualization</a:t>
            </a:r>
            <a:br>
              <a:rPr lang="en-US" sz="1600" b="1" dirty="0">
                <a:solidFill>
                  <a:schemeClr val="bg1"/>
                </a:solidFill>
                <a:latin typeface="Segoe UI" panose="020B0502040204020203" pitchFamily="34" charset="0"/>
                <a:cs typeface="Segoe UI" panose="020B0502040204020203" pitchFamily="34" charset="0"/>
              </a:rPr>
            </a:br>
            <a:r>
              <a:rPr lang="en-US" sz="1600" b="1" dirty="0">
                <a:solidFill>
                  <a:schemeClr val="bg1"/>
                </a:solidFill>
                <a:latin typeface="Segoe UI" panose="020B0502040204020203" pitchFamily="34" charset="0"/>
                <a:cs typeface="Segoe UI" panose="020B0502040204020203" pitchFamily="34" charset="0"/>
              </a:rPr>
              <a:t>vs</a:t>
            </a:r>
            <a:br>
              <a:rPr lang="en-US" sz="1600" b="1" dirty="0">
                <a:solidFill>
                  <a:schemeClr val="bg1"/>
                </a:solidFill>
                <a:latin typeface="Segoe UI" panose="020B0502040204020203" pitchFamily="34" charset="0"/>
                <a:cs typeface="Segoe UI" panose="020B0502040204020203" pitchFamily="34" charset="0"/>
              </a:rPr>
            </a:br>
            <a:r>
              <a:rPr lang="en-US" sz="1600" b="1" dirty="0">
                <a:solidFill>
                  <a:schemeClr val="bg1"/>
                </a:solidFill>
                <a:latin typeface="Segoe UI" panose="020B0502040204020203" pitchFamily="34" charset="0"/>
                <a:cs typeface="Segoe UI" panose="020B0502040204020203" pitchFamily="34" charset="0"/>
              </a:rPr>
              <a:t>Containerization</a:t>
            </a:r>
          </a:p>
        </p:txBody>
      </p:sp>
      <p:grpSp>
        <p:nvGrpSpPr>
          <p:cNvPr id="36" name="Group 35">
            <a:extLst>
              <a:ext uri="{FF2B5EF4-FFF2-40B4-BE49-F238E27FC236}">
                <a16:creationId xmlns:a16="http://schemas.microsoft.com/office/drawing/2014/main" id="{90D75EF2-FFD2-0E01-D7C9-EDDA66E807B9}"/>
              </a:ext>
            </a:extLst>
          </p:cNvPr>
          <p:cNvGrpSpPr/>
          <p:nvPr/>
        </p:nvGrpSpPr>
        <p:grpSpPr>
          <a:xfrm>
            <a:off x="1854084" y="1051904"/>
            <a:ext cx="5849124" cy="4270833"/>
            <a:chOff x="1380887" y="678120"/>
            <a:chExt cx="5849124" cy="4270833"/>
          </a:xfrm>
        </p:grpSpPr>
        <p:sp>
          <p:nvSpPr>
            <p:cNvPr id="32" name="Arc 31">
              <a:extLst>
                <a:ext uri="{FF2B5EF4-FFF2-40B4-BE49-F238E27FC236}">
                  <a16:creationId xmlns:a16="http://schemas.microsoft.com/office/drawing/2014/main" id="{2BDA6C0F-937F-8260-1632-0F12A41721AC}"/>
                </a:ext>
              </a:extLst>
            </p:cNvPr>
            <p:cNvSpPr/>
            <p:nvPr/>
          </p:nvSpPr>
          <p:spPr>
            <a:xfrm rot="16200000">
              <a:off x="1380885" y="678122"/>
              <a:ext cx="3505976" cy="3505972"/>
            </a:xfrm>
            <a:prstGeom prst="arc">
              <a:avLst>
                <a:gd name="adj1" fmla="val 10846530"/>
                <a:gd name="adj2" fmla="val 16720663"/>
              </a:avLst>
            </a:prstGeom>
            <a:ln w="19050">
              <a:gradFill>
                <a:gsLst>
                  <a:gs pos="0">
                    <a:srgbClr val="FFB531"/>
                  </a:gs>
                  <a:gs pos="100000">
                    <a:srgbClr val="ED00B7"/>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33" name="Straight Connector 32">
              <a:extLst>
                <a:ext uri="{FF2B5EF4-FFF2-40B4-BE49-F238E27FC236}">
                  <a16:creationId xmlns:a16="http://schemas.microsoft.com/office/drawing/2014/main" id="{1916B350-41A4-F979-5DCC-41CA582C6CE5}"/>
                </a:ext>
              </a:extLst>
            </p:cNvPr>
            <p:cNvCxnSpPr/>
            <p:nvPr/>
          </p:nvCxnSpPr>
          <p:spPr>
            <a:xfrm>
              <a:off x="3086636" y="4184096"/>
              <a:ext cx="4143375" cy="0"/>
            </a:xfrm>
            <a:prstGeom prst="line">
              <a:avLst/>
            </a:prstGeom>
            <a:ln w="19050">
              <a:gradFill flip="none" rotWithShape="1">
                <a:gsLst>
                  <a:gs pos="0">
                    <a:srgbClr val="ED00B7"/>
                  </a:gs>
                  <a:gs pos="100000">
                    <a:srgbClr val="FFB53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5BD49E5-DB39-4FA8-5B69-D583C31C8769}"/>
                </a:ext>
              </a:extLst>
            </p:cNvPr>
            <p:cNvCxnSpPr/>
            <p:nvPr/>
          </p:nvCxnSpPr>
          <p:spPr>
            <a:xfrm>
              <a:off x="7230011" y="4184096"/>
              <a:ext cx="0" cy="764857"/>
            </a:xfrm>
            <a:prstGeom prst="line">
              <a:avLst/>
            </a:prstGeom>
            <a:ln w="19050">
              <a:solidFill>
                <a:srgbClr val="FFB531"/>
              </a:solidFill>
              <a:tailEnd type="oval"/>
            </a:ln>
          </p:spPr>
          <p:style>
            <a:lnRef idx="1">
              <a:schemeClr val="accent1"/>
            </a:lnRef>
            <a:fillRef idx="0">
              <a:schemeClr val="accent1"/>
            </a:fillRef>
            <a:effectRef idx="0">
              <a:schemeClr val="accent1"/>
            </a:effectRef>
            <a:fontRef idx="minor">
              <a:schemeClr val="tx1"/>
            </a:fontRef>
          </p:style>
        </p:cxnSp>
      </p:grpSp>
      <p:sp>
        <p:nvSpPr>
          <p:cNvPr id="44" name="TextBox 43">
            <a:extLst>
              <a:ext uri="{FF2B5EF4-FFF2-40B4-BE49-F238E27FC236}">
                <a16:creationId xmlns:a16="http://schemas.microsoft.com/office/drawing/2014/main" id="{AF37F3CD-E9A8-18A3-4E7C-00CB678DD276}"/>
              </a:ext>
            </a:extLst>
          </p:cNvPr>
          <p:cNvSpPr txBox="1"/>
          <p:nvPr/>
        </p:nvSpPr>
        <p:spPr>
          <a:xfrm>
            <a:off x="7703208" y="5431436"/>
            <a:ext cx="1619675" cy="492443"/>
          </a:xfrm>
          <a:prstGeom prst="rect">
            <a:avLst/>
          </a:prstGeom>
          <a:noFill/>
        </p:spPr>
        <p:txBody>
          <a:bodyPr wrap="square" lIns="0" tIns="0" rIns="0" bIns="0" rtlCol="0" anchor="t">
            <a:spAutoFit/>
          </a:bodyPr>
          <a:lstStyle/>
          <a:p>
            <a:pPr defTabSz="457200"/>
            <a:r>
              <a:rPr lang="en-US" sz="1600" b="1" dirty="0">
                <a:solidFill>
                  <a:schemeClr val="bg1"/>
                </a:solidFill>
                <a:latin typeface="Segoe UI" panose="020B0502040204020203" pitchFamily="34" charset="0"/>
                <a:cs typeface="Segoe UI" panose="020B0502040204020203" pitchFamily="34" charset="0"/>
              </a:rPr>
              <a:t>Application Architectures</a:t>
            </a:r>
          </a:p>
        </p:txBody>
      </p:sp>
      <p:grpSp>
        <p:nvGrpSpPr>
          <p:cNvPr id="49" name="Group 48">
            <a:extLst>
              <a:ext uri="{FF2B5EF4-FFF2-40B4-BE49-F238E27FC236}">
                <a16:creationId xmlns:a16="http://schemas.microsoft.com/office/drawing/2014/main" id="{FCB60275-73E1-DABF-ADF2-C4B04764511C}"/>
              </a:ext>
            </a:extLst>
          </p:cNvPr>
          <p:cNvGrpSpPr/>
          <p:nvPr/>
        </p:nvGrpSpPr>
        <p:grpSpPr>
          <a:xfrm>
            <a:off x="1701684" y="899504"/>
            <a:ext cx="3883164" cy="4416884"/>
            <a:chOff x="1228487" y="525720"/>
            <a:chExt cx="3883164" cy="4416884"/>
          </a:xfrm>
        </p:grpSpPr>
        <p:sp>
          <p:nvSpPr>
            <p:cNvPr id="45" name="Arc 44">
              <a:extLst>
                <a:ext uri="{FF2B5EF4-FFF2-40B4-BE49-F238E27FC236}">
                  <a16:creationId xmlns:a16="http://schemas.microsoft.com/office/drawing/2014/main" id="{5CC6B869-66B0-62A3-8796-23E144AA3216}"/>
                </a:ext>
              </a:extLst>
            </p:cNvPr>
            <p:cNvSpPr/>
            <p:nvPr/>
          </p:nvSpPr>
          <p:spPr>
            <a:xfrm rot="16200000">
              <a:off x="1228485" y="525722"/>
              <a:ext cx="3810776" cy="3810772"/>
            </a:xfrm>
            <a:prstGeom prst="arc">
              <a:avLst>
                <a:gd name="adj1" fmla="val 10842301"/>
                <a:gd name="adj2" fmla="val 14959444"/>
              </a:avLst>
            </a:prstGeom>
            <a:ln w="19050">
              <a:gradFill>
                <a:gsLst>
                  <a:gs pos="0">
                    <a:srgbClr val="FFB531"/>
                  </a:gs>
                  <a:gs pos="100000">
                    <a:srgbClr val="ED00B7"/>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DB94BD9E-E371-A733-48C8-FE3786F9773D}"/>
                </a:ext>
              </a:extLst>
            </p:cNvPr>
            <p:cNvCxnSpPr/>
            <p:nvPr/>
          </p:nvCxnSpPr>
          <p:spPr>
            <a:xfrm>
              <a:off x="5111651" y="4336496"/>
              <a:ext cx="0" cy="606108"/>
            </a:xfrm>
            <a:prstGeom prst="line">
              <a:avLst/>
            </a:prstGeom>
            <a:ln w="19050">
              <a:solidFill>
                <a:srgbClr val="FFB531"/>
              </a:solidFill>
              <a:tailEnd type="ova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51B15C01-BEBC-8B0B-5844-F4E1D8DF2D72}"/>
                </a:ext>
              </a:extLst>
            </p:cNvPr>
            <p:cNvCxnSpPr/>
            <p:nvPr/>
          </p:nvCxnSpPr>
          <p:spPr>
            <a:xfrm>
              <a:off x="3086636" y="4336496"/>
              <a:ext cx="2025015" cy="0"/>
            </a:xfrm>
            <a:prstGeom prst="line">
              <a:avLst/>
            </a:prstGeom>
            <a:ln w="19050">
              <a:gradFill flip="none" rotWithShape="1">
                <a:gsLst>
                  <a:gs pos="0">
                    <a:srgbClr val="ED00B7"/>
                  </a:gs>
                  <a:gs pos="100000">
                    <a:srgbClr val="FFB531"/>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50" name="TextBox 49">
            <a:extLst>
              <a:ext uri="{FF2B5EF4-FFF2-40B4-BE49-F238E27FC236}">
                <a16:creationId xmlns:a16="http://schemas.microsoft.com/office/drawing/2014/main" id="{5A970ADC-57E5-FB98-8579-F549F2DE88C1}"/>
              </a:ext>
            </a:extLst>
          </p:cNvPr>
          <p:cNvSpPr txBox="1"/>
          <p:nvPr/>
        </p:nvSpPr>
        <p:spPr>
          <a:xfrm>
            <a:off x="5581882" y="5431436"/>
            <a:ext cx="1619675" cy="246221"/>
          </a:xfrm>
          <a:prstGeom prst="rect">
            <a:avLst/>
          </a:prstGeom>
          <a:noFill/>
        </p:spPr>
        <p:txBody>
          <a:bodyPr wrap="square" lIns="0" tIns="0" rIns="0" bIns="0" rtlCol="0" anchor="t">
            <a:spAutoFit/>
          </a:bodyPr>
          <a:lstStyle/>
          <a:p>
            <a:pPr defTabSz="457200"/>
            <a:r>
              <a:rPr lang="en-US" sz="1600" b="1" dirty="0">
                <a:solidFill>
                  <a:schemeClr val="bg1"/>
                </a:solidFill>
                <a:latin typeface="Segoe UI" panose="020B0502040204020203" pitchFamily="34" charset="0"/>
                <a:cs typeface="Segoe UI" panose="020B0502040204020203" pitchFamily="34" charset="0"/>
              </a:rPr>
              <a:t>Cloud Models</a:t>
            </a:r>
          </a:p>
        </p:txBody>
      </p:sp>
      <p:sp>
        <p:nvSpPr>
          <p:cNvPr id="51" name="Block Arc 50">
            <a:extLst>
              <a:ext uri="{FF2B5EF4-FFF2-40B4-BE49-F238E27FC236}">
                <a16:creationId xmlns:a16="http://schemas.microsoft.com/office/drawing/2014/main" id="{C68F3344-B8C8-32C4-3193-B01D593451F2}"/>
              </a:ext>
            </a:extLst>
          </p:cNvPr>
          <p:cNvSpPr/>
          <p:nvPr/>
        </p:nvSpPr>
        <p:spPr>
          <a:xfrm>
            <a:off x="2594097" y="1757683"/>
            <a:ext cx="2108309" cy="2089552"/>
          </a:xfrm>
          <a:prstGeom prst="blockArc">
            <a:avLst>
              <a:gd name="adj1" fmla="val 10316463"/>
              <a:gd name="adj2" fmla="val 16740458"/>
              <a:gd name="adj3" fmla="val 10159"/>
            </a:avLst>
          </a:prstGeom>
          <a:gradFill flip="none" rotWithShape="1">
            <a:gsLst>
              <a:gs pos="41000">
                <a:srgbClr val="ED00B7"/>
              </a:gs>
              <a:gs pos="77000">
                <a:srgbClr val="B9009A"/>
              </a:gs>
              <a:gs pos="100000">
                <a:srgbClr val="4A004C"/>
              </a:gs>
              <a:gs pos="31000">
                <a:srgbClr val="E02AC4"/>
              </a:gs>
              <a:gs pos="85000">
                <a:srgbClr val="FF4BE5"/>
              </a:gs>
              <a:gs pos="1000">
                <a:srgbClr val="54006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1"/>
              </a:solidFill>
            </a:endParaRPr>
          </a:p>
        </p:txBody>
      </p:sp>
      <p:sp>
        <p:nvSpPr>
          <p:cNvPr id="52" name="Block Arc 51">
            <a:extLst>
              <a:ext uri="{FF2B5EF4-FFF2-40B4-BE49-F238E27FC236}">
                <a16:creationId xmlns:a16="http://schemas.microsoft.com/office/drawing/2014/main" id="{B5DCF85F-FAC8-7854-A5E3-E48955B70D5B}"/>
              </a:ext>
            </a:extLst>
          </p:cNvPr>
          <p:cNvSpPr/>
          <p:nvPr/>
        </p:nvSpPr>
        <p:spPr>
          <a:xfrm>
            <a:off x="2594254" y="1754538"/>
            <a:ext cx="2108309" cy="2089552"/>
          </a:xfrm>
          <a:prstGeom prst="blockArc">
            <a:avLst>
              <a:gd name="adj1" fmla="val 5258112"/>
              <a:gd name="adj2" fmla="val 16740458"/>
              <a:gd name="adj3" fmla="val 10159"/>
            </a:avLst>
          </a:prstGeom>
          <a:gradFill flip="none" rotWithShape="1">
            <a:gsLst>
              <a:gs pos="41000">
                <a:srgbClr val="ED00B7"/>
              </a:gs>
              <a:gs pos="77000">
                <a:srgbClr val="B9009A"/>
              </a:gs>
              <a:gs pos="100000">
                <a:srgbClr val="4A004C"/>
              </a:gs>
              <a:gs pos="31000">
                <a:srgbClr val="E02AC4"/>
              </a:gs>
              <a:gs pos="85000">
                <a:srgbClr val="FF4BE5"/>
              </a:gs>
              <a:gs pos="1000">
                <a:srgbClr val="54006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1"/>
              </a:solidFill>
            </a:endParaRPr>
          </a:p>
        </p:txBody>
      </p:sp>
      <p:sp>
        <p:nvSpPr>
          <p:cNvPr id="53" name="Block Arc 52">
            <a:extLst>
              <a:ext uri="{FF2B5EF4-FFF2-40B4-BE49-F238E27FC236}">
                <a16:creationId xmlns:a16="http://schemas.microsoft.com/office/drawing/2014/main" id="{640F856E-13EA-055B-CC22-6F863F0D7900}"/>
              </a:ext>
            </a:extLst>
          </p:cNvPr>
          <p:cNvSpPr/>
          <p:nvPr/>
        </p:nvSpPr>
        <p:spPr>
          <a:xfrm>
            <a:off x="2580205" y="1745808"/>
            <a:ext cx="2108309" cy="2089552"/>
          </a:xfrm>
          <a:prstGeom prst="blockArc">
            <a:avLst>
              <a:gd name="adj1" fmla="val 21467870"/>
              <a:gd name="adj2" fmla="val 16740458"/>
              <a:gd name="adj3" fmla="val 10159"/>
            </a:avLst>
          </a:prstGeom>
          <a:gradFill flip="none" rotWithShape="1">
            <a:gsLst>
              <a:gs pos="41000">
                <a:srgbClr val="ED00B7"/>
              </a:gs>
              <a:gs pos="77000">
                <a:srgbClr val="B9009A"/>
              </a:gs>
              <a:gs pos="100000">
                <a:srgbClr val="4A004C"/>
              </a:gs>
              <a:gs pos="31000">
                <a:srgbClr val="E02AC4"/>
              </a:gs>
              <a:gs pos="85000">
                <a:srgbClr val="FF4BE5"/>
              </a:gs>
              <a:gs pos="1000">
                <a:srgbClr val="54006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tx1"/>
              </a:solidFill>
            </a:endParaRPr>
          </a:p>
        </p:txBody>
      </p:sp>
      <p:sp>
        <p:nvSpPr>
          <p:cNvPr id="69" name="Block Arc 68">
            <a:extLst>
              <a:ext uri="{FF2B5EF4-FFF2-40B4-BE49-F238E27FC236}">
                <a16:creationId xmlns:a16="http://schemas.microsoft.com/office/drawing/2014/main" id="{EF2DB6BE-EAA8-7746-A52C-749D76B79C36}"/>
              </a:ext>
            </a:extLst>
          </p:cNvPr>
          <p:cNvSpPr/>
          <p:nvPr/>
        </p:nvSpPr>
        <p:spPr>
          <a:xfrm>
            <a:off x="2580205" y="1754661"/>
            <a:ext cx="2108309" cy="2089552"/>
          </a:xfrm>
          <a:prstGeom prst="blockArc">
            <a:avLst>
              <a:gd name="adj1" fmla="val 16771463"/>
              <a:gd name="adj2" fmla="val 16740458"/>
              <a:gd name="adj3" fmla="val 10159"/>
            </a:avLst>
          </a:prstGeom>
          <a:gradFill flip="none" rotWithShape="1">
            <a:gsLst>
              <a:gs pos="41000">
                <a:srgbClr val="ED00B7"/>
              </a:gs>
              <a:gs pos="77000">
                <a:srgbClr val="B9009A"/>
              </a:gs>
              <a:gs pos="100000">
                <a:srgbClr val="4A004C"/>
              </a:gs>
              <a:gs pos="31000">
                <a:srgbClr val="E02AC4"/>
              </a:gs>
              <a:gs pos="85000">
                <a:srgbClr val="FF4BE5"/>
              </a:gs>
              <a:gs pos="1000">
                <a:srgbClr val="54006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tx1"/>
              </a:solidFill>
            </a:endParaRPr>
          </a:p>
        </p:txBody>
      </p:sp>
    </p:spTree>
    <p:extLst>
      <p:ext uri="{BB962C8B-B14F-4D97-AF65-F5344CB8AC3E}">
        <p14:creationId xmlns:p14="http://schemas.microsoft.com/office/powerpoint/2010/main" val="237274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0" presetClass="entr" presetSubtype="0"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edge">
                                      <p:cBhvr>
                                        <p:cTn id="12" dur="1000"/>
                                        <p:tgtEl>
                                          <p:spTgt spid="8"/>
                                        </p:tgtEl>
                                      </p:cBhvr>
                                    </p:animEffect>
                                  </p:childTnLst>
                                </p:cTn>
                              </p:par>
                              <p:par>
                                <p:cTn id="13" presetID="20"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edge">
                                      <p:cBhvr>
                                        <p:cTn id="15" dur="20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0" presetClass="entr" presetSubtype="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edge">
                                      <p:cBhvr>
                                        <p:cTn id="20" dur="10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childTnLst>
                          </p:cTn>
                        </p:par>
                        <p:par>
                          <p:cTn id="24" fill="hold">
                            <p:stCondLst>
                              <p:cond delay="1000"/>
                            </p:stCondLst>
                            <p:childTnLst>
                              <p:par>
                                <p:cTn id="25" presetID="22" presetClass="entr" presetSubtype="4" fill="hold" grpId="0" nodeType="afterEffect">
                                  <p:stCondLst>
                                    <p:cond delay="0"/>
                                  </p:stCondLst>
                                  <p:childTnLst>
                                    <p:set>
                                      <p:cBhvr>
                                        <p:cTn id="26" dur="1" fill="hold">
                                          <p:stCondLst>
                                            <p:cond delay="0"/>
                                          </p:stCondLst>
                                        </p:cTn>
                                        <p:tgtEl>
                                          <p:spTgt spid="74"/>
                                        </p:tgtEl>
                                        <p:attrNameLst>
                                          <p:attrName>style.visibility</p:attrName>
                                        </p:attrNameLst>
                                      </p:cBhvr>
                                      <p:to>
                                        <p:strVal val="visible"/>
                                      </p:to>
                                    </p:set>
                                    <p:animEffect transition="in" filter="wipe(down)">
                                      <p:cBhvr>
                                        <p:cTn id="27" dur="500"/>
                                        <p:tgtEl>
                                          <p:spTgt spid="74"/>
                                        </p:tgtEl>
                                      </p:cBhvr>
                                    </p:animEffect>
                                  </p:childTnLst>
                                </p:cTn>
                              </p:par>
                            </p:childTnLst>
                          </p:cTn>
                        </p:par>
                      </p:childTnLst>
                    </p:cTn>
                  </p:par>
                  <p:par>
                    <p:cTn id="28" fill="hold">
                      <p:stCondLst>
                        <p:cond delay="indefinite"/>
                      </p:stCondLst>
                      <p:childTnLst>
                        <p:par>
                          <p:cTn id="29" fill="hold">
                            <p:stCondLst>
                              <p:cond delay="0"/>
                            </p:stCondLst>
                            <p:childTnLst>
                              <p:par>
                                <p:cTn id="30" presetID="20"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edge">
                                      <p:cBhvr>
                                        <p:cTn id="32" dur="1000"/>
                                        <p:tgtEl>
                                          <p:spTgt spid="1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51"/>
                                        </p:tgtEl>
                                        <p:attrNameLst>
                                          <p:attrName>style.visibility</p:attrName>
                                        </p:attrNameLst>
                                      </p:cBhvr>
                                      <p:to>
                                        <p:strVal val="visible"/>
                                      </p:to>
                                    </p:set>
                                    <p:animEffect transition="in" filter="fade">
                                      <p:cBhvr>
                                        <p:cTn id="35" dur="500"/>
                                        <p:tgtEl>
                                          <p:spTgt spid="51"/>
                                        </p:tgtEl>
                                      </p:cBhvr>
                                    </p:animEffect>
                                  </p:childTnLst>
                                </p:cTn>
                              </p:par>
                            </p:childTnLst>
                          </p:cTn>
                        </p:par>
                        <p:par>
                          <p:cTn id="36" fill="hold">
                            <p:stCondLst>
                              <p:cond delay="1000"/>
                            </p:stCondLst>
                            <p:childTnLst>
                              <p:par>
                                <p:cTn id="37" presetID="22" presetClass="entr" presetSubtype="4" fill="hold" grpId="0" nodeType="after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wipe(down)">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20" presetClass="entr" presetSubtype="0" fill="hold" nodeType="click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wedge">
                                      <p:cBhvr>
                                        <p:cTn id="44" dur="1000"/>
                                        <p:tgtEl>
                                          <p:spTgt spid="2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52"/>
                                        </p:tgtEl>
                                        <p:attrNameLst>
                                          <p:attrName>style.visibility</p:attrName>
                                        </p:attrNameLst>
                                      </p:cBhvr>
                                      <p:to>
                                        <p:strVal val="visible"/>
                                      </p:to>
                                    </p:set>
                                    <p:animEffect transition="in" filter="fade">
                                      <p:cBhvr>
                                        <p:cTn id="47" dur="500"/>
                                        <p:tgtEl>
                                          <p:spTgt spid="52"/>
                                        </p:tgtEl>
                                      </p:cBhvr>
                                    </p:animEffect>
                                  </p:childTnLst>
                                </p:cTn>
                              </p:par>
                            </p:childTnLst>
                          </p:cTn>
                        </p:par>
                        <p:par>
                          <p:cTn id="48" fill="hold">
                            <p:stCondLst>
                              <p:cond delay="1000"/>
                            </p:stCondLst>
                            <p:childTnLst>
                              <p:par>
                                <p:cTn id="49" presetID="22" presetClass="entr" presetSubtype="4" fill="hold" grpId="0" nodeType="after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wipe(down)">
                                      <p:cBhvr>
                                        <p:cTn id="51" dur="500"/>
                                        <p:tgtEl>
                                          <p:spTgt spid="31"/>
                                        </p:tgtEl>
                                      </p:cBhvr>
                                    </p:animEffect>
                                  </p:childTnLst>
                                </p:cTn>
                              </p:par>
                            </p:childTnLst>
                          </p:cTn>
                        </p:par>
                      </p:childTnLst>
                    </p:cTn>
                  </p:par>
                  <p:par>
                    <p:cTn id="52" fill="hold">
                      <p:stCondLst>
                        <p:cond delay="indefinite"/>
                      </p:stCondLst>
                      <p:childTnLst>
                        <p:par>
                          <p:cTn id="53" fill="hold">
                            <p:stCondLst>
                              <p:cond delay="0"/>
                            </p:stCondLst>
                            <p:childTnLst>
                              <p:par>
                                <p:cTn id="54" presetID="20" presetClass="entr" presetSubtype="0" fill="hold" nodeType="clickEffect">
                                  <p:stCondLst>
                                    <p:cond delay="0"/>
                                  </p:stCondLst>
                                  <p:childTnLst>
                                    <p:set>
                                      <p:cBhvr>
                                        <p:cTn id="55" dur="1" fill="hold">
                                          <p:stCondLst>
                                            <p:cond delay="0"/>
                                          </p:stCondLst>
                                        </p:cTn>
                                        <p:tgtEl>
                                          <p:spTgt spid="36"/>
                                        </p:tgtEl>
                                        <p:attrNameLst>
                                          <p:attrName>style.visibility</p:attrName>
                                        </p:attrNameLst>
                                      </p:cBhvr>
                                      <p:to>
                                        <p:strVal val="visible"/>
                                      </p:to>
                                    </p:set>
                                    <p:animEffect transition="in" filter="wedge">
                                      <p:cBhvr>
                                        <p:cTn id="56" dur="1000"/>
                                        <p:tgtEl>
                                          <p:spTgt spid="3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53"/>
                                        </p:tgtEl>
                                        <p:attrNameLst>
                                          <p:attrName>style.visibility</p:attrName>
                                        </p:attrNameLst>
                                      </p:cBhvr>
                                      <p:to>
                                        <p:strVal val="visible"/>
                                      </p:to>
                                    </p:set>
                                    <p:animEffect transition="in" filter="fade">
                                      <p:cBhvr>
                                        <p:cTn id="59" dur="500"/>
                                        <p:tgtEl>
                                          <p:spTgt spid="53"/>
                                        </p:tgtEl>
                                      </p:cBhvr>
                                    </p:animEffect>
                                  </p:childTnLst>
                                </p:cTn>
                              </p:par>
                            </p:childTnLst>
                          </p:cTn>
                        </p:par>
                        <p:par>
                          <p:cTn id="60" fill="hold">
                            <p:stCondLst>
                              <p:cond delay="1000"/>
                            </p:stCondLst>
                            <p:childTnLst>
                              <p:par>
                                <p:cTn id="61" presetID="22" presetClass="entr" presetSubtype="4" fill="hold" grpId="0" nodeType="afterEffect">
                                  <p:stCondLst>
                                    <p:cond delay="0"/>
                                  </p:stCondLst>
                                  <p:childTnLst>
                                    <p:set>
                                      <p:cBhvr>
                                        <p:cTn id="62" dur="1" fill="hold">
                                          <p:stCondLst>
                                            <p:cond delay="0"/>
                                          </p:stCondLst>
                                        </p:cTn>
                                        <p:tgtEl>
                                          <p:spTgt spid="44"/>
                                        </p:tgtEl>
                                        <p:attrNameLst>
                                          <p:attrName>style.visibility</p:attrName>
                                        </p:attrNameLst>
                                      </p:cBhvr>
                                      <p:to>
                                        <p:strVal val="visible"/>
                                      </p:to>
                                    </p:set>
                                    <p:animEffect transition="in" filter="wipe(down)">
                                      <p:cBhvr>
                                        <p:cTn id="63" dur="500"/>
                                        <p:tgtEl>
                                          <p:spTgt spid="44"/>
                                        </p:tgtEl>
                                      </p:cBhvr>
                                    </p:animEffect>
                                  </p:childTnLst>
                                </p:cTn>
                              </p:par>
                            </p:childTnLst>
                          </p:cTn>
                        </p:par>
                      </p:childTnLst>
                    </p:cTn>
                  </p:par>
                  <p:par>
                    <p:cTn id="64" fill="hold">
                      <p:stCondLst>
                        <p:cond delay="indefinite"/>
                      </p:stCondLst>
                      <p:childTnLst>
                        <p:par>
                          <p:cTn id="65" fill="hold">
                            <p:stCondLst>
                              <p:cond delay="0"/>
                            </p:stCondLst>
                            <p:childTnLst>
                              <p:par>
                                <p:cTn id="66" presetID="20" presetClass="entr" presetSubtype="0" fill="hold" nodeType="clickEffect">
                                  <p:stCondLst>
                                    <p:cond delay="0"/>
                                  </p:stCondLst>
                                  <p:childTnLst>
                                    <p:set>
                                      <p:cBhvr>
                                        <p:cTn id="67" dur="1" fill="hold">
                                          <p:stCondLst>
                                            <p:cond delay="0"/>
                                          </p:stCondLst>
                                        </p:cTn>
                                        <p:tgtEl>
                                          <p:spTgt spid="49"/>
                                        </p:tgtEl>
                                        <p:attrNameLst>
                                          <p:attrName>style.visibility</p:attrName>
                                        </p:attrNameLst>
                                      </p:cBhvr>
                                      <p:to>
                                        <p:strVal val="visible"/>
                                      </p:to>
                                    </p:set>
                                    <p:animEffect transition="in" filter="wedge">
                                      <p:cBhvr>
                                        <p:cTn id="68" dur="1000"/>
                                        <p:tgtEl>
                                          <p:spTgt spid="49"/>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69"/>
                                        </p:tgtEl>
                                        <p:attrNameLst>
                                          <p:attrName>style.visibility</p:attrName>
                                        </p:attrNameLst>
                                      </p:cBhvr>
                                      <p:to>
                                        <p:strVal val="visible"/>
                                      </p:to>
                                    </p:set>
                                    <p:animEffect transition="in" filter="fade">
                                      <p:cBhvr>
                                        <p:cTn id="71" dur="500"/>
                                        <p:tgtEl>
                                          <p:spTgt spid="69"/>
                                        </p:tgtEl>
                                      </p:cBhvr>
                                    </p:animEffect>
                                  </p:childTnLst>
                                </p:cTn>
                              </p:par>
                            </p:childTnLst>
                          </p:cTn>
                        </p:par>
                        <p:par>
                          <p:cTn id="72" fill="hold">
                            <p:stCondLst>
                              <p:cond delay="1000"/>
                            </p:stCondLst>
                            <p:childTnLst>
                              <p:par>
                                <p:cTn id="73" presetID="22" presetClass="entr" presetSubtype="4" fill="hold" grpId="0" nodeType="afterEffect">
                                  <p:stCondLst>
                                    <p:cond delay="0"/>
                                  </p:stCondLst>
                                  <p:childTnLst>
                                    <p:set>
                                      <p:cBhvr>
                                        <p:cTn id="74" dur="1" fill="hold">
                                          <p:stCondLst>
                                            <p:cond delay="0"/>
                                          </p:stCondLst>
                                        </p:cTn>
                                        <p:tgtEl>
                                          <p:spTgt spid="50"/>
                                        </p:tgtEl>
                                        <p:attrNameLst>
                                          <p:attrName>style.visibility</p:attrName>
                                        </p:attrNameLst>
                                      </p:cBhvr>
                                      <p:to>
                                        <p:strVal val="visible"/>
                                      </p:to>
                                    </p:set>
                                    <p:animEffect transition="in" filter="wipe(down)">
                                      <p:cBhvr>
                                        <p:cTn id="75" dur="500"/>
                                        <p:tgtEl>
                                          <p:spTgt spid="50"/>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xit" presetSubtype="4" fill="hold" grpId="1" nodeType="clickEffect">
                                  <p:stCondLst>
                                    <p:cond delay="0"/>
                                  </p:stCondLst>
                                  <p:childTnLst>
                                    <p:animEffect transition="out" filter="wipe(down)">
                                      <p:cBhvr>
                                        <p:cTn id="79" dur="500"/>
                                        <p:tgtEl>
                                          <p:spTgt spid="50"/>
                                        </p:tgtEl>
                                      </p:cBhvr>
                                    </p:animEffect>
                                    <p:set>
                                      <p:cBhvr>
                                        <p:cTn id="80" dur="1" fill="hold">
                                          <p:stCondLst>
                                            <p:cond delay="499"/>
                                          </p:stCondLst>
                                        </p:cTn>
                                        <p:tgtEl>
                                          <p:spTgt spid="50"/>
                                        </p:tgtEl>
                                        <p:attrNameLst>
                                          <p:attrName>style.visibility</p:attrName>
                                        </p:attrNameLst>
                                      </p:cBhvr>
                                      <p:to>
                                        <p:strVal val="hidden"/>
                                      </p:to>
                                    </p:set>
                                  </p:childTnLst>
                                </p:cTn>
                              </p:par>
                              <p:par>
                                <p:cTn id="81" presetID="20" presetClass="exit" presetSubtype="0" fill="hold" nodeType="withEffect">
                                  <p:stCondLst>
                                    <p:cond delay="0"/>
                                  </p:stCondLst>
                                  <p:childTnLst>
                                    <p:animEffect transition="out" filter="wedge">
                                      <p:cBhvr>
                                        <p:cTn id="82" dur="500"/>
                                        <p:tgtEl>
                                          <p:spTgt spid="49"/>
                                        </p:tgtEl>
                                      </p:cBhvr>
                                    </p:animEffect>
                                    <p:set>
                                      <p:cBhvr>
                                        <p:cTn id="83" dur="1" fill="hold">
                                          <p:stCondLst>
                                            <p:cond delay="499"/>
                                          </p:stCondLst>
                                        </p:cTn>
                                        <p:tgtEl>
                                          <p:spTgt spid="49"/>
                                        </p:tgtEl>
                                        <p:attrNameLst>
                                          <p:attrName>style.visibility</p:attrName>
                                        </p:attrNameLst>
                                      </p:cBhvr>
                                      <p:to>
                                        <p:strVal val="hidden"/>
                                      </p:to>
                                    </p:set>
                                  </p:childTnLst>
                                </p:cTn>
                              </p:par>
                            </p:childTnLst>
                          </p:cTn>
                        </p:par>
                        <p:par>
                          <p:cTn id="84" fill="hold">
                            <p:stCondLst>
                              <p:cond delay="500"/>
                            </p:stCondLst>
                            <p:childTnLst>
                              <p:par>
                                <p:cTn id="85" presetID="22" presetClass="exit" presetSubtype="4" fill="hold" grpId="1" nodeType="afterEffect">
                                  <p:stCondLst>
                                    <p:cond delay="0"/>
                                  </p:stCondLst>
                                  <p:childTnLst>
                                    <p:animEffect transition="out" filter="wipe(down)">
                                      <p:cBhvr>
                                        <p:cTn id="86" dur="500"/>
                                        <p:tgtEl>
                                          <p:spTgt spid="44"/>
                                        </p:tgtEl>
                                      </p:cBhvr>
                                    </p:animEffect>
                                    <p:set>
                                      <p:cBhvr>
                                        <p:cTn id="87" dur="1" fill="hold">
                                          <p:stCondLst>
                                            <p:cond delay="499"/>
                                          </p:stCondLst>
                                        </p:cTn>
                                        <p:tgtEl>
                                          <p:spTgt spid="44"/>
                                        </p:tgtEl>
                                        <p:attrNameLst>
                                          <p:attrName>style.visibility</p:attrName>
                                        </p:attrNameLst>
                                      </p:cBhvr>
                                      <p:to>
                                        <p:strVal val="hidden"/>
                                      </p:to>
                                    </p:set>
                                  </p:childTnLst>
                                </p:cTn>
                              </p:par>
                              <p:par>
                                <p:cTn id="88" presetID="20" presetClass="exit" presetSubtype="0" fill="hold" nodeType="withEffect">
                                  <p:stCondLst>
                                    <p:cond delay="0"/>
                                  </p:stCondLst>
                                  <p:childTnLst>
                                    <p:animEffect transition="out" filter="wedge">
                                      <p:cBhvr>
                                        <p:cTn id="89" dur="500"/>
                                        <p:tgtEl>
                                          <p:spTgt spid="36"/>
                                        </p:tgtEl>
                                      </p:cBhvr>
                                    </p:animEffect>
                                    <p:set>
                                      <p:cBhvr>
                                        <p:cTn id="90" dur="1" fill="hold">
                                          <p:stCondLst>
                                            <p:cond delay="499"/>
                                          </p:stCondLst>
                                        </p:cTn>
                                        <p:tgtEl>
                                          <p:spTgt spid="36"/>
                                        </p:tgtEl>
                                        <p:attrNameLst>
                                          <p:attrName>style.visibility</p:attrName>
                                        </p:attrNameLst>
                                      </p:cBhvr>
                                      <p:to>
                                        <p:strVal val="hidden"/>
                                      </p:to>
                                    </p:set>
                                  </p:childTnLst>
                                </p:cTn>
                              </p:par>
                            </p:childTnLst>
                          </p:cTn>
                        </p:par>
                        <p:par>
                          <p:cTn id="91" fill="hold">
                            <p:stCondLst>
                              <p:cond delay="1000"/>
                            </p:stCondLst>
                            <p:childTnLst>
                              <p:par>
                                <p:cTn id="92" presetID="22" presetClass="exit" presetSubtype="4" fill="hold" grpId="1" nodeType="afterEffect">
                                  <p:stCondLst>
                                    <p:cond delay="0"/>
                                  </p:stCondLst>
                                  <p:childTnLst>
                                    <p:animEffect transition="out" filter="wipe(down)">
                                      <p:cBhvr>
                                        <p:cTn id="93" dur="500"/>
                                        <p:tgtEl>
                                          <p:spTgt spid="31"/>
                                        </p:tgtEl>
                                      </p:cBhvr>
                                    </p:animEffect>
                                    <p:set>
                                      <p:cBhvr>
                                        <p:cTn id="94" dur="1" fill="hold">
                                          <p:stCondLst>
                                            <p:cond delay="499"/>
                                          </p:stCondLst>
                                        </p:cTn>
                                        <p:tgtEl>
                                          <p:spTgt spid="31"/>
                                        </p:tgtEl>
                                        <p:attrNameLst>
                                          <p:attrName>style.visibility</p:attrName>
                                        </p:attrNameLst>
                                      </p:cBhvr>
                                      <p:to>
                                        <p:strVal val="hidden"/>
                                      </p:to>
                                    </p:set>
                                  </p:childTnLst>
                                </p:cTn>
                              </p:par>
                              <p:par>
                                <p:cTn id="95" presetID="20" presetClass="exit" presetSubtype="0" fill="hold" nodeType="withEffect">
                                  <p:stCondLst>
                                    <p:cond delay="0"/>
                                  </p:stCondLst>
                                  <p:childTnLst>
                                    <p:animEffect transition="out" filter="wedge">
                                      <p:cBhvr>
                                        <p:cTn id="96" dur="500"/>
                                        <p:tgtEl>
                                          <p:spTgt spid="27"/>
                                        </p:tgtEl>
                                      </p:cBhvr>
                                    </p:animEffect>
                                    <p:set>
                                      <p:cBhvr>
                                        <p:cTn id="97" dur="1" fill="hold">
                                          <p:stCondLst>
                                            <p:cond delay="499"/>
                                          </p:stCondLst>
                                        </p:cTn>
                                        <p:tgtEl>
                                          <p:spTgt spid="27"/>
                                        </p:tgtEl>
                                        <p:attrNameLst>
                                          <p:attrName>style.visibility</p:attrName>
                                        </p:attrNameLst>
                                      </p:cBhvr>
                                      <p:to>
                                        <p:strVal val="hidden"/>
                                      </p:to>
                                    </p:set>
                                  </p:childTnLst>
                                </p:cTn>
                              </p:par>
                            </p:childTnLst>
                          </p:cTn>
                        </p:par>
                        <p:par>
                          <p:cTn id="98" fill="hold">
                            <p:stCondLst>
                              <p:cond delay="1500"/>
                            </p:stCondLst>
                            <p:childTnLst>
                              <p:par>
                                <p:cTn id="99" presetID="22" presetClass="exit" presetSubtype="4" fill="hold" grpId="1" nodeType="afterEffect">
                                  <p:stCondLst>
                                    <p:cond delay="0"/>
                                  </p:stCondLst>
                                  <p:childTnLst>
                                    <p:animEffect transition="out" filter="wipe(down)">
                                      <p:cBhvr>
                                        <p:cTn id="100" dur="500"/>
                                        <p:tgtEl>
                                          <p:spTgt spid="23"/>
                                        </p:tgtEl>
                                      </p:cBhvr>
                                    </p:animEffect>
                                    <p:set>
                                      <p:cBhvr>
                                        <p:cTn id="101" dur="1" fill="hold">
                                          <p:stCondLst>
                                            <p:cond delay="499"/>
                                          </p:stCondLst>
                                        </p:cTn>
                                        <p:tgtEl>
                                          <p:spTgt spid="23"/>
                                        </p:tgtEl>
                                        <p:attrNameLst>
                                          <p:attrName>style.visibility</p:attrName>
                                        </p:attrNameLst>
                                      </p:cBhvr>
                                      <p:to>
                                        <p:strVal val="hidden"/>
                                      </p:to>
                                    </p:set>
                                  </p:childTnLst>
                                </p:cTn>
                              </p:par>
                              <p:par>
                                <p:cTn id="102" presetID="20" presetClass="exit" presetSubtype="0" fill="hold" nodeType="withEffect">
                                  <p:stCondLst>
                                    <p:cond delay="0"/>
                                  </p:stCondLst>
                                  <p:childTnLst>
                                    <p:animEffect transition="out" filter="wedge">
                                      <p:cBhvr>
                                        <p:cTn id="103" dur="500"/>
                                        <p:tgtEl>
                                          <p:spTgt spid="19"/>
                                        </p:tgtEl>
                                      </p:cBhvr>
                                    </p:animEffect>
                                    <p:set>
                                      <p:cBhvr>
                                        <p:cTn id="104" dur="1" fill="hold">
                                          <p:stCondLst>
                                            <p:cond delay="499"/>
                                          </p:stCondLst>
                                        </p:cTn>
                                        <p:tgtEl>
                                          <p:spTgt spid="19"/>
                                        </p:tgtEl>
                                        <p:attrNameLst>
                                          <p:attrName>style.visibility</p:attrName>
                                        </p:attrNameLst>
                                      </p:cBhvr>
                                      <p:to>
                                        <p:strVal val="hidden"/>
                                      </p:to>
                                    </p:set>
                                  </p:childTnLst>
                                </p:cTn>
                              </p:par>
                            </p:childTnLst>
                          </p:cTn>
                        </p:par>
                        <p:par>
                          <p:cTn id="105" fill="hold">
                            <p:stCondLst>
                              <p:cond delay="2000"/>
                            </p:stCondLst>
                            <p:childTnLst>
                              <p:par>
                                <p:cTn id="106" presetID="22" presetClass="exit" presetSubtype="4" fill="hold" grpId="1" nodeType="afterEffect">
                                  <p:stCondLst>
                                    <p:cond delay="0"/>
                                  </p:stCondLst>
                                  <p:childTnLst>
                                    <p:animEffect transition="out" filter="wipe(down)">
                                      <p:cBhvr>
                                        <p:cTn id="107" dur="500"/>
                                        <p:tgtEl>
                                          <p:spTgt spid="74"/>
                                        </p:tgtEl>
                                      </p:cBhvr>
                                    </p:animEffect>
                                    <p:set>
                                      <p:cBhvr>
                                        <p:cTn id="108" dur="1" fill="hold">
                                          <p:stCondLst>
                                            <p:cond delay="499"/>
                                          </p:stCondLst>
                                        </p:cTn>
                                        <p:tgtEl>
                                          <p:spTgt spid="74"/>
                                        </p:tgtEl>
                                        <p:attrNameLst>
                                          <p:attrName>style.visibility</p:attrName>
                                        </p:attrNameLst>
                                      </p:cBhvr>
                                      <p:to>
                                        <p:strVal val="hidden"/>
                                      </p:to>
                                    </p:set>
                                  </p:childTnLst>
                                </p:cTn>
                              </p:par>
                              <p:par>
                                <p:cTn id="109" presetID="20" presetClass="exit" presetSubtype="0" fill="hold" nodeType="withEffect">
                                  <p:stCondLst>
                                    <p:cond delay="0"/>
                                  </p:stCondLst>
                                  <p:childTnLst>
                                    <p:animEffect transition="out" filter="wedge">
                                      <p:cBhvr>
                                        <p:cTn id="110" dur="500"/>
                                        <p:tgtEl>
                                          <p:spTgt spid="11"/>
                                        </p:tgtEl>
                                      </p:cBhvr>
                                    </p:animEffect>
                                    <p:set>
                                      <p:cBhvr>
                                        <p:cTn id="111" dur="1" fill="hold">
                                          <p:stCondLst>
                                            <p:cond delay="499"/>
                                          </p:stCondLst>
                                        </p:cTn>
                                        <p:tgtEl>
                                          <p:spTgt spid="11"/>
                                        </p:tgtEl>
                                        <p:attrNameLst>
                                          <p:attrName>style.visibility</p:attrName>
                                        </p:attrNameLst>
                                      </p:cBhvr>
                                      <p:to>
                                        <p:strVal val="hidden"/>
                                      </p:to>
                                    </p:set>
                                  </p:childTnLst>
                                </p:cTn>
                              </p:par>
                            </p:childTnLst>
                          </p:cTn>
                        </p:par>
                        <p:par>
                          <p:cTn id="112" fill="hold">
                            <p:stCondLst>
                              <p:cond delay="2500"/>
                            </p:stCondLst>
                            <p:childTnLst>
                              <p:par>
                                <p:cTn id="113" presetID="20" presetClass="exit" presetSubtype="0" fill="hold" nodeType="afterEffect">
                                  <p:stCondLst>
                                    <p:cond delay="0"/>
                                  </p:stCondLst>
                                  <p:childTnLst>
                                    <p:animEffect transition="out" filter="wedge">
                                      <p:cBhvr>
                                        <p:cTn id="114" dur="500"/>
                                        <p:tgtEl>
                                          <p:spTgt spid="8"/>
                                        </p:tgtEl>
                                      </p:cBhvr>
                                    </p:animEffect>
                                    <p:set>
                                      <p:cBhvr>
                                        <p:cTn id="115" dur="1" fill="hold">
                                          <p:stCondLst>
                                            <p:cond delay="499"/>
                                          </p:stCondLst>
                                        </p:cTn>
                                        <p:tgtEl>
                                          <p:spTgt spid="8"/>
                                        </p:tgtEl>
                                        <p:attrNameLst>
                                          <p:attrName>style.visibility</p:attrName>
                                        </p:attrNameLst>
                                      </p:cBhvr>
                                      <p:to>
                                        <p:strVal val="hidden"/>
                                      </p:to>
                                    </p:set>
                                  </p:childTnLst>
                                </p:cTn>
                              </p:par>
                              <p:par>
                                <p:cTn id="116" presetID="20" presetClass="exit" presetSubtype="0" fill="hold" grpId="1" nodeType="withEffect">
                                  <p:stCondLst>
                                    <p:cond delay="0"/>
                                  </p:stCondLst>
                                  <p:childTnLst>
                                    <p:animEffect transition="out" filter="wedge">
                                      <p:cBhvr>
                                        <p:cTn id="117" dur="500"/>
                                        <p:tgtEl>
                                          <p:spTgt spid="69"/>
                                        </p:tgtEl>
                                      </p:cBhvr>
                                    </p:animEffect>
                                    <p:set>
                                      <p:cBhvr>
                                        <p:cTn id="118" dur="1" fill="hold">
                                          <p:stCondLst>
                                            <p:cond delay="499"/>
                                          </p:stCondLst>
                                        </p:cTn>
                                        <p:tgtEl>
                                          <p:spTgt spid="69"/>
                                        </p:tgtEl>
                                        <p:attrNameLst>
                                          <p:attrName>style.visibility</p:attrName>
                                        </p:attrNameLst>
                                      </p:cBhvr>
                                      <p:to>
                                        <p:strVal val="hidden"/>
                                      </p:to>
                                    </p:set>
                                  </p:childTnLst>
                                </p:cTn>
                              </p:par>
                              <p:par>
                                <p:cTn id="119" presetID="10" presetClass="exit" presetSubtype="0" fill="hold" grpId="2" nodeType="withEffect">
                                  <p:stCondLst>
                                    <p:cond delay="0"/>
                                  </p:stCondLst>
                                  <p:childTnLst>
                                    <p:animEffect transition="out" filter="fade">
                                      <p:cBhvr>
                                        <p:cTn id="120" dur="500"/>
                                        <p:tgtEl>
                                          <p:spTgt spid="69"/>
                                        </p:tgtEl>
                                      </p:cBhvr>
                                    </p:animEffect>
                                    <p:set>
                                      <p:cBhvr>
                                        <p:cTn id="121" dur="1" fill="hold">
                                          <p:stCondLst>
                                            <p:cond delay="499"/>
                                          </p:stCondLst>
                                        </p:cTn>
                                        <p:tgtEl>
                                          <p:spTgt spid="69"/>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53"/>
                                        </p:tgtEl>
                                      </p:cBhvr>
                                    </p:animEffect>
                                    <p:set>
                                      <p:cBhvr>
                                        <p:cTn id="124" dur="1" fill="hold">
                                          <p:stCondLst>
                                            <p:cond delay="499"/>
                                          </p:stCondLst>
                                        </p:cTn>
                                        <p:tgtEl>
                                          <p:spTgt spid="53"/>
                                        </p:tgtEl>
                                        <p:attrNameLst>
                                          <p:attrName>style.visibility</p:attrName>
                                        </p:attrNameLst>
                                      </p:cBhvr>
                                      <p:to>
                                        <p:strVal val="hidden"/>
                                      </p:to>
                                    </p:set>
                                  </p:childTnLst>
                                </p:cTn>
                              </p:par>
                              <p:par>
                                <p:cTn id="125" presetID="10" presetClass="exit" presetSubtype="0" fill="hold" grpId="1" nodeType="withEffect">
                                  <p:stCondLst>
                                    <p:cond delay="0"/>
                                  </p:stCondLst>
                                  <p:childTnLst>
                                    <p:animEffect transition="out" filter="fade">
                                      <p:cBhvr>
                                        <p:cTn id="126" dur="500"/>
                                        <p:tgtEl>
                                          <p:spTgt spid="52"/>
                                        </p:tgtEl>
                                      </p:cBhvr>
                                    </p:animEffect>
                                    <p:set>
                                      <p:cBhvr>
                                        <p:cTn id="127" dur="1" fill="hold">
                                          <p:stCondLst>
                                            <p:cond delay="499"/>
                                          </p:stCondLst>
                                        </p:cTn>
                                        <p:tgtEl>
                                          <p:spTgt spid="52"/>
                                        </p:tgtEl>
                                        <p:attrNameLst>
                                          <p:attrName>style.visibility</p:attrName>
                                        </p:attrNameLst>
                                      </p:cBhvr>
                                      <p:to>
                                        <p:strVal val="hidden"/>
                                      </p:to>
                                    </p:set>
                                  </p:childTnLst>
                                </p:cTn>
                              </p:par>
                              <p:par>
                                <p:cTn id="128" presetID="10" presetClass="exit" presetSubtype="0" fill="hold" grpId="1" nodeType="withEffect">
                                  <p:stCondLst>
                                    <p:cond delay="0"/>
                                  </p:stCondLst>
                                  <p:childTnLst>
                                    <p:animEffect transition="out" filter="fade">
                                      <p:cBhvr>
                                        <p:cTn id="129" dur="500"/>
                                        <p:tgtEl>
                                          <p:spTgt spid="51"/>
                                        </p:tgtEl>
                                      </p:cBhvr>
                                    </p:animEffect>
                                    <p:set>
                                      <p:cBhvr>
                                        <p:cTn id="130" dur="1" fill="hold">
                                          <p:stCondLst>
                                            <p:cond delay="499"/>
                                          </p:stCondLst>
                                        </p:cTn>
                                        <p:tgtEl>
                                          <p:spTgt spid="51"/>
                                        </p:tgtEl>
                                        <p:attrNameLst>
                                          <p:attrName>style.visibility</p:attrName>
                                        </p:attrNameLst>
                                      </p:cBhvr>
                                      <p:to>
                                        <p:strVal val="hidden"/>
                                      </p:to>
                                    </p:set>
                                  </p:childTnLst>
                                </p:cTn>
                              </p:par>
                              <p:par>
                                <p:cTn id="131" presetID="10" presetClass="exit" presetSubtype="0" fill="hold" grpId="1"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20" presetClass="exit" presetSubtype="0" fill="hold" grpId="1" nodeType="withEffect">
                                  <p:stCondLst>
                                    <p:cond delay="0"/>
                                  </p:stCondLst>
                                  <p:childTnLst>
                                    <p:animEffect transition="out" filter="wedge">
                                      <p:cBhvr>
                                        <p:cTn id="135" dur="500"/>
                                        <p:tgtEl>
                                          <p:spTgt spid="2"/>
                                        </p:tgtEl>
                                      </p:cBhvr>
                                    </p:animEffect>
                                    <p:set>
                                      <p:cBhvr>
                                        <p:cTn id="136" dur="1" fill="hold">
                                          <p:stCondLst>
                                            <p:cond delay="499"/>
                                          </p:stCondLst>
                                        </p:cTn>
                                        <p:tgtEl>
                                          <p:spTgt spid="2"/>
                                        </p:tgtEl>
                                        <p:attrNameLst>
                                          <p:attrName>style.visibility</p:attrName>
                                        </p:attrNameLst>
                                      </p:cBhvr>
                                      <p:to>
                                        <p:strVal val="hidden"/>
                                      </p:to>
                                    </p:set>
                                  </p:childTnLst>
                                </p:cTn>
                              </p:par>
                              <p:par>
                                <p:cTn id="137" presetID="2" presetClass="exit" presetSubtype="8" fill="hold" grpId="1" nodeType="withEffect">
                                  <p:stCondLst>
                                    <p:cond delay="0"/>
                                  </p:stCondLst>
                                  <p:childTnLst>
                                    <p:anim calcmode="lin" valueType="num">
                                      <p:cBhvr additive="base">
                                        <p:cTn id="138" dur="500"/>
                                        <p:tgtEl>
                                          <p:spTgt spid="6"/>
                                        </p:tgtEl>
                                        <p:attrNameLst>
                                          <p:attrName>ppt_x</p:attrName>
                                        </p:attrNameLst>
                                      </p:cBhvr>
                                      <p:tavLst>
                                        <p:tav tm="0">
                                          <p:val>
                                            <p:strVal val="ppt_x"/>
                                          </p:val>
                                        </p:tav>
                                        <p:tav tm="100000">
                                          <p:val>
                                            <p:strVal val="0-ppt_w/2"/>
                                          </p:val>
                                        </p:tav>
                                      </p:tavLst>
                                    </p:anim>
                                    <p:anim calcmode="lin" valueType="num">
                                      <p:cBhvr additive="base">
                                        <p:cTn id="139" dur="500"/>
                                        <p:tgtEl>
                                          <p:spTgt spid="6"/>
                                        </p:tgtEl>
                                        <p:attrNameLst>
                                          <p:attrName>ppt_y</p:attrName>
                                        </p:attrNameLst>
                                      </p:cBhvr>
                                      <p:tavLst>
                                        <p:tav tm="0">
                                          <p:val>
                                            <p:strVal val="ppt_y"/>
                                          </p:val>
                                        </p:tav>
                                        <p:tav tm="100000">
                                          <p:val>
                                            <p:strVal val="ppt_y"/>
                                          </p:val>
                                        </p:tav>
                                      </p:tavLst>
                                    </p:anim>
                                    <p:set>
                                      <p:cBhvr>
                                        <p:cTn id="140"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74" grpId="0"/>
      <p:bldP spid="74" grpId="1"/>
      <p:bldP spid="2" grpId="0" animBg="1"/>
      <p:bldP spid="2" grpId="1" animBg="1"/>
      <p:bldP spid="3" grpId="0" animBg="1"/>
      <p:bldP spid="3" grpId="1" animBg="1"/>
      <p:bldP spid="23" grpId="0"/>
      <p:bldP spid="23" grpId="1"/>
      <p:bldP spid="31" grpId="0"/>
      <p:bldP spid="31" grpId="1"/>
      <p:bldP spid="44" grpId="0"/>
      <p:bldP spid="44" grpId="1"/>
      <p:bldP spid="50" grpId="0"/>
      <p:bldP spid="50" grpId="1"/>
      <p:bldP spid="51" grpId="0" animBg="1"/>
      <p:bldP spid="51" grpId="1" animBg="1"/>
      <p:bldP spid="52" grpId="0" animBg="1"/>
      <p:bldP spid="52" grpId="1" animBg="1"/>
      <p:bldP spid="53" grpId="0" animBg="1"/>
      <p:bldP spid="53" grpId="1" animBg="1"/>
      <p:bldP spid="69" grpId="0" animBg="1"/>
      <p:bldP spid="69" grpId="1" animBg="1"/>
      <p:bldP spid="69" grpId="2"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E2A21-7EC0-7DC3-BDAD-A452223D060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C22B515-B8AC-7839-DCBD-90736A813C07}"/>
              </a:ext>
            </a:extLst>
          </p:cNvPr>
          <p:cNvSpPr txBox="1"/>
          <p:nvPr/>
        </p:nvSpPr>
        <p:spPr>
          <a:xfrm>
            <a:off x="177631" y="590239"/>
            <a:ext cx="5572240"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What is Cloud Computing?</a:t>
            </a:r>
            <a:endParaRPr lang="en-ID" sz="2400" dirty="0">
              <a:solidFill>
                <a:schemeClr val="bg1"/>
              </a:solidFill>
              <a:latin typeface="Arial Black" panose="020B0A04020102020204" pitchFamily="34" charset="0"/>
            </a:endParaRPr>
          </a:p>
        </p:txBody>
      </p:sp>
      <p:sp>
        <p:nvSpPr>
          <p:cNvPr id="55" name="TextBox 54">
            <a:extLst>
              <a:ext uri="{FF2B5EF4-FFF2-40B4-BE49-F238E27FC236}">
                <a16:creationId xmlns:a16="http://schemas.microsoft.com/office/drawing/2014/main" id="{BA2449E8-5F07-5C4E-CF0E-99B7C7315F69}"/>
              </a:ext>
            </a:extLst>
          </p:cNvPr>
          <p:cNvSpPr txBox="1"/>
          <p:nvPr/>
        </p:nvSpPr>
        <p:spPr>
          <a:xfrm>
            <a:off x="408122" y="4762169"/>
            <a:ext cx="11375756" cy="1569660"/>
          </a:xfrm>
          <a:prstGeom prst="rect">
            <a:avLst/>
          </a:prstGeom>
          <a:noFill/>
        </p:spPr>
        <p:txBody>
          <a:bodyPr wrap="square" rtlCol="0">
            <a:spAutoFit/>
          </a:bodyPr>
          <a:lstStyle/>
          <a:p>
            <a:r>
              <a:rPr lang="en-US" sz="2400" b="0" i="0" dirty="0">
                <a:solidFill>
                  <a:srgbClr val="FFFFFF"/>
                </a:solidFill>
                <a:effectLst/>
                <a:latin typeface="AmazonEmberLight"/>
              </a:rPr>
              <a:t>Cloud computing is the on-demand delivery of IT resources over the Internet with pay-as-you-go pricing. Instead of buying, owning, and maintaining physical data centers and servers, you can access technology services, such as computing power, storage, and databases, on an as-needed basis from a cloud service provider.</a:t>
            </a:r>
            <a:endParaRPr lang="en-EG" sz="2400" dirty="0"/>
          </a:p>
        </p:txBody>
      </p:sp>
      <p:sp>
        <p:nvSpPr>
          <p:cNvPr id="56" name="TextBox 55">
            <a:extLst>
              <a:ext uri="{FF2B5EF4-FFF2-40B4-BE49-F238E27FC236}">
                <a16:creationId xmlns:a16="http://schemas.microsoft.com/office/drawing/2014/main" id="{4A1F83DB-47FA-9D91-A595-3C72A5999784}"/>
              </a:ext>
            </a:extLst>
          </p:cNvPr>
          <p:cNvSpPr txBox="1"/>
          <p:nvPr/>
        </p:nvSpPr>
        <p:spPr>
          <a:xfrm>
            <a:off x="408122" y="1194577"/>
            <a:ext cx="11375756" cy="523220"/>
          </a:xfrm>
          <a:prstGeom prst="rect">
            <a:avLst/>
          </a:prstGeom>
          <a:noFill/>
        </p:spPr>
        <p:txBody>
          <a:bodyPr wrap="square" rtlCol="0">
            <a:spAutoFit/>
          </a:bodyPr>
          <a:lstStyle/>
          <a:p>
            <a:r>
              <a:rPr lang="en-US" sz="2800" b="0" i="0" dirty="0">
                <a:solidFill>
                  <a:srgbClr val="FFFFFF"/>
                </a:solidFill>
                <a:effectLst/>
                <a:latin typeface="AmazonEmberLight"/>
              </a:rPr>
              <a:t>On-premise Vs Cloud</a:t>
            </a:r>
            <a:endParaRPr lang="en-US" sz="2800" dirty="0">
              <a:solidFill>
                <a:srgbClr val="FFFFFF"/>
              </a:solidFill>
              <a:latin typeface="AmazonEmberLight"/>
            </a:endParaRPr>
          </a:p>
        </p:txBody>
      </p:sp>
      <p:sp>
        <p:nvSpPr>
          <p:cNvPr id="58" name="TextBox 57">
            <a:extLst>
              <a:ext uri="{FF2B5EF4-FFF2-40B4-BE49-F238E27FC236}">
                <a16:creationId xmlns:a16="http://schemas.microsoft.com/office/drawing/2014/main" id="{5E865D62-D292-464C-B974-8365116291F9}"/>
              </a:ext>
            </a:extLst>
          </p:cNvPr>
          <p:cNvSpPr txBox="1"/>
          <p:nvPr/>
        </p:nvSpPr>
        <p:spPr>
          <a:xfrm>
            <a:off x="644576" y="1902453"/>
            <a:ext cx="2338467" cy="461665"/>
          </a:xfrm>
          <a:prstGeom prst="rect">
            <a:avLst/>
          </a:prstGeom>
          <a:noFill/>
        </p:spPr>
        <p:txBody>
          <a:bodyPr wrap="square">
            <a:spAutoFit/>
          </a:bodyPr>
          <a:lstStyle/>
          <a:p>
            <a:pPr marL="457200" indent="-457200">
              <a:buFont typeface="Arial" panose="020B0604020202020204" pitchFamily="34" charset="0"/>
              <a:buChar char="•"/>
            </a:pPr>
            <a:r>
              <a:rPr lang="en-US" sz="2400" dirty="0">
                <a:solidFill>
                  <a:srgbClr val="FFFFFF"/>
                </a:solidFill>
                <a:latin typeface="AmazonEmberLight"/>
              </a:rPr>
              <a:t>location</a:t>
            </a:r>
          </a:p>
        </p:txBody>
      </p:sp>
      <p:sp>
        <p:nvSpPr>
          <p:cNvPr id="61" name="TextBox 60">
            <a:extLst>
              <a:ext uri="{FF2B5EF4-FFF2-40B4-BE49-F238E27FC236}">
                <a16:creationId xmlns:a16="http://schemas.microsoft.com/office/drawing/2014/main" id="{75174C74-5D09-A006-BCCC-6BD252915304}"/>
              </a:ext>
            </a:extLst>
          </p:cNvPr>
          <p:cNvSpPr txBox="1"/>
          <p:nvPr/>
        </p:nvSpPr>
        <p:spPr>
          <a:xfrm>
            <a:off x="644576" y="2345132"/>
            <a:ext cx="2068644" cy="461665"/>
          </a:xfrm>
          <a:prstGeom prst="rect">
            <a:avLst/>
          </a:prstGeom>
          <a:noFill/>
        </p:spPr>
        <p:txBody>
          <a:bodyPr wrap="square">
            <a:spAutoFit/>
          </a:bodyPr>
          <a:lstStyle/>
          <a:p>
            <a:pPr marL="457200" indent="-457200">
              <a:buFont typeface="Arial" panose="020B0604020202020204" pitchFamily="34" charset="0"/>
              <a:buChar char="•"/>
            </a:pPr>
            <a:r>
              <a:rPr lang="en-US" sz="2400" dirty="0">
                <a:solidFill>
                  <a:srgbClr val="FFFFFF"/>
                </a:solidFill>
                <a:latin typeface="AmazonEmberLight"/>
              </a:rPr>
              <a:t>Control</a:t>
            </a:r>
          </a:p>
        </p:txBody>
      </p:sp>
      <p:sp>
        <p:nvSpPr>
          <p:cNvPr id="63" name="TextBox 62">
            <a:extLst>
              <a:ext uri="{FF2B5EF4-FFF2-40B4-BE49-F238E27FC236}">
                <a16:creationId xmlns:a16="http://schemas.microsoft.com/office/drawing/2014/main" id="{BAE4FCED-6718-9C37-4C13-6F74781975B3}"/>
              </a:ext>
            </a:extLst>
          </p:cNvPr>
          <p:cNvSpPr txBox="1"/>
          <p:nvPr/>
        </p:nvSpPr>
        <p:spPr>
          <a:xfrm>
            <a:off x="644576" y="2787811"/>
            <a:ext cx="2338467" cy="461665"/>
          </a:xfrm>
          <a:prstGeom prst="rect">
            <a:avLst/>
          </a:prstGeom>
          <a:noFill/>
        </p:spPr>
        <p:txBody>
          <a:bodyPr wrap="square">
            <a:spAutoFit/>
          </a:bodyPr>
          <a:lstStyle/>
          <a:p>
            <a:pPr marL="457200" indent="-457200">
              <a:buFont typeface="Arial" panose="020B0604020202020204" pitchFamily="34" charset="0"/>
              <a:buChar char="•"/>
            </a:pPr>
            <a:r>
              <a:rPr lang="en-EG" sz="2400" dirty="0">
                <a:solidFill>
                  <a:srgbClr val="FFFFFF"/>
                </a:solidFill>
                <a:latin typeface="AmazonEmberLight"/>
              </a:rPr>
              <a:t>Security</a:t>
            </a:r>
          </a:p>
        </p:txBody>
      </p:sp>
      <p:sp>
        <p:nvSpPr>
          <p:cNvPr id="66" name="TextBox 65">
            <a:extLst>
              <a:ext uri="{FF2B5EF4-FFF2-40B4-BE49-F238E27FC236}">
                <a16:creationId xmlns:a16="http://schemas.microsoft.com/office/drawing/2014/main" id="{2CBBDEAA-7850-AC51-02E6-B04111616683}"/>
              </a:ext>
            </a:extLst>
          </p:cNvPr>
          <p:cNvSpPr txBox="1"/>
          <p:nvPr/>
        </p:nvSpPr>
        <p:spPr>
          <a:xfrm>
            <a:off x="644576" y="3230490"/>
            <a:ext cx="2608290" cy="461665"/>
          </a:xfrm>
          <a:prstGeom prst="rect">
            <a:avLst/>
          </a:prstGeom>
          <a:noFill/>
        </p:spPr>
        <p:txBody>
          <a:bodyPr wrap="square">
            <a:spAutoFit/>
          </a:bodyPr>
          <a:lstStyle/>
          <a:p>
            <a:pPr marL="457200" indent="-457200">
              <a:buFont typeface="Arial" panose="020B0604020202020204" pitchFamily="34" charset="0"/>
              <a:buChar char="•"/>
            </a:pPr>
            <a:r>
              <a:rPr lang="en-EG" sz="2400" dirty="0">
                <a:solidFill>
                  <a:srgbClr val="FFFFFF"/>
                </a:solidFill>
                <a:latin typeface="AmazonEmberLight"/>
              </a:rPr>
              <a:t>Compliance</a:t>
            </a:r>
            <a:endParaRPr lang="en-US" sz="1800" dirty="0">
              <a:solidFill>
                <a:srgbClr val="FFFFFF"/>
              </a:solidFill>
              <a:latin typeface="AmazonEmberLight"/>
            </a:endParaRPr>
          </a:p>
        </p:txBody>
      </p:sp>
      <p:sp>
        <p:nvSpPr>
          <p:cNvPr id="67" name="TextBox 66">
            <a:extLst>
              <a:ext uri="{FF2B5EF4-FFF2-40B4-BE49-F238E27FC236}">
                <a16:creationId xmlns:a16="http://schemas.microsoft.com/office/drawing/2014/main" id="{832C9E25-4007-C39D-5424-21FBB6F39DE9}"/>
              </a:ext>
            </a:extLst>
          </p:cNvPr>
          <p:cNvSpPr txBox="1"/>
          <p:nvPr/>
        </p:nvSpPr>
        <p:spPr>
          <a:xfrm>
            <a:off x="644576" y="3673169"/>
            <a:ext cx="3552670" cy="461665"/>
          </a:xfrm>
          <a:prstGeom prst="rect">
            <a:avLst/>
          </a:prstGeom>
          <a:noFill/>
        </p:spPr>
        <p:txBody>
          <a:bodyPr wrap="square">
            <a:spAutoFit/>
          </a:bodyPr>
          <a:lstStyle/>
          <a:p>
            <a:pPr marL="457200" indent="-457200">
              <a:buFont typeface="Arial" panose="020B0604020202020204" pitchFamily="34" charset="0"/>
              <a:buChar char="•"/>
            </a:pPr>
            <a:r>
              <a:rPr lang="en-EG" sz="2400" dirty="0">
                <a:solidFill>
                  <a:srgbClr val="FFFFFF"/>
                </a:solidFill>
                <a:latin typeface="AmazonEmberLight"/>
              </a:rPr>
              <a:t>Cost</a:t>
            </a:r>
            <a:endParaRPr lang="en-US" sz="1800" dirty="0">
              <a:solidFill>
                <a:srgbClr val="FFFFFF"/>
              </a:solidFill>
              <a:latin typeface="AmazonEmberLight"/>
            </a:endParaRPr>
          </a:p>
        </p:txBody>
      </p:sp>
      <p:sp>
        <p:nvSpPr>
          <p:cNvPr id="68" name="TextBox 67">
            <a:extLst>
              <a:ext uri="{FF2B5EF4-FFF2-40B4-BE49-F238E27FC236}">
                <a16:creationId xmlns:a16="http://schemas.microsoft.com/office/drawing/2014/main" id="{DC666CDD-75DE-BFA9-8AF6-637220726A2D}"/>
              </a:ext>
            </a:extLst>
          </p:cNvPr>
          <p:cNvSpPr txBox="1"/>
          <p:nvPr/>
        </p:nvSpPr>
        <p:spPr>
          <a:xfrm>
            <a:off x="644576" y="4115846"/>
            <a:ext cx="3552670" cy="461665"/>
          </a:xfrm>
          <a:prstGeom prst="rect">
            <a:avLst/>
          </a:prstGeom>
          <a:noFill/>
        </p:spPr>
        <p:txBody>
          <a:bodyPr wrap="square">
            <a:spAutoFit/>
          </a:bodyPr>
          <a:lstStyle/>
          <a:p>
            <a:pPr marL="457200" indent="-457200">
              <a:buFont typeface="Arial" panose="020B0604020202020204" pitchFamily="34" charset="0"/>
              <a:buChar char="•"/>
            </a:pPr>
            <a:r>
              <a:rPr lang="en-EG" sz="2400" dirty="0">
                <a:solidFill>
                  <a:srgbClr val="FFFFFF"/>
                </a:solidFill>
                <a:latin typeface="AmazonEmberLight"/>
              </a:rPr>
              <a:t>Time To Market (TTM)</a:t>
            </a:r>
            <a:endParaRPr lang="en-US" sz="1800" dirty="0">
              <a:solidFill>
                <a:srgbClr val="FFFFFF"/>
              </a:solidFill>
              <a:latin typeface="AmazonEmberLight"/>
            </a:endParaRPr>
          </a:p>
        </p:txBody>
      </p:sp>
    </p:spTree>
    <p:extLst>
      <p:ext uri="{BB962C8B-B14F-4D97-AF65-F5344CB8AC3E}">
        <p14:creationId xmlns:p14="http://schemas.microsoft.com/office/powerpoint/2010/main" val="2335790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6"/>
                                        </p:tgtEl>
                                        <p:attrNameLst>
                                          <p:attrName>style.visibility</p:attrName>
                                        </p:attrNameLst>
                                      </p:cBhvr>
                                      <p:to>
                                        <p:strVal val="visible"/>
                                      </p:to>
                                    </p:set>
                                    <p:anim calcmode="lin" valueType="num">
                                      <p:cBhvr additive="base">
                                        <p:cTn id="13" dur="500" fill="hold"/>
                                        <p:tgtEl>
                                          <p:spTgt spid="56"/>
                                        </p:tgtEl>
                                        <p:attrNameLst>
                                          <p:attrName>ppt_x</p:attrName>
                                        </p:attrNameLst>
                                      </p:cBhvr>
                                      <p:tavLst>
                                        <p:tav tm="0">
                                          <p:val>
                                            <p:strVal val="0-#ppt_w/2"/>
                                          </p:val>
                                        </p:tav>
                                        <p:tav tm="100000">
                                          <p:val>
                                            <p:strVal val="#ppt_x"/>
                                          </p:val>
                                        </p:tav>
                                      </p:tavLst>
                                    </p:anim>
                                    <p:anim calcmode="lin" valueType="num">
                                      <p:cBhvr additive="base">
                                        <p:cTn id="14" dur="500" fill="hold"/>
                                        <p:tgtEl>
                                          <p:spTgt spid="5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8"/>
                                        </p:tgtEl>
                                        <p:attrNameLst>
                                          <p:attrName>style.visibility</p:attrName>
                                        </p:attrNameLst>
                                      </p:cBhvr>
                                      <p:to>
                                        <p:strVal val="visible"/>
                                      </p:to>
                                    </p:set>
                                    <p:anim calcmode="lin" valueType="num">
                                      <p:cBhvr additive="base">
                                        <p:cTn id="19" dur="500" fill="hold"/>
                                        <p:tgtEl>
                                          <p:spTgt spid="58"/>
                                        </p:tgtEl>
                                        <p:attrNameLst>
                                          <p:attrName>ppt_x</p:attrName>
                                        </p:attrNameLst>
                                      </p:cBhvr>
                                      <p:tavLst>
                                        <p:tav tm="0">
                                          <p:val>
                                            <p:strVal val="0-#ppt_w/2"/>
                                          </p:val>
                                        </p:tav>
                                        <p:tav tm="100000">
                                          <p:val>
                                            <p:strVal val="#ppt_x"/>
                                          </p:val>
                                        </p:tav>
                                      </p:tavLst>
                                    </p:anim>
                                    <p:anim calcmode="lin" valueType="num">
                                      <p:cBhvr additive="base">
                                        <p:cTn id="20" dur="500" fill="hold"/>
                                        <p:tgtEl>
                                          <p:spTgt spid="5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1"/>
                                        </p:tgtEl>
                                        <p:attrNameLst>
                                          <p:attrName>style.visibility</p:attrName>
                                        </p:attrNameLst>
                                      </p:cBhvr>
                                      <p:to>
                                        <p:strVal val="visible"/>
                                      </p:to>
                                    </p:set>
                                    <p:anim calcmode="lin" valueType="num">
                                      <p:cBhvr additive="base">
                                        <p:cTn id="25" dur="500" fill="hold"/>
                                        <p:tgtEl>
                                          <p:spTgt spid="61"/>
                                        </p:tgtEl>
                                        <p:attrNameLst>
                                          <p:attrName>ppt_x</p:attrName>
                                        </p:attrNameLst>
                                      </p:cBhvr>
                                      <p:tavLst>
                                        <p:tav tm="0">
                                          <p:val>
                                            <p:strVal val="0-#ppt_w/2"/>
                                          </p:val>
                                        </p:tav>
                                        <p:tav tm="100000">
                                          <p:val>
                                            <p:strVal val="#ppt_x"/>
                                          </p:val>
                                        </p:tav>
                                      </p:tavLst>
                                    </p:anim>
                                    <p:anim calcmode="lin" valueType="num">
                                      <p:cBhvr additive="base">
                                        <p:cTn id="26" dur="500" fill="hold"/>
                                        <p:tgtEl>
                                          <p:spTgt spid="61"/>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3"/>
                                        </p:tgtEl>
                                        <p:attrNameLst>
                                          <p:attrName>style.visibility</p:attrName>
                                        </p:attrNameLst>
                                      </p:cBhvr>
                                      <p:to>
                                        <p:strVal val="visible"/>
                                      </p:to>
                                    </p:set>
                                    <p:anim calcmode="lin" valueType="num">
                                      <p:cBhvr additive="base">
                                        <p:cTn id="31" dur="500" fill="hold"/>
                                        <p:tgtEl>
                                          <p:spTgt spid="63"/>
                                        </p:tgtEl>
                                        <p:attrNameLst>
                                          <p:attrName>ppt_x</p:attrName>
                                        </p:attrNameLst>
                                      </p:cBhvr>
                                      <p:tavLst>
                                        <p:tav tm="0">
                                          <p:val>
                                            <p:strVal val="0-#ppt_w/2"/>
                                          </p:val>
                                        </p:tav>
                                        <p:tav tm="100000">
                                          <p:val>
                                            <p:strVal val="#ppt_x"/>
                                          </p:val>
                                        </p:tav>
                                      </p:tavLst>
                                    </p:anim>
                                    <p:anim calcmode="lin" valueType="num">
                                      <p:cBhvr additive="base">
                                        <p:cTn id="32" dur="500" fill="hold"/>
                                        <p:tgtEl>
                                          <p:spTgt spid="63"/>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66"/>
                                        </p:tgtEl>
                                        <p:attrNameLst>
                                          <p:attrName>style.visibility</p:attrName>
                                        </p:attrNameLst>
                                      </p:cBhvr>
                                      <p:to>
                                        <p:strVal val="visible"/>
                                      </p:to>
                                    </p:set>
                                    <p:anim calcmode="lin" valueType="num">
                                      <p:cBhvr additive="base">
                                        <p:cTn id="37" dur="500" fill="hold"/>
                                        <p:tgtEl>
                                          <p:spTgt spid="66"/>
                                        </p:tgtEl>
                                        <p:attrNameLst>
                                          <p:attrName>ppt_x</p:attrName>
                                        </p:attrNameLst>
                                      </p:cBhvr>
                                      <p:tavLst>
                                        <p:tav tm="0">
                                          <p:val>
                                            <p:strVal val="0-#ppt_w/2"/>
                                          </p:val>
                                        </p:tav>
                                        <p:tav tm="100000">
                                          <p:val>
                                            <p:strVal val="#ppt_x"/>
                                          </p:val>
                                        </p:tav>
                                      </p:tavLst>
                                    </p:anim>
                                    <p:anim calcmode="lin" valueType="num">
                                      <p:cBhvr additive="base">
                                        <p:cTn id="38" dur="500" fill="hold"/>
                                        <p:tgtEl>
                                          <p:spTgt spid="66"/>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67"/>
                                        </p:tgtEl>
                                        <p:attrNameLst>
                                          <p:attrName>style.visibility</p:attrName>
                                        </p:attrNameLst>
                                      </p:cBhvr>
                                      <p:to>
                                        <p:strVal val="visible"/>
                                      </p:to>
                                    </p:set>
                                    <p:anim calcmode="lin" valueType="num">
                                      <p:cBhvr additive="base">
                                        <p:cTn id="43" dur="500" fill="hold"/>
                                        <p:tgtEl>
                                          <p:spTgt spid="67"/>
                                        </p:tgtEl>
                                        <p:attrNameLst>
                                          <p:attrName>ppt_x</p:attrName>
                                        </p:attrNameLst>
                                      </p:cBhvr>
                                      <p:tavLst>
                                        <p:tav tm="0">
                                          <p:val>
                                            <p:strVal val="0-#ppt_w/2"/>
                                          </p:val>
                                        </p:tav>
                                        <p:tav tm="100000">
                                          <p:val>
                                            <p:strVal val="#ppt_x"/>
                                          </p:val>
                                        </p:tav>
                                      </p:tavLst>
                                    </p:anim>
                                    <p:anim calcmode="lin" valueType="num">
                                      <p:cBhvr additive="base">
                                        <p:cTn id="44" dur="500" fill="hold"/>
                                        <p:tgtEl>
                                          <p:spTgt spid="67"/>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68"/>
                                        </p:tgtEl>
                                        <p:attrNameLst>
                                          <p:attrName>style.visibility</p:attrName>
                                        </p:attrNameLst>
                                      </p:cBhvr>
                                      <p:to>
                                        <p:strVal val="visible"/>
                                      </p:to>
                                    </p:set>
                                    <p:anim calcmode="lin" valueType="num">
                                      <p:cBhvr additive="base">
                                        <p:cTn id="49" dur="500" fill="hold"/>
                                        <p:tgtEl>
                                          <p:spTgt spid="68"/>
                                        </p:tgtEl>
                                        <p:attrNameLst>
                                          <p:attrName>ppt_x</p:attrName>
                                        </p:attrNameLst>
                                      </p:cBhvr>
                                      <p:tavLst>
                                        <p:tav tm="0">
                                          <p:val>
                                            <p:strVal val="0-#ppt_w/2"/>
                                          </p:val>
                                        </p:tav>
                                        <p:tav tm="100000">
                                          <p:val>
                                            <p:strVal val="#ppt_x"/>
                                          </p:val>
                                        </p:tav>
                                      </p:tavLst>
                                    </p:anim>
                                    <p:anim calcmode="lin" valueType="num">
                                      <p:cBhvr additive="base">
                                        <p:cTn id="50" dur="500" fill="hold"/>
                                        <p:tgtEl>
                                          <p:spTgt spid="68"/>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55"/>
                                        </p:tgtEl>
                                        <p:attrNameLst>
                                          <p:attrName>style.visibility</p:attrName>
                                        </p:attrNameLst>
                                      </p:cBhvr>
                                      <p:to>
                                        <p:strVal val="visible"/>
                                      </p:to>
                                    </p:set>
                                    <p:anim calcmode="lin" valueType="num">
                                      <p:cBhvr additive="base">
                                        <p:cTn id="55" dur="500" fill="hold"/>
                                        <p:tgtEl>
                                          <p:spTgt spid="55"/>
                                        </p:tgtEl>
                                        <p:attrNameLst>
                                          <p:attrName>ppt_x</p:attrName>
                                        </p:attrNameLst>
                                      </p:cBhvr>
                                      <p:tavLst>
                                        <p:tav tm="0">
                                          <p:val>
                                            <p:strVal val="#ppt_x"/>
                                          </p:val>
                                        </p:tav>
                                        <p:tav tm="100000">
                                          <p:val>
                                            <p:strVal val="#ppt_x"/>
                                          </p:val>
                                        </p:tav>
                                      </p:tavLst>
                                    </p:anim>
                                    <p:anim calcmode="lin" valueType="num">
                                      <p:cBhvr additive="base">
                                        <p:cTn id="56"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5" grpId="0"/>
      <p:bldP spid="56" grpId="0"/>
      <p:bldP spid="58" grpId="0"/>
      <p:bldP spid="61" grpId="0"/>
      <p:bldP spid="63" grpId="0"/>
      <p:bldP spid="66" grpId="0"/>
      <p:bldP spid="67" grpId="0"/>
      <p:bldP spid="6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05375-1588-CF29-24CA-F110754897E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4B7D5C2-7FC5-DC3D-7D62-9DB352574AF6}"/>
              </a:ext>
            </a:extLst>
          </p:cNvPr>
          <p:cNvSpPr txBox="1"/>
          <p:nvPr/>
        </p:nvSpPr>
        <p:spPr>
          <a:xfrm>
            <a:off x="177631" y="590239"/>
            <a:ext cx="5572240"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What is Cloud Computing?</a:t>
            </a:r>
            <a:endParaRPr lang="en-ID" sz="2400" dirty="0">
              <a:solidFill>
                <a:schemeClr val="bg1"/>
              </a:solidFill>
              <a:latin typeface="Arial Black" panose="020B0A04020102020204" pitchFamily="34" charset="0"/>
            </a:endParaRPr>
          </a:p>
        </p:txBody>
      </p:sp>
      <p:sp>
        <p:nvSpPr>
          <p:cNvPr id="55" name="TextBox 54">
            <a:extLst>
              <a:ext uri="{FF2B5EF4-FFF2-40B4-BE49-F238E27FC236}">
                <a16:creationId xmlns:a16="http://schemas.microsoft.com/office/drawing/2014/main" id="{04410E67-EA2B-A81E-217E-E1240DCC544B}"/>
              </a:ext>
            </a:extLst>
          </p:cNvPr>
          <p:cNvSpPr txBox="1"/>
          <p:nvPr/>
        </p:nvSpPr>
        <p:spPr>
          <a:xfrm>
            <a:off x="408122" y="1860470"/>
            <a:ext cx="11375756" cy="461665"/>
          </a:xfrm>
          <a:prstGeom prst="rect">
            <a:avLst/>
          </a:prstGeom>
          <a:noFill/>
        </p:spPr>
        <p:txBody>
          <a:bodyPr wrap="square" rtlCol="0">
            <a:spAutoFit/>
          </a:bodyPr>
          <a:lstStyle/>
          <a:p>
            <a:r>
              <a:rPr lang="en-US" sz="2400" b="1" dirty="0">
                <a:solidFill>
                  <a:schemeClr val="bg1"/>
                </a:solidFill>
              </a:rPr>
              <a:t>Key Differences of On-Premise vs. Cloud</a:t>
            </a:r>
          </a:p>
        </p:txBody>
      </p:sp>
      <p:sp>
        <p:nvSpPr>
          <p:cNvPr id="56" name="TextBox 55">
            <a:extLst>
              <a:ext uri="{FF2B5EF4-FFF2-40B4-BE49-F238E27FC236}">
                <a16:creationId xmlns:a16="http://schemas.microsoft.com/office/drawing/2014/main" id="{1854692A-8D88-92D2-19EA-E5059641CE8C}"/>
              </a:ext>
            </a:extLst>
          </p:cNvPr>
          <p:cNvSpPr txBox="1"/>
          <p:nvPr/>
        </p:nvSpPr>
        <p:spPr>
          <a:xfrm>
            <a:off x="408122" y="1194577"/>
            <a:ext cx="11375756" cy="523220"/>
          </a:xfrm>
          <a:prstGeom prst="rect">
            <a:avLst/>
          </a:prstGeom>
          <a:noFill/>
        </p:spPr>
        <p:txBody>
          <a:bodyPr wrap="square" rtlCol="0">
            <a:spAutoFit/>
          </a:bodyPr>
          <a:lstStyle/>
          <a:p>
            <a:r>
              <a:rPr lang="en-US" sz="2800" b="0" i="0" dirty="0">
                <a:solidFill>
                  <a:srgbClr val="FFFFFF"/>
                </a:solidFill>
                <a:effectLst/>
                <a:latin typeface="AmazonEmberLight"/>
              </a:rPr>
              <a:t>On-premise Vs Cloud</a:t>
            </a:r>
            <a:endParaRPr lang="en-US" sz="2800" dirty="0">
              <a:solidFill>
                <a:srgbClr val="FFFFFF"/>
              </a:solidFill>
              <a:latin typeface="AmazonEmberLight"/>
            </a:endParaRPr>
          </a:p>
        </p:txBody>
      </p:sp>
      <p:sp>
        <p:nvSpPr>
          <p:cNvPr id="2" name="TextBox 1">
            <a:extLst>
              <a:ext uri="{FF2B5EF4-FFF2-40B4-BE49-F238E27FC236}">
                <a16:creationId xmlns:a16="http://schemas.microsoft.com/office/drawing/2014/main" id="{36A3820C-FDB5-C24C-B973-983C8F41D14B}"/>
              </a:ext>
            </a:extLst>
          </p:cNvPr>
          <p:cNvSpPr txBox="1"/>
          <p:nvPr/>
        </p:nvSpPr>
        <p:spPr>
          <a:xfrm>
            <a:off x="632974" y="2464808"/>
            <a:ext cx="11375756" cy="4031873"/>
          </a:xfrm>
          <a:prstGeom prst="rect">
            <a:avLst/>
          </a:prstGeom>
          <a:noFill/>
        </p:spPr>
        <p:txBody>
          <a:bodyPr wrap="square" rtlCol="0">
            <a:spAutoFit/>
          </a:bodyPr>
          <a:lstStyle/>
          <a:p>
            <a:r>
              <a:rPr lang="en-US" sz="2400" b="1" dirty="0">
                <a:solidFill>
                  <a:srgbClr val="FFA93A"/>
                </a:solidFill>
              </a:rPr>
              <a:t>Deployment (Location)</a:t>
            </a:r>
            <a:br>
              <a:rPr lang="en-US" sz="2400" b="1" dirty="0">
                <a:solidFill>
                  <a:schemeClr val="bg1"/>
                </a:solidFill>
              </a:rPr>
            </a:br>
            <a:endParaRPr lang="en-US" sz="2400" dirty="0">
              <a:solidFill>
                <a:schemeClr val="bg1"/>
              </a:solidFill>
            </a:endParaRPr>
          </a:p>
          <a:p>
            <a:r>
              <a:rPr lang="en-US" sz="2400" b="1" dirty="0">
                <a:solidFill>
                  <a:schemeClr val="bg1"/>
                </a:solidFill>
              </a:rPr>
              <a:t>On Premises: </a:t>
            </a:r>
            <a:r>
              <a:rPr lang="en-US" sz="2400" dirty="0">
                <a:solidFill>
                  <a:schemeClr val="bg1"/>
                </a:solidFill>
              </a:rPr>
              <a:t>In an on-premises environment, resources are deployed in-house and within an enterprise’s IT infrastructure. An enterprise is responsible for maintaining the solution and all its related processes.</a:t>
            </a:r>
            <a:br>
              <a:rPr lang="en-US" sz="2400" dirty="0">
                <a:solidFill>
                  <a:schemeClr val="bg1"/>
                </a:solidFill>
              </a:rPr>
            </a:br>
            <a:endParaRPr lang="en-US" sz="2400" dirty="0">
              <a:solidFill>
                <a:schemeClr val="bg1"/>
              </a:solidFill>
            </a:endParaRPr>
          </a:p>
          <a:p>
            <a:r>
              <a:rPr lang="en-US" sz="2400" b="1" dirty="0">
                <a:solidFill>
                  <a:schemeClr val="bg1"/>
                </a:solidFill>
              </a:rPr>
              <a:t>Cloud: </a:t>
            </a:r>
            <a:r>
              <a:rPr lang="en-US" sz="2400" dirty="0">
                <a:solidFill>
                  <a:schemeClr val="bg1"/>
                </a:solidFill>
              </a:rPr>
              <a:t>In a public cloud computing environment, resources are hosted on the premises of the service provider, but enterprises are able to access those resources and use as much as they want at any given time.</a:t>
            </a:r>
          </a:p>
          <a:p>
            <a:endParaRPr lang="en-EG" sz="4000" dirty="0">
              <a:solidFill>
                <a:schemeClr val="bg1"/>
              </a:solidFill>
            </a:endParaRPr>
          </a:p>
        </p:txBody>
      </p:sp>
    </p:spTree>
    <p:extLst>
      <p:ext uri="{BB962C8B-B14F-4D97-AF65-F5344CB8AC3E}">
        <p14:creationId xmlns:p14="http://schemas.microsoft.com/office/powerpoint/2010/main" val="3914965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additive="base">
                                        <p:cTn id="7" dur="500" fill="hold"/>
                                        <p:tgtEl>
                                          <p:spTgt spid="55"/>
                                        </p:tgtEl>
                                        <p:attrNameLst>
                                          <p:attrName>ppt_x</p:attrName>
                                        </p:attrNameLst>
                                      </p:cBhvr>
                                      <p:tavLst>
                                        <p:tav tm="0">
                                          <p:val>
                                            <p:strVal val="#ppt_x"/>
                                          </p:val>
                                        </p:tav>
                                        <p:tav tm="100000">
                                          <p:val>
                                            <p:strVal val="#ppt_x"/>
                                          </p:val>
                                        </p:tav>
                                      </p:tavLst>
                                    </p:anim>
                                    <p:anim calcmode="lin" valueType="num">
                                      <p:cBhvr additive="base">
                                        <p:cTn id="8"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4D0D5-B221-1B9A-E3DC-75A3686B73C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1B02F48-F819-802C-2F49-C13555BB1940}"/>
              </a:ext>
            </a:extLst>
          </p:cNvPr>
          <p:cNvSpPr txBox="1"/>
          <p:nvPr/>
        </p:nvSpPr>
        <p:spPr>
          <a:xfrm>
            <a:off x="177631" y="590239"/>
            <a:ext cx="5572240"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What is Cloud Computing?</a:t>
            </a:r>
            <a:endParaRPr lang="en-ID" sz="2400" dirty="0">
              <a:solidFill>
                <a:schemeClr val="bg1"/>
              </a:solidFill>
              <a:latin typeface="Arial Black" panose="020B0A04020102020204" pitchFamily="34" charset="0"/>
            </a:endParaRPr>
          </a:p>
        </p:txBody>
      </p:sp>
      <p:sp>
        <p:nvSpPr>
          <p:cNvPr id="55" name="TextBox 54">
            <a:extLst>
              <a:ext uri="{FF2B5EF4-FFF2-40B4-BE49-F238E27FC236}">
                <a16:creationId xmlns:a16="http://schemas.microsoft.com/office/drawing/2014/main" id="{87C9F7FA-9972-0321-40DB-08A9120FAD69}"/>
              </a:ext>
            </a:extLst>
          </p:cNvPr>
          <p:cNvSpPr txBox="1"/>
          <p:nvPr/>
        </p:nvSpPr>
        <p:spPr>
          <a:xfrm>
            <a:off x="408122" y="1860470"/>
            <a:ext cx="11375756" cy="461665"/>
          </a:xfrm>
          <a:prstGeom prst="rect">
            <a:avLst/>
          </a:prstGeom>
          <a:noFill/>
        </p:spPr>
        <p:txBody>
          <a:bodyPr wrap="square" rtlCol="0">
            <a:spAutoFit/>
          </a:bodyPr>
          <a:lstStyle/>
          <a:p>
            <a:r>
              <a:rPr lang="en-US" sz="2400" b="1" dirty="0">
                <a:solidFill>
                  <a:schemeClr val="bg1"/>
                </a:solidFill>
              </a:rPr>
              <a:t>Key Differences of On-Premise vs. Cloud</a:t>
            </a:r>
          </a:p>
        </p:txBody>
      </p:sp>
      <p:sp>
        <p:nvSpPr>
          <p:cNvPr id="56" name="TextBox 55">
            <a:extLst>
              <a:ext uri="{FF2B5EF4-FFF2-40B4-BE49-F238E27FC236}">
                <a16:creationId xmlns:a16="http://schemas.microsoft.com/office/drawing/2014/main" id="{975DDC0E-E22D-283A-5589-88AE36471954}"/>
              </a:ext>
            </a:extLst>
          </p:cNvPr>
          <p:cNvSpPr txBox="1"/>
          <p:nvPr/>
        </p:nvSpPr>
        <p:spPr>
          <a:xfrm>
            <a:off x="408122" y="1194577"/>
            <a:ext cx="11375756" cy="523220"/>
          </a:xfrm>
          <a:prstGeom prst="rect">
            <a:avLst/>
          </a:prstGeom>
          <a:noFill/>
        </p:spPr>
        <p:txBody>
          <a:bodyPr wrap="square" rtlCol="0">
            <a:spAutoFit/>
          </a:bodyPr>
          <a:lstStyle/>
          <a:p>
            <a:r>
              <a:rPr lang="en-US" sz="2800" b="0" i="0" dirty="0">
                <a:solidFill>
                  <a:srgbClr val="FFFFFF"/>
                </a:solidFill>
                <a:effectLst/>
                <a:latin typeface="AmazonEmberLight"/>
              </a:rPr>
              <a:t>On-premise Vs Cloud</a:t>
            </a:r>
            <a:endParaRPr lang="en-US" sz="2800" dirty="0">
              <a:solidFill>
                <a:srgbClr val="FFFFFF"/>
              </a:solidFill>
              <a:latin typeface="AmazonEmberLight"/>
            </a:endParaRPr>
          </a:p>
        </p:txBody>
      </p:sp>
      <p:sp>
        <p:nvSpPr>
          <p:cNvPr id="2" name="TextBox 1">
            <a:extLst>
              <a:ext uri="{FF2B5EF4-FFF2-40B4-BE49-F238E27FC236}">
                <a16:creationId xmlns:a16="http://schemas.microsoft.com/office/drawing/2014/main" id="{95842A20-DDEB-3E05-3965-900534465F20}"/>
              </a:ext>
            </a:extLst>
          </p:cNvPr>
          <p:cNvSpPr txBox="1"/>
          <p:nvPr/>
        </p:nvSpPr>
        <p:spPr>
          <a:xfrm>
            <a:off x="632974" y="2464808"/>
            <a:ext cx="11375756" cy="4154984"/>
          </a:xfrm>
          <a:prstGeom prst="rect">
            <a:avLst/>
          </a:prstGeom>
          <a:noFill/>
        </p:spPr>
        <p:txBody>
          <a:bodyPr wrap="square" rtlCol="0">
            <a:spAutoFit/>
          </a:bodyPr>
          <a:lstStyle/>
          <a:p>
            <a:r>
              <a:rPr lang="en-US" sz="2400" b="1" dirty="0">
                <a:solidFill>
                  <a:srgbClr val="FFA93A"/>
                </a:solidFill>
              </a:rPr>
              <a:t>Control</a:t>
            </a:r>
            <a:br>
              <a:rPr lang="en-US" sz="2400" b="1" dirty="0">
                <a:solidFill>
                  <a:schemeClr val="bg1"/>
                </a:solidFill>
              </a:rPr>
            </a:br>
            <a:endParaRPr lang="en-US" sz="2400" dirty="0">
              <a:solidFill>
                <a:schemeClr val="bg1"/>
              </a:solidFill>
            </a:endParaRPr>
          </a:p>
          <a:p>
            <a:r>
              <a:rPr lang="en-US" sz="2400" b="1" dirty="0">
                <a:solidFill>
                  <a:schemeClr val="bg1"/>
                </a:solidFill>
              </a:rPr>
              <a:t>On Premises: </a:t>
            </a:r>
            <a:r>
              <a:rPr lang="en-US" sz="2400" dirty="0">
                <a:solidFill>
                  <a:schemeClr val="bg1"/>
                </a:solidFill>
              </a:rPr>
              <a:t>In an on-premises environment, enterprises retain all their data and are fully in control of what happens to it, for better or worse. Companies in highly regulated industries with extra privacy concerns are more likely to hesitate to leap into the cloud before others because of this reason.</a:t>
            </a:r>
            <a:br>
              <a:rPr lang="en-US" sz="2400" dirty="0">
                <a:solidFill>
                  <a:schemeClr val="bg1"/>
                </a:solidFill>
              </a:rPr>
            </a:br>
            <a:endParaRPr lang="en-US" sz="2400" dirty="0">
              <a:solidFill>
                <a:schemeClr val="bg1"/>
              </a:solidFill>
            </a:endParaRPr>
          </a:p>
          <a:p>
            <a:r>
              <a:rPr lang="en-US" sz="2400" b="1" dirty="0">
                <a:solidFill>
                  <a:schemeClr val="bg1"/>
                </a:solidFill>
              </a:rPr>
              <a:t>Cloud: </a:t>
            </a:r>
            <a:r>
              <a:rPr lang="en-US" sz="2400" dirty="0">
                <a:solidFill>
                  <a:schemeClr val="bg1"/>
                </a:solidFill>
              </a:rPr>
              <a:t>In a cloud computing environment, the question of ownership of data is one that many companies – and vendors for that matter, have struggled with. Data and encryption keys reside within your third-party provider, so if the unexpected happens and there is downtime, you maybe be unable to access that data.</a:t>
            </a:r>
          </a:p>
        </p:txBody>
      </p:sp>
    </p:spTree>
    <p:extLst>
      <p:ext uri="{BB962C8B-B14F-4D97-AF65-F5344CB8AC3E}">
        <p14:creationId xmlns:p14="http://schemas.microsoft.com/office/powerpoint/2010/main" val="2879980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A408B-6128-08E1-764D-3352323B801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182E4FF-9204-6F4F-4007-0297A0E107D9}"/>
              </a:ext>
            </a:extLst>
          </p:cNvPr>
          <p:cNvSpPr txBox="1"/>
          <p:nvPr/>
        </p:nvSpPr>
        <p:spPr>
          <a:xfrm>
            <a:off x="177631" y="590239"/>
            <a:ext cx="5572240"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What is Cloud Computing?</a:t>
            </a:r>
            <a:endParaRPr lang="en-ID" sz="2400" dirty="0">
              <a:solidFill>
                <a:schemeClr val="bg1"/>
              </a:solidFill>
              <a:latin typeface="Arial Black" panose="020B0A04020102020204" pitchFamily="34" charset="0"/>
            </a:endParaRPr>
          </a:p>
        </p:txBody>
      </p:sp>
      <p:sp>
        <p:nvSpPr>
          <p:cNvPr id="55" name="TextBox 54">
            <a:extLst>
              <a:ext uri="{FF2B5EF4-FFF2-40B4-BE49-F238E27FC236}">
                <a16:creationId xmlns:a16="http://schemas.microsoft.com/office/drawing/2014/main" id="{7C063EBC-BBD9-F862-0C6B-DE0C75235117}"/>
              </a:ext>
            </a:extLst>
          </p:cNvPr>
          <p:cNvSpPr txBox="1"/>
          <p:nvPr/>
        </p:nvSpPr>
        <p:spPr>
          <a:xfrm>
            <a:off x="408122" y="1860470"/>
            <a:ext cx="11375756" cy="461665"/>
          </a:xfrm>
          <a:prstGeom prst="rect">
            <a:avLst/>
          </a:prstGeom>
          <a:noFill/>
        </p:spPr>
        <p:txBody>
          <a:bodyPr wrap="square" rtlCol="0">
            <a:spAutoFit/>
          </a:bodyPr>
          <a:lstStyle/>
          <a:p>
            <a:r>
              <a:rPr lang="en-US" sz="2400" b="1" dirty="0">
                <a:solidFill>
                  <a:schemeClr val="bg1"/>
                </a:solidFill>
              </a:rPr>
              <a:t>Key Differences of On-Premise vs. Cloud</a:t>
            </a:r>
          </a:p>
        </p:txBody>
      </p:sp>
      <p:sp>
        <p:nvSpPr>
          <p:cNvPr id="56" name="TextBox 55">
            <a:extLst>
              <a:ext uri="{FF2B5EF4-FFF2-40B4-BE49-F238E27FC236}">
                <a16:creationId xmlns:a16="http://schemas.microsoft.com/office/drawing/2014/main" id="{82FB3F8D-0CAB-BC59-624D-C8016282091D}"/>
              </a:ext>
            </a:extLst>
          </p:cNvPr>
          <p:cNvSpPr txBox="1"/>
          <p:nvPr/>
        </p:nvSpPr>
        <p:spPr>
          <a:xfrm>
            <a:off x="408122" y="1194577"/>
            <a:ext cx="11375756" cy="523220"/>
          </a:xfrm>
          <a:prstGeom prst="rect">
            <a:avLst/>
          </a:prstGeom>
          <a:noFill/>
        </p:spPr>
        <p:txBody>
          <a:bodyPr wrap="square" rtlCol="0">
            <a:spAutoFit/>
          </a:bodyPr>
          <a:lstStyle/>
          <a:p>
            <a:r>
              <a:rPr lang="en-US" sz="2800" b="0" i="0" dirty="0">
                <a:solidFill>
                  <a:srgbClr val="FFFFFF"/>
                </a:solidFill>
                <a:effectLst/>
                <a:latin typeface="AmazonEmberLight"/>
              </a:rPr>
              <a:t>On-premise Vs Cloud</a:t>
            </a:r>
            <a:endParaRPr lang="en-US" sz="2800" dirty="0">
              <a:solidFill>
                <a:srgbClr val="FFFFFF"/>
              </a:solidFill>
              <a:latin typeface="AmazonEmberLight"/>
            </a:endParaRPr>
          </a:p>
        </p:txBody>
      </p:sp>
      <p:sp>
        <p:nvSpPr>
          <p:cNvPr id="2" name="TextBox 1">
            <a:extLst>
              <a:ext uri="{FF2B5EF4-FFF2-40B4-BE49-F238E27FC236}">
                <a16:creationId xmlns:a16="http://schemas.microsoft.com/office/drawing/2014/main" id="{0DE75D65-96AD-A73E-EE09-2FA6BE39446F}"/>
              </a:ext>
            </a:extLst>
          </p:cNvPr>
          <p:cNvSpPr txBox="1"/>
          <p:nvPr/>
        </p:nvSpPr>
        <p:spPr>
          <a:xfrm>
            <a:off x="632974" y="2464808"/>
            <a:ext cx="11375756" cy="4308872"/>
          </a:xfrm>
          <a:prstGeom prst="rect">
            <a:avLst/>
          </a:prstGeom>
          <a:noFill/>
        </p:spPr>
        <p:txBody>
          <a:bodyPr wrap="square" rtlCol="0">
            <a:spAutoFit/>
          </a:bodyPr>
          <a:lstStyle/>
          <a:p>
            <a:pPr>
              <a:spcAft>
                <a:spcPts val="1200"/>
              </a:spcAft>
            </a:pPr>
            <a:r>
              <a:rPr lang="en-US" sz="2400" b="1" dirty="0">
                <a:solidFill>
                  <a:srgbClr val="FFA93A"/>
                </a:solidFill>
              </a:rPr>
              <a:t>Security</a:t>
            </a:r>
            <a:endParaRPr lang="en-US" sz="2400" dirty="0">
              <a:solidFill>
                <a:srgbClr val="FFA93A"/>
              </a:solidFill>
            </a:endParaRPr>
          </a:p>
          <a:p>
            <a:r>
              <a:rPr lang="en-US" sz="2400" b="1" dirty="0">
                <a:solidFill>
                  <a:schemeClr val="bg1"/>
                </a:solidFill>
              </a:rPr>
              <a:t>On Premises:</a:t>
            </a:r>
            <a:r>
              <a:rPr lang="en-US" sz="2400" dirty="0">
                <a:solidFill>
                  <a:schemeClr val="bg1"/>
                </a:solidFill>
              </a:rPr>
              <a:t> Companies that have extra sensitive information, such as government and banking industries must have a certain level of security and privacy that an on-premises environment provides. Despite the promise of the cloud, security is the primary concern for many industries, so an on-premises environment, despite some of its drawbacks and price tag, make more sense.</a:t>
            </a:r>
          </a:p>
          <a:p>
            <a:endParaRPr lang="en-US" sz="2400" dirty="0">
              <a:solidFill>
                <a:schemeClr val="bg1"/>
              </a:solidFill>
            </a:endParaRPr>
          </a:p>
          <a:p>
            <a:r>
              <a:rPr lang="en-US" sz="2400" b="1" dirty="0">
                <a:solidFill>
                  <a:schemeClr val="bg1"/>
                </a:solidFill>
              </a:rPr>
              <a:t>Cloud: </a:t>
            </a:r>
            <a:r>
              <a:rPr lang="en-US" sz="2400" dirty="0">
                <a:solidFill>
                  <a:schemeClr val="bg1"/>
                </a:solidFill>
              </a:rPr>
              <a:t>Security concerns remain the number one barrier to cloud computing deployment. There have been many publicized cloud breaches, and IT departments around the world are concerned. From personal information of employees such as login credentials to a loss of intellectual property, the security threats are real.</a:t>
            </a:r>
          </a:p>
        </p:txBody>
      </p:sp>
    </p:spTree>
    <p:extLst>
      <p:ext uri="{BB962C8B-B14F-4D97-AF65-F5344CB8AC3E}">
        <p14:creationId xmlns:p14="http://schemas.microsoft.com/office/powerpoint/2010/main" val="531292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5F55A-4455-6E18-CCEC-5A5A3CBC69D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AB5D6D4-E66B-7561-5FFF-E5CCD6FBEFC3}"/>
              </a:ext>
            </a:extLst>
          </p:cNvPr>
          <p:cNvSpPr txBox="1"/>
          <p:nvPr/>
        </p:nvSpPr>
        <p:spPr>
          <a:xfrm>
            <a:off x="177631" y="590239"/>
            <a:ext cx="5572240"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What is Cloud Computing?</a:t>
            </a:r>
            <a:endParaRPr lang="en-ID" sz="2400" dirty="0">
              <a:solidFill>
                <a:schemeClr val="bg1"/>
              </a:solidFill>
              <a:latin typeface="Arial Black" panose="020B0A04020102020204" pitchFamily="34" charset="0"/>
            </a:endParaRPr>
          </a:p>
        </p:txBody>
      </p:sp>
      <p:sp>
        <p:nvSpPr>
          <p:cNvPr id="55" name="TextBox 54">
            <a:extLst>
              <a:ext uri="{FF2B5EF4-FFF2-40B4-BE49-F238E27FC236}">
                <a16:creationId xmlns:a16="http://schemas.microsoft.com/office/drawing/2014/main" id="{A5BD86E5-A281-4CD1-BBC0-93AD183C5302}"/>
              </a:ext>
            </a:extLst>
          </p:cNvPr>
          <p:cNvSpPr txBox="1"/>
          <p:nvPr/>
        </p:nvSpPr>
        <p:spPr>
          <a:xfrm>
            <a:off x="408122" y="1860470"/>
            <a:ext cx="11375756" cy="461665"/>
          </a:xfrm>
          <a:prstGeom prst="rect">
            <a:avLst/>
          </a:prstGeom>
          <a:noFill/>
        </p:spPr>
        <p:txBody>
          <a:bodyPr wrap="square" rtlCol="0">
            <a:spAutoFit/>
          </a:bodyPr>
          <a:lstStyle/>
          <a:p>
            <a:r>
              <a:rPr lang="en-US" sz="2400" b="1" dirty="0">
                <a:solidFill>
                  <a:schemeClr val="bg1"/>
                </a:solidFill>
              </a:rPr>
              <a:t>Key Differences of On-Premise vs. Cloud</a:t>
            </a:r>
          </a:p>
        </p:txBody>
      </p:sp>
      <p:sp>
        <p:nvSpPr>
          <p:cNvPr id="56" name="TextBox 55">
            <a:extLst>
              <a:ext uri="{FF2B5EF4-FFF2-40B4-BE49-F238E27FC236}">
                <a16:creationId xmlns:a16="http://schemas.microsoft.com/office/drawing/2014/main" id="{4E0648DE-B3CF-C632-C324-90C594B2291E}"/>
              </a:ext>
            </a:extLst>
          </p:cNvPr>
          <p:cNvSpPr txBox="1"/>
          <p:nvPr/>
        </p:nvSpPr>
        <p:spPr>
          <a:xfrm>
            <a:off x="408122" y="1194577"/>
            <a:ext cx="11375756" cy="523220"/>
          </a:xfrm>
          <a:prstGeom prst="rect">
            <a:avLst/>
          </a:prstGeom>
          <a:noFill/>
        </p:spPr>
        <p:txBody>
          <a:bodyPr wrap="square" rtlCol="0">
            <a:spAutoFit/>
          </a:bodyPr>
          <a:lstStyle/>
          <a:p>
            <a:r>
              <a:rPr lang="en-US" sz="2800" b="0" i="0" dirty="0">
                <a:solidFill>
                  <a:srgbClr val="FFFFFF"/>
                </a:solidFill>
                <a:effectLst/>
                <a:latin typeface="AmazonEmberLight"/>
              </a:rPr>
              <a:t>On-premise Vs Cloud</a:t>
            </a:r>
            <a:endParaRPr lang="en-US" sz="2800" dirty="0">
              <a:solidFill>
                <a:srgbClr val="FFFFFF"/>
              </a:solidFill>
              <a:latin typeface="AmazonEmberLight"/>
            </a:endParaRPr>
          </a:p>
        </p:txBody>
      </p:sp>
      <p:sp>
        <p:nvSpPr>
          <p:cNvPr id="2" name="TextBox 1">
            <a:extLst>
              <a:ext uri="{FF2B5EF4-FFF2-40B4-BE49-F238E27FC236}">
                <a16:creationId xmlns:a16="http://schemas.microsoft.com/office/drawing/2014/main" id="{65BDC036-072C-B970-9E30-23CA1307F4B2}"/>
              </a:ext>
            </a:extLst>
          </p:cNvPr>
          <p:cNvSpPr txBox="1"/>
          <p:nvPr/>
        </p:nvSpPr>
        <p:spPr>
          <a:xfrm>
            <a:off x="632974" y="2464808"/>
            <a:ext cx="11375756" cy="5293757"/>
          </a:xfrm>
          <a:prstGeom prst="rect">
            <a:avLst/>
          </a:prstGeom>
          <a:noFill/>
        </p:spPr>
        <p:txBody>
          <a:bodyPr wrap="square" rtlCol="0">
            <a:spAutoFit/>
          </a:bodyPr>
          <a:lstStyle/>
          <a:p>
            <a:pPr>
              <a:spcAft>
                <a:spcPts val="1200"/>
              </a:spcAft>
            </a:pPr>
            <a:r>
              <a:rPr lang="en-US" sz="2400" b="1" dirty="0">
                <a:solidFill>
                  <a:srgbClr val="FFA93A"/>
                </a:solidFill>
              </a:rPr>
              <a:t>Compliance</a:t>
            </a:r>
          </a:p>
          <a:p>
            <a:r>
              <a:rPr lang="en-US" sz="2400" b="1" dirty="0">
                <a:solidFill>
                  <a:schemeClr val="bg1"/>
                </a:solidFill>
              </a:rPr>
              <a:t>On Premises: </a:t>
            </a:r>
            <a:r>
              <a:rPr lang="en-US" sz="2400" dirty="0">
                <a:solidFill>
                  <a:schemeClr val="bg1"/>
                </a:solidFill>
              </a:rPr>
              <a:t>Many companies operate under some form of regulatory control, regardless of the industry. Perhaps the most common one is the Health Insurance Portability and Accountability Act (HIPAA) for private health information, and other government and industry regulations. For companies that are subject to such regulations, they must remain compliant and know where their data is all  the time.</a:t>
            </a:r>
            <a:br>
              <a:rPr lang="en-US" sz="2400" dirty="0">
                <a:solidFill>
                  <a:schemeClr val="bg1"/>
                </a:solidFill>
              </a:rPr>
            </a:br>
            <a:endParaRPr lang="en-US" sz="2400" dirty="0">
              <a:solidFill>
                <a:schemeClr val="bg1"/>
              </a:solidFill>
            </a:endParaRPr>
          </a:p>
          <a:p>
            <a:r>
              <a:rPr lang="en-US" sz="2400" b="1" dirty="0">
                <a:solidFill>
                  <a:schemeClr val="bg1"/>
                </a:solidFill>
              </a:rPr>
              <a:t>Cloud: </a:t>
            </a:r>
            <a:r>
              <a:rPr lang="en-US" sz="2400" dirty="0">
                <a:solidFill>
                  <a:schemeClr val="bg1"/>
                </a:solidFill>
              </a:rPr>
              <a:t>Enterprises that do choose a cloud computing model must ensure that their third-party provider is up to code and in fact compliant with all of the different regulatory mandates within their industry. Sensitive data must be secured, and customers, partners, and employees must have their privacy ensured.</a:t>
            </a:r>
          </a:p>
          <a:p>
            <a:br>
              <a:rPr lang="en-US" sz="3200" dirty="0">
                <a:solidFill>
                  <a:schemeClr val="bg1"/>
                </a:solidFill>
              </a:rPr>
            </a:br>
            <a:endParaRPr lang="en-US" sz="3200" dirty="0">
              <a:solidFill>
                <a:schemeClr val="bg1"/>
              </a:solidFill>
            </a:endParaRPr>
          </a:p>
        </p:txBody>
      </p:sp>
    </p:spTree>
    <p:extLst>
      <p:ext uri="{BB962C8B-B14F-4D97-AF65-F5344CB8AC3E}">
        <p14:creationId xmlns:p14="http://schemas.microsoft.com/office/powerpoint/2010/main" val="4025496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97CC3-EF5E-F7DD-A345-2CDE79E3C179}"/>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A560F796-8CF3-A0C5-6234-A6B25AC3498D}"/>
              </a:ext>
            </a:extLst>
          </p:cNvPr>
          <p:cNvSpPr>
            <a:spLocks noChangeArrowheads="1"/>
          </p:cNvSpPr>
          <p:nvPr/>
        </p:nvSpPr>
        <p:spPr bwMode="auto">
          <a:xfrm>
            <a:off x="3933825" y="18256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EG" altLang="en-EG" sz="1800" b="0" i="0" u="none" strike="noStrike" cap="none" normalizeH="0" baseline="0">
                <a:ln>
                  <a:noFill/>
                </a:ln>
                <a:solidFill>
                  <a:schemeClr val="tx1"/>
                </a:solidFill>
                <a:effectLst/>
                <a:latin typeface="Arial" panose="020B0604020202020204" pitchFamily="34" charset="0"/>
              </a:rPr>
            </a:br>
            <a:endParaRPr kumimoji="0" lang="en-EG" altLang="en-EG" sz="1800" b="0" i="0" u="none" strike="noStrike" cap="none" normalizeH="0" baseline="0">
              <a:ln>
                <a:noFill/>
              </a:ln>
              <a:solidFill>
                <a:schemeClr val="tx1"/>
              </a:solidFill>
              <a:effectLst/>
              <a:latin typeface="Arial" panose="020B0604020202020204" pitchFamily="34" charset="0"/>
            </a:endParaRPr>
          </a:p>
        </p:txBody>
      </p:sp>
      <p:graphicFrame>
        <p:nvGraphicFramePr>
          <p:cNvPr id="7" name="Table 6">
            <a:extLst>
              <a:ext uri="{FF2B5EF4-FFF2-40B4-BE49-F238E27FC236}">
                <a16:creationId xmlns:a16="http://schemas.microsoft.com/office/drawing/2014/main" id="{F963BF06-BA5B-157E-2820-116B141154E7}"/>
              </a:ext>
            </a:extLst>
          </p:cNvPr>
          <p:cNvGraphicFramePr>
            <a:graphicFrameLocks noGrp="1"/>
          </p:cNvGraphicFramePr>
          <p:nvPr>
            <p:extLst>
              <p:ext uri="{D42A27DB-BD31-4B8C-83A1-F6EECF244321}">
                <p14:modId xmlns:p14="http://schemas.microsoft.com/office/powerpoint/2010/main" val="2350313337"/>
              </p:ext>
            </p:extLst>
          </p:nvPr>
        </p:nvGraphicFramePr>
        <p:xfrm>
          <a:off x="521353" y="127554"/>
          <a:ext cx="11149293" cy="6602891"/>
        </p:xfrm>
        <a:graphic>
          <a:graphicData uri="http://schemas.openxmlformats.org/drawingml/2006/table">
            <a:tbl>
              <a:tblPr firstRow="1" firstCol="1" lastCol="1" bandRow="1">
                <a:tableStyleId>{5940675A-B579-460E-94D1-54222C63F5DA}</a:tableStyleId>
              </a:tblPr>
              <a:tblGrid>
                <a:gridCol w="3716431">
                  <a:extLst>
                    <a:ext uri="{9D8B030D-6E8A-4147-A177-3AD203B41FA5}">
                      <a16:colId xmlns:a16="http://schemas.microsoft.com/office/drawing/2014/main" val="1572362855"/>
                    </a:ext>
                  </a:extLst>
                </a:gridCol>
                <a:gridCol w="3716431">
                  <a:extLst>
                    <a:ext uri="{9D8B030D-6E8A-4147-A177-3AD203B41FA5}">
                      <a16:colId xmlns:a16="http://schemas.microsoft.com/office/drawing/2014/main" val="1301820656"/>
                    </a:ext>
                  </a:extLst>
                </a:gridCol>
                <a:gridCol w="3716431">
                  <a:extLst>
                    <a:ext uri="{9D8B030D-6E8A-4147-A177-3AD203B41FA5}">
                      <a16:colId xmlns:a16="http://schemas.microsoft.com/office/drawing/2014/main" val="2798814921"/>
                    </a:ext>
                  </a:extLst>
                </a:gridCol>
              </a:tblGrid>
              <a:tr h="712631">
                <a:tc>
                  <a:txBody>
                    <a:bodyPr/>
                    <a:lstStyle/>
                    <a:p>
                      <a:pPr algn="ctr"/>
                      <a:r>
                        <a:rPr lang="en-US" sz="2800" b="1" kern="1200" dirty="0">
                          <a:ln>
                            <a:solidFill>
                              <a:srgbClr val="FAF9FF"/>
                            </a:solidFill>
                          </a:ln>
                          <a:solidFill>
                            <a:schemeClr val="bg1"/>
                          </a:solidFill>
                          <a:effectLst/>
                        </a:rPr>
                        <a:t>Expense</a:t>
                      </a:r>
                      <a:endParaRPr lang="en-EG" sz="2800" dirty="0">
                        <a:ln>
                          <a:solidFill>
                            <a:srgbClr val="FAF9FF"/>
                          </a:solidFill>
                        </a:ln>
                        <a:solidFill>
                          <a:schemeClr val="bg1"/>
                        </a:solidFill>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algn="ctr"/>
                      <a:r>
                        <a:rPr lang="en-US" sz="2800" dirty="0">
                          <a:ln>
                            <a:solidFill>
                              <a:srgbClr val="FAF9FF"/>
                            </a:solidFill>
                          </a:ln>
                          <a:solidFill>
                            <a:schemeClr val="bg1"/>
                          </a:solidFill>
                          <a:effectLst/>
                        </a:rPr>
                        <a:t>On-Premise</a:t>
                      </a:r>
                    </a:p>
                  </a:txBody>
                  <a:tcPr marL="95250" marR="95250" marT="95250" marB="9525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algn="ctr"/>
                      <a:r>
                        <a:rPr lang="en-US" sz="2800" dirty="0">
                          <a:ln>
                            <a:solidFill>
                              <a:srgbClr val="FAF9FF"/>
                            </a:solidFill>
                          </a:ln>
                          <a:solidFill>
                            <a:schemeClr val="bg1"/>
                          </a:solidFill>
                          <a:effectLst/>
                        </a:rPr>
                        <a:t>Cloud</a:t>
                      </a:r>
                    </a:p>
                  </a:txBody>
                  <a:tcPr marL="95250" marR="95250" marT="95250" marB="9525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36016964"/>
                  </a:ext>
                </a:extLst>
              </a:tr>
              <a:tr h="787029">
                <a:tc>
                  <a:txBody>
                    <a:bodyPr/>
                    <a:lstStyle/>
                    <a:p>
                      <a:pPr fontAlgn="t"/>
                      <a:r>
                        <a:rPr lang="en-US" sz="2000" b="1" dirty="0">
                          <a:solidFill>
                            <a:srgbClr val="FFA93A"/>
                          </a:solidFill>
                          <a:effectLst/>
                        </a:rPr>
                        <a:t>Upfront Cost</a:t>
                      </a:r>
                    </a:p>
                  </a:txBody>
                  <a:tcPr marL="95250" marR="95250" marT="95250" marB="9525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fontAlgn="t"/>
                      <a:r>
                        <a:rPr lang="en-US" dirty="0">
                          <a:solidFill>
                            <a:schemeClr val="bg1"/>
                          </a:solidFill>
                          <a:effectLst/>
                        </a:rPr>
                        <a:t>Requires significant CapEx to get the hardware and infrastructure.</a:t>
                      </a:r>
                    </a:p>
                  </a:txBody>
                  <a:tcPr marL="95250" marR="95250" marT="95250" marB="9525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fontAlgn="t"/>
                      <a:r>
                        <a:rPr lang="en-US" dirty="0">
                          <a:solidFill>
                            <a:schemeClr val="bg1"/>
                          </a:solidFill>
                          <a:effectLst/>
                        </a:rPr>
                        <a:t>Typically operates on a subscription-based pricing model. It requires less upfront investment.</a:t>
                      </a:r>
                    </a:p>
                  </a:txBody>
                  <a:tcPr marL="95250" marR="95250" marT="95250" marB="9525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702548023"/>
                  </a:ext>
                </a:extLst>
              </a:tr>
              <a:tr h="787029">
                <a:tc>
                  <a:txBody>
                    <a:bodyPr/>
                    <a:lstStyle/>
                    <a:p>
                      <a:pPr fontAlgn="t"/>
                      <a:r>
                        <a:rPr lang="en-US" sz="2000" b="1" dirty="0">
                          <a:solidFill>
                            <a:srgbClr val="FFA93A"/>
                          </a:solidFill>
                          <a:effectLst/>
                        </a:rPr>
                        <a:t>Maintenance Cost</a:t>
                      </a:r>
                    </a:p>
                  </a:txBody>
                  <a:tcPr marL="95250" marR="95250" marT="95250" marB="9525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fontAlgn="t"/>
                      <a:r>
                        <a:rPr lang="en-US">
                          <a:solidFill>
                            <a:schemeClr val="bg1"/>
                          </a:solidFill>
                          <a:effectLst/>
                        </a:rPr>
                        <a:t>Requires continuous maintenance resources. It includes space, power, and expert staff.</a:t>
                      </a:r>
                    </a:p>
                  </a:txBody>
                  <a:tcPr marL="95250" marR="95250" marT="95250" marB="9525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fontAlgn="t"/>
                      <a:r>
                        <a:rPr lang="en-US">
                          <a:solidFill>
                            <a:schemeClr val="bg1"/>
                          </a:solidFill>
                          <a:effectLst/>
                        </a:rPr>
                        <a:t>The service provider maintains the software. It reduces the need for internal maintenance resources.</a:t>
                      </a:r>
                    </a:p>
                  </a:txBody>
                  <a:tcPr marL="95250" marR="95250" marT="95250" marB="9525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232187193"/>
                  </a:ext>
                </a:extLst>
              </a:tr>
              <a:tr h="787029">
                <a:tc>
                  <a:txBody>
                    <a:bodyPr/>
                    <a:lstStyle/>
                    <a:p>
                      <a:pPr fontAlgn="t"/>
                      <a:r>
                        <a:rPr lang="en-US" sz="2000" b="1" dirty="0">
                          <a:solidFill>
                            <a:srgbClr val="FFA93A"/>
                          </a:solidFill>
                          <a:effectLst/>
                        </a:rPr>
                        <a:t>Scalability Cost</a:t>
                      </a:r>
                    </a:p>
                  </a:txBody>
                  <a:tcPr marL="95250" marR="95250" marT="95250" marB="9525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fontAlgn="t"/>
                      <a:r>
                        <a:rPr lang="en-US">
                          <a:solidFill>
                            <a:schemeClr val="bg1"/>
                          </a:solidFill>
                          <a:effectLst/>
                        </a:rPr>
                        <a:t>Additional hardware and setup may be necessary for growth, leading to extra costs.</a:t>
                      </a:r>
                    </a:p>
                  </a:txBody>
                  <a:tcPr marL="95250" marR="95250" marT="95250" marB="9525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fontAlgn="t"/>
                      <a:r>
                        <a:rPr lang="en-US">
                          <a:solidFill>
                            <a:schemeClr val="bg1"/>
                          </a:solidFill>
                          <a:effectLst/>
                        </a:rPr>
                        <a:t>Cloud is scalable with the ability to adapt quickly. Changing business needs without significant additional costs.</a:t>
                      </a:r>
                    </a:p>
                  </a:txBody>
                  <a:tcPr marL="95250" marR="95250" marT="95250" marB="9525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510839192"/>
                  </a:ext>
                </a:extLst>
              </a:tr>
              <a:tr h="787029">
                <a:tc>
                  <a:txBody>
                    <a:bodyPr/>
                    <a:lstStyle/>
                    <a:p>
                      <a:pPr fontAlgn="t"/>
                      <a:r>
                        <a:rPr lang="en-US" sz="2000" b="1" dirty="0">
                          <a:solidFill>
                            <a:srgbClr val="FFA93A"/>
                          </a:solidFill>
                          <a:effectLst/>
                        </a:rPr>
                        <a:t>Upgrade Cost</a:t>
                      </a:r>
                    </a:p>
                  </a:txBody>
                  <a:tcPr marL="95250" marR="95250" marT="95250" marB="9525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fontAlgn="t"/>
                      <a:r>
                        <a:rPr lang="en-US">
                          <a:solidFill>
                            <a:schemeClr val="bg1"/>
                          </a:solidFill>
                          <a:effectLst/>
                        </a:rPr>
                        <a:t>Upgrades can be costly as they may require new hardware or system re-configurations.</a:t>
                      </a:r>
                    </a:p>
                  </a:txBody>
                  <a:tcPr marL="95250" marR="95250" marT="95250" marB="9525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fontAlgn="t"/>
                      <a:r>
                        <a:rPr lang="en-US">
                          <a:solidFill>
                            <a:schemeClr val="bg1"/>
                          </a:solidFill>
                          <a:effectLst/>
                        </a:rPr>
                        <a:t>Software updates are typically included in the subscription cost. These are performed automatically by the provider.</a:t>
                      </a:r>
                    </a:p>
                  </a:txBody>
                  <a:tcPr marL="95250" marR="95250" marT="95250" marB="9525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32726154"/>
                  </a:ext>
                </a:extLst>
              </a:tr>
              <a:tr h="787029">
                <a:tc>
                  <a:txBody>
                    <a:bodyPr/>
                    <a:lstStyle/>
                    <a:p>
                      <a:pPr fontAlgn="t"/>
                      <a:r>
                        <a:rPr lang="en-US" sz="2000" b="1" dirty="0">
                          <a:solidFill>
                            <a:srgbClr val="FFA93A"/>
                          </a:solidFill>
                          <a:effectLst/>
                        </a:rPr>
                        <a:t>Data Loss Cost</a:t>
                      </a:r>
                    </a:p>
                  </a:txBody>
                  <a:tcPr marL="95250" marR="95250" marT="95250" marB="9525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fontAlgn="t"/>
                      <a:r>
                        <a:rPr lang="en-US">
                          <a:solidFill>
                            <a:schemeClr val="bg1"/>
                          </a:solidFill>
                          <a:effectLst/>
                        </a:rPr>
                        <a:t>Potential for permanent data loss in case of system malfunctions. Cyberattacks can lead to financial losses.</a:t>
                      </a:r>
                    </a:p>
                  </a:txBody>
                  <a:tcPr marL="95250" marR="95250" marT="95250" marB="9525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fontAlgn="t"/>
                      <a:r>
                        <a:rPr lang="en-US" dirty="0">
                          <a:solidFill>
                            <a:schemeClr val="bg1"/>
                          </a:solidFill>
                          <a:effectLst/>
                        </a:rPr>
                        <a:t>More robust data protection measures reduce the risk and cost of potential data loss.</a:t>
                      </a:r>
                    </a:p>
                  </a:txBody>
                  <a:tcPr marL="95250" marR="95250" marT="95250" marB="9525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217439101"/>
                  </a:ext>
                </a:extLst>
              </a:tr>
            </a:tbl>
          </a:graphicData>
        </a:graphic>
      </p:graphicFrame>
    </p:spTree>
    <p:extLst>
      <p:ext uri="{BB962C8B-B14F-4D97-AF65-F5344CB8AC3E}">
        <p14:creationId xmlns:p14="http://schemas.microsoft.com/office/powerpoint/2010/main" val="382544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C4292-295C-734F-AF7E-D2AD7397BA9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111C3D8-9255-D535-747C-054AFA679DD4}"/>
              </a:ext>
            </a:extLst>
          </p:cNvPr>
          <p:cNvSpPr txBox="1"/>
          <p:nvPr/>
        </p:nvSpPr>
        <p:spPr>
          <a:xfrm>
            <a:off x="177631" y="590239"/>
            <a:ext cx="5572240"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What is Cloud Computing?</a:t>
            </a:r>
            <a:endParaRPr lang="en-ID" sz="2400" dirty="0">
              <a:solidFill>
                <a:schemeClr val="bg1"/>
              </a:solidFill>
              <a:latin typeface="Arial Black" panose="020B0A04020102020204" pitchFamily="34" charset="0"/>
            </a:endParaRPr>
          </a:p>
        </p:txBody>
      </p:sp>
      <p:sp>
        <p:nvSpPr>
          <p:cNvPr id="55" name="TextBox 54">
            <a:extLst>
              <a:ext uri="{FF2B5EF4-FFF2-40B4-BE49-F238E27FC236}">
                <a16:creationId xmlns:a16="http://schemas.microsoft.com/office/drawing/2014/main" id="{0CB96F2A-43AD-4490-6BCF-125D09BF8142}"/>
              </a:ext>
            </a:extLst>
          </p:cNvPr>
          <p:cNvSpPr txBox="1"/>
          <p:nvPr/>
        </p:nvSpPr>
        <p:spPr>
          <a:xfrm>
            <a:off x="408122" y="1860470"/>
            <a:ext cx="11375756" cy="461665"/>
          </a:xfrm>
          <a:prstGeom prst="rect">
            <a:avLst/>
          </a:prstGeom>
          <a:noFill/>
        </p:spPr>
        <p:txBody>
          <a:bodyPr wrap="square" rtlCol="0">
            <a:spAutoFit/>
          </a:bodyPr>
          <a:lstStyle/>
          <a:p>
            <a:r>
              <a:rPr lang="en-US" sz="2400" b="1" dirty="0">
                <a:solidFill>
                  <a:schemeClr val="bg1"/>
                </a:solidFill>
              </a:rPr>
              <a:t>Key Differences of On-Premise vs. Cloud</a:t>
            </a:r>
          </a:p>
        </p:txBody>
      </p:sp>
      <p:sp>
        <p:nvSpPr>
          <p:cNvPr id="56" name="TextBox 55">
            <a:extLst>
              <a:ext uri="{FF2B5EF4-FFF2-40B4-BE49-F238E27FC236}">
                <a16:creationId xmlns:a16="http://schemas.microsoft.com/office/drawing/2014/main" id="{CD79261A-6C1A-C76F-3BB6-C2FB5DF72D31}"/>
              </a:ext>
            </a:extLst>
          </p:cNvPr>
          <p:cNvSpPr txBox="1"/>
          <p:nvPr/>
        </p:nvSpPr>
        <p:spPr>
          <a:xfrm>
            <a:off x="408122" y="1194577"/>
            <a:ext cx="11375756" cy="523220"/>
          </a:xfrm>
          <a:prstGeom prst="rect">
            <a:avLst/>
          </a:prstGeom>
          <a:noFill/>
        </p:spPr>
        <p:txBody>
          <a:bodyPr wrap="square" rtlCol="0">
            <a:spAutoFit/>
          </a:bodyPr>
          <a:lstStyle/>
          <a:p>
            <a:r>
              <a:rPr lang="en-US" sz="2800" b="0" i="0" dirty="0">
                <a:solidFill>
                  <a:srgbClr val="FFFFFF"/>
                </a:solidFill>
                <a:effectLst/>
                <a:latin typeface="AmazonEmberLight"/>
              </a:rPr>
              <a:t>On-premise Vs Cloud</a:t>
            </a:r>
            <a:endParaRPr lang="en-US" sz="2800" dirty="0">
              <a:solidFill>
                <a:srgbClr val="FFFFFF"/>
              </a:solidFill>
              <a:latin typeface="AmazonEmberLight"/>
            </a:endParaRPr>
          </a:p>
        </p:txBody>
      </p:sp>
      <p:grpSp>
        <p:nvGrpSpPr>
          <p:cNvPr id="4" name="Group 3">
            <a:extLst>
              <a:ext uri="{FF2B5EF4-FFF2-40B4-BE49-F238E27FC236}">
                <a16:creationId xmlns:a16="http://schemas.microsoft.com/office/drawing/2014/main" id="{F7E7F47B-298A-74A3-3A68-13696749D940}"/>
              </a:ext>
            </a:extLst>
          </p:cNvPr>
          <p:cNvGrpSpPr/>
          <p:nvPr/>
        </p:nvGrpSpPr>
        <p:grpSpPr>
          <a:xfrm>
            <a:off x="632974" y="2415016"/>
            <a:ext cx="5116897" cy="4442984"/>
            <a:chOff x="632974" y="2415016"/>
            <a:chExt cx="5116897" cy="4442984"/>
          </a:xfrm>
        </p:grpSpPr>
        <p:sp>
          <p:nvSpPr>
            <p:cNvPr id="2" name="TextBox 1">
              <a:extLst>
                <a:ext uri="{FF2B5EF4-FFF2-40B4-BE49-F238E27FC236}">
                  <a16:creationId xmlns:a16="http://schemas.microsoft.com/office/drawing/2014/main" id="{84A6C6EA-CBF1-E417-FBD2-E38D31FE8631}"/>
                </a:ext>
              </a:extLst>
            </p:cNvPr>
            <p:cNvSpPr txBox="1"/>
            <p:nvPr/>
          </p:nvSpPr>
          <p:spPr>
            <a:xfrm>
              <a:off x="632974" y="2415016"/>
              <a:ext cx="5116897" cy="2369880"/>
            </a:xfrm>
            <a:prstGeom prst="rect">
              <a:avLst/>
            </a:prstGeom>
            <a:noFill/>
          </p:spPr>
          <p:txBody>
            <a:bodyPr wrap="square" rtlCol="0">
              <a:spAutoFit/>
            </a:bodyPr>
            <a:lstStyle/>
            <a:p>
              <a:pPr>
                <a:spcAft>
                  <a:spcPts val="1200"/>
                </a:spcAft>
              </a:pPr>
              <a:r>
                <a:rPr lang="en-US" sz="2400" b="1" dirty="0">
                  <a:solidFill>
                    <a:srgbClr val="FFA93A"/>
                  </a:solidFill>
                </a:rPr>
                <a:t>Time To Market (TTM)</a:t>
              </a:r>
            </a:p>
            <a:p>
              <a:pPr>
                <a:spcAft>
                  <a:spcPts val="600"/>
                </a:spcAft>
              </a:pPr>
              <a:r>
                <a:rPr lang="en-US" sz="2400" b="1" dirty="0">
                  <a:solidFill>
                    <a:schemeClr val="bg1"/>
                  </a:solidFill>
                </a:rPr>
                <a:t>On Premises: </a:t>
              </a:r>
            </a:p>
            <a:p>
              <a:pPr marL="342900" indent="-342900">
                <a:buFont typeface="Arial" panose="020B0604020202020204" pitchFamily="34" charset="0"/>
                <a:buChar char="•"/>
              </a:pPr>
              <a:r>
                <a:rPr lang="en-US" sz="2000" b="1" dirty="0">
                  <a:solidFill>
                    <a:schemeClr val="bg1"/>
                  </a:solidFill>
                </a:rPr>
                <a:t>Procurement Delays</a:t>
              </a:r>
              <a:endParaRPr lang="en-US" sz="2000" dirty="0">
                <a:solidFill>
                  <a:schemeClr val="bg1"/>
                </a:solidFill>
              </a:endParaRPr>
            </a:p>
            <a:p>
              <a:pPr marL="342900" indent="-342900">
                <a:buFont typeface="Arial" panose="020B0604020202020204" pitchFamily="34" charset="0"/>
                <a:buChar char="•"/>
              </a:pPr>
              <a:r>
                <a:rPr lang="en-US" sz="2000" b="1" dirty="0">
                  <a:solidFill>
                    <a:schemeClr val="bg1"/>
                  </a:solidFill>
                </a:rPr>
                <a:t>Setup and Configuration</a:t>
              </a:r>
            </a:p>
            <a:p>
              <a:pPr marL="342900" indent="-342900">
                <a:spcAft>
                  <a:spcPts val="600"/>
                </a:spcAft>
                <a:buFont typeface="Arial" panose="020B0604020202020204" pitchFamily="34" charset="0"/>
                <a:buChar char="•"/>
              </a:pPr>
              <a:r>
                <a:rPr lang="en-US" sz="2000" b="1" dirty="0">
                  <a:solidFill>
                    <a:schemeClr val="bg1"/>
                  </a:solidFill>
                </a:rPr>
                <a:t>Geographic Limitations</a:t>
              </a:r>
            </a:p>
            <a:p>
              <a:pPr marL="342900" indent="-342900">
                <a:spcAft>
                  <a:spcPts val="600"/>
                </a:spcAft>
                <a:buFont typeface="Arial" panose="020B0604020202020204" pitchFamily="34" charset="0"/>
                <a:buChar char="•"/>
              </a:pPr>
              <a:r>
                <a:rPr lang="en-US" sz="2000" b="1" dirty="0">
                  <a:solidFill>
                    <a:schemeClr val="bg1"/>
                  </a:solidFill>
                </a:rPr>
                <a:t>Upfront Payment</a:t>
              </a:r>
            </a:p>
          </p:txBody>
        </p:sp>
        <p:sp>
          <p:nvSpPr>
            <p:cNvPr id="3" name="TextBox 2">
              <a:extLst>
                <a:ext uri="{FF2B5EF4-FFF2-40B4-BE49-F238E27FC236}">
                  <a16:creationId xmlns:a16="http://schemas.microsoft.com/office/drawing/2014/main" id="{44F5A7C8-505E-F342-6FFC-519B19D0BD0C}"/>
                </a:ext>
              </a:extLst>
            </p:cNvPr>
            <p:cNvSpPr txBox="1"/>
            <p:nvPr/>
          </p:nvSpPr>
          <p:spPr>
            <a:xfrm>
              <a:off x="632974" y="4934396"/>
              <a:ext cx="4083105" cy="1923604"/>
            </a:xfrm>
            <a:prstGeom prst="rect">
              <a:avLst/>
            </a:prstGeom>
            <a:noFill/>
          </p:spPr>
          <p:txBody>
            <a:bodyPr wrap="none" rtlCol="0">
              <a:spAutoFit/>
            </a:bodyPr>
            <a:lstStyle/>
            <a:p>
              <a:pPr>
                <a:spcAft>
                  <a:spcPts val="600"/>
                </a:spcAft>
              </a:pPr>
              <a:r>
                <a:rPr lang="en-US" sz="2400" b="1" dirty="0">
                  <a:solidFill>
                    <a:schemeClr val="bg1"/>
                  </a:solidFill>
                </a:rPr>
                <a:t>Cloud: </a:t>
              </a:r>
            </a:p>
            <a:p>
              <a:pPr marL="342900" indent="-342900">
                <a:buFont typeface="Arial" panose="020B0604020202020204" pitchFamily="34" charset="0"/>
                <a:buChar char="•"/>
              </a:pPr>
              <a:r>
                <a:rPr lang="en-US" sz="1800" b="1" dirty="0">
                  <a:solidFill>
                    <a:schemeClr val="bg1"/>
                  </a:solidFill>
                </a:rPr>
                <a:t>No Hardware Procurement Delays</a:t>
              </a:r>
            </a:p>
            <a:p>
              <a:pPr marL="342900" indent="-342900">
                <a:buFont typeface="Arial" panose="020B0604020202020204" pitchFamily="34" charset="0"/>
                <a:buChar char="•"/>
              </a:pPr>
              <a:r>
                <a:rPr lang="en-US" sz="1800" b="1" dirty="0">
                  <a:solidFill>
                    <a:schemeClr val="bg1"/>
                  </a:solidFill>
                </a:rPr>
                <a:t>Pre-configured Services</a:t>
              </a:r>
              <a:endParaRPr lang="en-US" sz="1800" dirty="0"/>
            </a:p>
            <a:p>
              <a:pPr marL="342900" indent="-342900">
                <a:buFont typeface="Arial" panose="020B0604020202020204" pitchFamily="34" charset="0"/>
                <a:buChar char="•"/>
              </a:pPr>
              <a:r>
                <a:rPr lang="en-US" sz="1800" b="1" dirty="0">
                  <a:solidFill>
                    <a:schemeClr val="bg1"/>
                  </a:solidFill>
                </a:rPr>
                <a:t>Global Reach</a:t>
              </a:r>
            </a:p>
            <a:p>
              <a:pPr marL="342900" indent="-342900">
                <a:buFont typeface="Arial" panose="020B0604020202020204" pitchFamily="34" charset="0"/>
                <a:buChar char="•"/>
              </a:pPr>
              <a:r>
                <a:rPr lang="en-US" sz="1800" b="1" dirty="0">
                  <a:solidFill>
                    <a:schemeClr val="bg1"/>
                  </a:solidFill>
                </a:rPr>
                <a:t>Pay-as-You-Go Model</a:t>
              </a:r>
            </a:p>
            <a:p>
              <a:endParaRPr lang="en-EG" dirty="0"/>
            </a:p>
          </p:txBody>
        </p:sp>
      </p:grpSp>
    </p:spTree>
    <p:extLst>
      <p:ext uri="{BB962C8B-B14F-4D97-AF65-F5344CB8AC3E}">
        <p14:creationId xmlns:p14="http://schemas.microsoft.com/office/powerpoint/2010/main" val="1832290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4B857E-9C4F-5970-A743-5C61295409C5}"/>
              </a:ext>
            </a:extLst>
          </p:cNvPr>
          <p:cNvSpPr txBox="1"/>
          <p:nvPr/>
        </p:nvSpPr>
        <p:spPr>
          <a:xfrm>
            <a:off x="177631" y="590239"/>
            <a:ext cx="5572240"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Advantages</a:t>
            </a:r>
            <a:endParaRPr lang="en-ID" sz="2400" dirty="0">
              <a:solidFill>
                <a:schemeClr val="bg1"/>
              </a:solidFill>
              <a:latin typeface="Arial Black" panose="020B0A04020102020204" pitchFamily="34" charset="0"/>
            </a:endParaRPr>
          </a:p>
        </p:txBody>
      </p:sp>
      <p:sp>
        <p:nvSpPr>
          <p:cNvPr id="5" name="TextBox 4">
            <a:extLst>
              <a:ext uri="{FF2B5EF4-FFF2-40B4-BE49-F238E27FC236}">
                <a16:creationId xmlns:a16="http://schemas.microsoft.com/office/drawing/2014/main" id="{7DEA01FF-5DDC-023F-6666-6B5CCAE9036F}"/>
              </a:ext>
            </a:extLst>
          </p:cNvPr>
          <p:cNvSpPr txBox="1"/>
          <p:nvPr/>
        </p:nvSpPr>
        <p:spPr>
          <a:xfrm>
            <a:off x="177631" y="1244183"/>
            <a:ext cx="11784520" cy="5755422"/>
          </a:xfrm>
          <a:prstGeom prst="rect">
            <a:avLst/>
          </a:prstGeom>
          <a:noFill/>
        </p:spPr>
        <p:txBody>
          <a:bodyPr wrap="square" rtlCol="0">
            <a:spAutoFit/>
          </a:bodyPr>
          <a:lstStyle/>
          <a:p>
            <a:pPr algn="l">
              <a:spcBef>
                <a:spcPts val="1200"/>
              </a:spcBef>
              <a:spcAft>
                <a:spcPts val="600"/>
              </a:spcAft>
            </a:pPr>
            <a:r>
              <a:rPr lang="en-US" sz="2400" b="1" dirty="0">
                <a:solidFill>
                  <a:srgbClr val="FFA93A"/>
                </a:solidFill>
              </a:rPr>
              <a:t>Faster time to market</a:t>
            </a:r>
          </a:p>
          <a:p>
            <a:pPr algn="l">
              <a:spcBef>
                <a:spcPts val="1800"/>
              </a:spcBef>
              <a:spcAft>
                <a:spcPts val="600"/>
              </a:spcAft>
            </a:pPr>
            <a:r>
              <a:rPr lang="en-US" sz="2400" dirty="0">
                <a:solidFill>
                  <a:schemeClr val="bg1"/>
                </a:solidFill>
              </a:rPr>
              <a:t>You can spin up new instances or retire them in seconds, allowing developers to accelerate development with quick deployments. Cloud computing supports new innovations by making it easy to test new ideas and design new applications without hardware limitations or slow procurement processes.</a:t>
            </a:r>
          </a:p>
          <a:p>
            <a:pPr algn="l">
              <a:spcBef>
                <a:spcPts val="1200"/>
              </a:spcBef>
              <a:spcAft>
                <a:spcPts val="600"/>
              </a:spcAft>
            </a:pPr>
            <a:r>
              <a:rPr lang="en-US" sz="2400" b="1" dirty="0">
                <a:solidFill>
                  <a:srgbClr val="FFA93A"/>
                </a:solidFill>
              </a:rPr>
              <a:t>Scalability and flexibility</a:t>
            </a:r>
          </a:p>
          <a:p>
            <a:pPr algn="l">
              <a:spcBef>
                <a:spcPts val="1800"/>
              </a:spcBef>
              <a:spcAft>
                <a:spcPts val="600"/>
              </a:spcAft>
            </a:pPr>
            <a:r>
              <a:rPr lang="en-US" sz="2400" dirty="0">
                <a:solidFill>
                  <a:schemeClr val="bg1"/>
                </a:solidFill>
              </a:rPr>
              <a:t>Cloud computing gives your business more flexibility. You can quickly scale resources and storage up to meet business demands without having to invest in physical infrastructure.</a:t>
            </a:r>
          </a:p>
          <a:p>
            <a:pPr algn="l">
              <a:spcBef>
                <a:spcPts val="1800"/>
              </a:spcBef>
              <a:spcAft>
                <a:spcPts val="600"/>
              </a:spcAft>
            </a:pPr>
            <a:r>
              <a:rPr lang="en-US" sz="2400" dirty="0">
                <a:solidFill>
                  <a:schemeClr val="bg1"/>
                </a:solidFill>
              </a:rPr>
              <a:t>Companies don’t need to pay for or build the infrastructure </a:t>
            </a:r>
            <a:r>
              <a:rPr lang="en-US" sz="2400" b="0" i="0" dirty="0">
                <a:solidFill>
                  <a:schemeClr val="bg1"/>
                </a:solidFill>
                <a:effectLst/>
                <a:latin typeface="Google Sans Text"/>
              </a:rPr>
              <a:t>needed to support their highest load levels. Likewise, they can quickly scale down if resources aren’t being used.  </a:t>
            </a:r>
          </a:p>
          <a:p>
            <a:pPr>
              <a:spcAft>
                <a:spcPts val="600"/>
              </a:spcAft>
            </a:pPr>
            <a:endParaRPr lang="en-EG" sz="2400" dirty="0">
              <a:solidFill>
                <a:schemeClr val="bg1"/>
              </a:solidFill>
            </a:endParaRPr>
          </a:p>
        </p:txBody>
      </p:sp>
    </p:spTree>
    <p:extLst>
      <p:ext uri="{BB962C8B-B14F-4D97-AF65-F5344CB8AC3E}">
        <p14:creationId xmlns:p14="http://schemas.microsoft.com/office/powerpoint/2010/main" val="3400490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52256-BBFE-461C-5185-3152704A81C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17BA147-1FE1-FFFD-EAA1-2CB11DBA4607}"/>
              </a:ext>
            </a:extLst>
          </p:cNvPr>
          <p:cNvSpPr txBox="1"/>
          <p:nvPr/>
        </p:nvSpPr>
        <p:spPr>
          <a:xfrm>
            <a:off x="177631" y="590239"/>
            <a:ext cx="5572240"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Advantages</a:t>
            </a:r>
            <a:endParaRPr lang="en-ID" sz="2400" dirty="0">
              <a:solidFill>
                <a:schemeClr val="bg1"/>
              </a:solidFill>
              <a:latin typeface="Arial Black" panose="020B0A04020102020204" pitchFamily="34" charset="0"/>
            </a:endParaRPr>
          </a:p>
        </p:txBody>
      </p:sp>
      <p:sp>
        <p:nvSpPr>
          <p:cNvPr id="5" name="TextBox 4">
            <a:extLst>
              <a:ext uri="{FF2B5EF4-FFF2-40B4-BE49-F238E27FC236}">
                <a16:creationId xmlns:a16="http://schemas.microsoft.com/office/drawing/2014/main" id="{CB44F992-F9E3-B825-B055-FE6BAEF24776}"/>
              </a:ext>
            </a:extLst>
          </p:cNvPr>
          <p:cNvSpPr txBox="1"/>
          <p:nvPr/>
        </p:nvSpPr>
        <p:spPr>
          <a:xfrm>
            <a:off x="177631" y="1353702"/>
            <a:ext cx="11784520" cy="5124480"/>
          </a:xfrm>
          <a:prstGeom prst="rect">
            <a:avLst/>
          </a:prstGeom>
          <a:noFill/>
        </p:spPr>
        <p:txBody>
          <a:bodyPr wrap="square" rtlCol="0">
            <a:spAutoFit/>
          </a:bodyPr>
          <a:lstStyle/>
          <a:p>
            <a:pPr algn="l">
              <a:spcBef>
                <a:spcPts val="1200"/>
              </a:spcBef>
              <a:spcAft>
                <a:spcPts val="1800"/>
              </a:spcAft>
            </a:pPr>
            <a:r>
              <a:rPr lang="en-US" sz="2400" b="1" i="0" dirty="0">
                <a:solidFill>
                  <a:srgbClr val="FFA93A"/>
                </a:solidFill>
                <a:effectLst/>
                <a:latin typeface="Google Sans"/>
              </a:rPr>
              <a:t>Cost savings</a:t>
            </a:r>
          </a:p>
          <a:p>
            <a:pPr algn="l">
              <a:spcBef>
                <a:spcPts val="1800"/>
              </a:spcBef>
              <a:spcAft>
                <a:spcPts val="1800"/>
              </a:spcAft>
            </a:pPr>
            <a:r>
              <a:rPr lang="en-US" sz="2400" b="0" i="0" dirty="0">
                <a:solidFill>
                  <a:schemeClr val="bg1"/>
                </a:solidFill>
                <a:effectLst/>
                <a:latin typeface="Google Sans Text"/>
              </a:rPr>
              <a:t>Whatever cloud service model you choose, you only pay for the resources you actually use. This helps you avoid overbuilding and overprovisioning your data center and gives your IT teams back valuable time to focus on more strategic work. </a:t>
            </a:r>
          </a:p>
          <a:p>
            <a:pPr>
              <a:spcBef>
                <a:spcPts val="1200"/>
              </a:spcBef>
              <a:spcAft>
                <a:spcPts val="1800"/>
              </a:spcAft>
            </a:pPr>
            <a:r>
              <a:rPr lang="en-US" sz="2400" b="1" dirty="0">
                <a:solidFill>
                  <a:srgbClr val="FFA93A"/>
                </a:solidFill>
                <a:latin typeface="Google Sans"/>
              </a:rPr>
              <a:t>Better collaboration</a:t>
            </a:r>
          </a:p>
          <a:p>
            <a:pPr algn="l">
              <a:spcBef>
                <a:spcPts val="1800"/>
              </a:spcBef>
              <a:spcAft>
                <a:spcPts val="600"/>
              </a:spcAft>
            </a:pPr>
            <a:r>
              <a:rPr lang="en-US" sz="2400" b="0" i="0" dirty="0">
                <a:solidFill>
                  <a:schemeClr val="bg1"/>
                </a:solidFill>
                <a:effectLst/>
                <a:latin typeface="Google Sans Text"/>
              </a:rPr>
              <a:t>Cloud storage enables you to make data available anywhere you are, anytime you need it. Instead of being tied to a location or specific device, people can access data from anywhere in the world from any device—as long as they have an internet connection.</a:t>
            </a:r>
          </a:p>
          <a:p>
            <a:br>
              <a:rPr lang="en-US" sz="2400" dirty="0">
                <a:solidFill>
                  <a:schemeClr val="bg1"/>
                </a:solidFill>
              </a:rPr>
            </a:br>
            <a:endParaRPr lang="en-EG" sz="2400" dirty="0">
              <a:solidFill>
                <a:schemeClr val="bg1"/>
              </a:solidFill>
            </a:endParaRPr>
          </a:p>
        </p:txBody>
      </p:sp>
    </p:spTree>
    <p:extLst>
      <p:ext uri="{BB962C8B-B14F-4D97-AF65-F5344CB8AC3E}">
        <p14:creationId xmlns:p14="http://schemas.microsoft.com/office/powerpoint/2010/main" val="434569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6ED80-8CD3-2AC4-614B-B987CA65237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D68B1A3-764E-399A-C5E0-40FC6B5C43E9}"/>
              </a:ext>
            </a:extLst>
          </p:cNvPr>
          <p:cNvSpPr txBox="1"/>
          <p:nvPr/>
        </p:nvSpPr>
        <p:spPr>
          <a:xfrm>
            <a:off x="177631" y="590239"/>
            <a:ext cx="5572240"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Advantages</a:t>
            </a:r>
            <a:endParaRPr lang="en-ID" sz="2400" dirty="0">
              <a:solidFill>
                <a:schemeClr val="bg1"/>
              </a:solidFill>
              <a:latin typeface="Arial Black" panose="020B0A04020102020204" pitchFamily="34" charset="0"/>
            </a:endParaRPr>
          </a:p>
        </p:txBody>
      </p:sp>
      <p:sp>
        <p:nvSpPr>
          <p:cNvPr id="5" name="TextBox 4">
            <a:extLst>
              <a:ext uri="{FF2B5EF4-FFF2-40B4-BE49-F238E27FC236}">
                <a16:creationId xmlns:a16="http://schemas.microsoft.com/office/drawing/2014/main" id="{A7740BCC-A71F-B327-5AAA-AED968981B6B}"/>
              </a:ext>
            </a:extLst>
          </p:cNvPr>
          <p:cNvSpPr txBox="1"/>
          <p:nvPr/>
        </p:nvSpPr>
        <p:spPr>
          <a:xfrm>
            <a:off x="177631" y="1218790"/>
            <a:ext cx="11784520" cy="5196294"/>
          </a:xfrm>
          <a:prstGeom prst="rect">
            <a:avLst/>
          </a:prstGeom>
          <a:noFill/>
        </p:spPr>
        <p:txBody>
          <a:bodyPr wrap="square" rtlCol="0">
            <a:spAutoFit/>
          </a:bodyPr>
          <a:lstStyle/>
          <a:p>
            <a:pPr algn="l">
              <a:spcBef>
                <a:spcPts val="1200"/>
              </a:spcBef>
              <a:spcAft>
                <a:spcPts val="1800"/>
              </a:spcAft>
            </a:pPr>
            <a:r>
              <a:rPr lang="en-US" sz="2400" b="1" i="0" dirty="0">
                <a:solidFill>
                  <a:srgbClr val="FFA93A"/>
                </a:solidFill>
                <a:effectLst/>
                <a:latin typeface="Google Sans"/>
              </a:rPr>
              <a:t>Advanced security</a:t>
            </a:r>
          </a:p>
          <a:p>
            <a:pPr algn="l">
              <a:spcBef>
                <a:spcPts val="1000"/>
              </a:spcBef>
              <a:spcAft>
                <a:spcPts val="1000"/>
              </a:spcAft>
            </a:pPr>
            <a:r>
              <a:rPr lang="en-US" sz="2400" b="0" i="0" dirty="0">
                <a:solidFill>
                  <a:schemeClr val="bg1"/>
                </a:solidFill>
                <a:effectLst/>
                <a:latin typeface="Google Sans Text"/>
              </a:rPr>
              <a:t>Despite popular perceptions, cloud computing can actually strengthen your security posture because of the depth and breadth of security features, automatic maintenance, and centralized management.</a:t>
            </a:r>
          </a:p>
          <a:p>
            <a:pPr algn="l">
              <a:spcBef>
                <a:spcPts val="1200"/>
              </a:spcBef>
              <a:spcAft>
                <a:spcPts val="1800"/>
              </a:spcAft>
            </a:pPr>
            <a:r>
              <a:rPr lang="en-US" sz="2400" b="0" i="0" dirty="0">
                <a:solidFill>
                  <a:schemeClr val="bg1"/>
                </a:solidFill>
                <a:effectLst/>
                <a:latin typeface="Google Sans Text"/>
              </a:rPr>
              <a:t>Reputable cloud providers also hire top security experts and employ the most advanced solutions, providing more robust protection. </a:t>
            </a:r>
          </a:p>
          <a:p>
            <a:pPr>
              <a:spcBef>
                <a:spcPts val="1000"/>
              </a:spcBef>
              <a:spcAft>
                <a:spcPts val="1000"/>
              </a:spcAft>
            </a:pPr>
            <a:r>
              <a:rPr lang="en-US" sz="2400" b="1" dirty="0">
                <a:solidFill>
                  <a:srgbClr val="FFA93A"/>
                </a:solidFill>
                <a:latin typeface="Google Sans"/>
              </a:rPr>
              <a:t>Data loss prevention</a:t>
            </a:r>
          </a:p>
          <a:p>
            <a:pPr algn="l">
              <a:spcBef>
                <a:spcPts val="1200"/>
              </a:spcBef>
              <a:spcAft>
                <a:spcPts val="1200"/>
              </a:spcAft>
            </a:pPr>
            <a:r>
              <a:rPr lang="en-US" sz="2400" b="0" i="0" dirty="0">
                <a:solidFill>
                  <a:schemeClr val="bg1"/>
                </a:solidFill>
                <a:effectLst/>
                <a:latin typeface="Google Sans Text"/>
              </a:rPr>
              <a:t>Cloud providers offer backup and disaster recovery features. Storing data in the cloud rather than locally can help prevent data loss in the event of an emergency, such as hardware malfunction, malicious threats, or even simple user error. </a:t>
            </a:r>
          </a:p>
        </p:txBody>
      </p:sp>
    </p:spTree>
    <p:extLst>
      <p:ext uri="{BB962C8B-B14F-4D97-AF65-F5344CB8AC3E}">
        <p14:creationId xmlns:p14="http://schemas.microsoft.com/office/powerpoint/2010/main" val="670916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9CE24-5522-D6E1-A440-7973E382738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961A8B8-EE56-DF95-B73D-79DCF8B644B0}"/>
              </a:ext>
            </a:extLst>
          </p:cNvPr>
          <p:cNvSpPr txBox="1"/>
          <p:nvPr/>
        </p:nvSpPr>
        <p:spPr>
          <a:xfrm>
            <a:off x="177631" y="590239"/>
            <a:ext cx="5572240"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Disadvantages</a:t>
            </a:r>
            <a:endParaRPr lang="en-ID" sz="2400" dirty="0">
              <a:solidFill>
                <a:schemeClr val="bg1"/>
              </a:solidFill>
              <a:latin typeface="Arial Black" panose="020B0A04020102020204" pitchFamily="34" charset="0"/>
            </a:endParaRPr>
          </a:p>
        </p:txBody>
      </p:sp>
      <p:sp>
        <p:nvSpPr>
          <p:cNvPr id="5" name="TextBox 4">
            <a:extLst>
              <a:ext uri="{FF2B5EF4-FFF2-40B4-BE49-F238E27FC236}">
                <a16:creationId xmlns:a16="http://schemas.microsoft.com/office/drawing/2014/main" id="{0EB08EBC-DCE1-D523-BC81-B35A22A743D5}"/>
              </a:ext>
            </a:extLst>
          </p:cNvPr>
          <p:cNvSpPr txBox="1"/>
          <p:nvPr/>
        </p:nvSpPr>
        <p:spPr>
          <a:xfrm>
            <a:off x="177631" y="1368692"/>
            <a:ext cx="11784520" cy="4524315"/>
          </a:xfrm>
          <a:prstGeom prst="rect">
            <a:avLst/>
          </a:prstGeom>
          <a:noFill/>
        </p:spPr>
        <p:txBody>
          <a:bodyPr wrap="square" rtlCol="0">
            <a:spAutoFit/>
          </a:bodyPr>
          <a:lstStyle/>
          <a:p>
            <a:pPr algn="just"/>
            <a:r>
              <a:rPr lang="en-US" sz="2400" b="1" i="0" dirty="0">
                <a:solidFill>
                  <a:srgbClr val="FFA93A"/>
                </a:solidFill>
                <a:effectLst/>
              </a:rPr>
              <a:t>Vendor Reliability and Downtime</a:t>
            </a:r>
          </a:p>
          <a:p>
            <a:pPr algn="just">
              <a:buFont typeface="Arial" panose="020B0604020202020204" pitchFamily="34" charset="0"/>
              <a:buChar char="•"/>
            </a:pPr>
            <a:endParaRPr lang="en-US" sz="2400" b="0" i="0" dirty="0">
              <a:solidFill>
                <a:schemeClr val="bg1"/>
              </a:solidFill>
              <a:effectLst/>
            </a:endParaRPr>
          </a:p>
          <a:p>
            <a:pPr algn="just"/>
            <a:r>
              <a:rPr lang="en-US" sz="2400" b="0" i="0" dirty="0">
                <a:solidFill>
                  <a:schemeClr val="bg1"/>
                </a:solidFill>
                <a:effectLst/>
              </a:rPr>
              <a:t>Because of technological difficulties, maintenance needs, or even cyberattacks, cloud service providers can face outages or downtime. Users may not be able to access their data or applications during these times, which can interfere with business operations and productivity.</a:t>
            </a:r>
          </a:p>
          <a:p>
            <a:pPr algn="just"/>
            <a:endParaRPr lang="en-US" sz="2400" b="0" i="0" dirty="0">
              <a:solidFill>
                <a:schemeClr val="bg1"/>
              </a:solidFill>
              <a:effectLst/>
            </a:endParaRPr>
          </a:p>
          <a:p>
            <a:pPr algn="just"/>
            <a:r>
              <a:rPr lang="en-US" sz="2400" b="1" i="0" dirty="0">
                <a:solidFill>
                  <a:srgbClr val="FFA93A"/>
                </a:solidFill>
                <a:effectLst/>
              </a:rPr>
              <a:t>Internet Dependency</a:t>
            </a:r>
          </a:p>
          <a:p>
            <a:pPr algn="just">
              <a:buFont typeface="Arial" panose="020B0604020202020204" pitchFamily="34" charset="0"/>
              <a:buChar char="•"/>
            </a:pPr>
            <a:endParaRPr lang="en-US" sz="2400" b="0" i="0" dirty="0">
              <a:solidFill>
                <a:schemeClr val="bg1"/>
              </a:solidFill>
              <a:effectLst/>
            </a:endParaRPr>
          </a:p>
          <a:p>
            <a:pPr algn="just"/>
            <a:r>
              <a:rPr lang="en-US" sz="2400" b="0" i="0" dirty="0">
                <a:solidFill>
                  <a:schemeClr val="bg1"/>
                </a:solidFill>
                <a:effectLst/>
              </a:rPr>
              <a:t>A dependable and fast internet connection is essential for cloud computing. Business operations may be delayed or interrupted if there are connectivity problems or interruptions in the internet service that affect access to cloud services and data.</a:t>
            </a:r>
          </a:p>
        </p:txBody>
      </p:sp>
    </p:spTree>
    <p:extLst>
      <p:ext uri="{BB962C8B-B14F-4D97-AF65-F5344CB8AC3E}">
        <p14:creationId xmlns:p14="http://schemas.microsoft.com/office/powerpoint/2010/main" val="3119005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C09A4-971B-09B1-F869-34B0570B5C8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0F361B1-77A0-E668-9B62-844FA034CA4A}"/>
              </a:ext>
            </a:extLst>
          </p:cNvPr>
          <p:cNvSpPr txBox="1"/>
          <p:nvPr/>
        </p:nvSpPr>
        <p:spPr>
          <a:xfrm>
            <a:off x="177631" y="590239"/>
            <a:ext cx="5572240"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Disadvantages</a:t>
            </a:r>
            <a:endParaRPr lang="en-ID" sz="2400" dirty="0">
              <a:solidFill>
                <a:schemeClr val="bg1"/>
              </a:solidFill>
              <a:latin typeface="Arial Black" panose="020B0A04020102020204" pitchFamily="34" charset="0"/>
            </a:endParaRPr>
          </a:p>
        </p:txBody>
      </p:sp>
      <p:sp>
        <p:nvSpPr>
          <p:cNvPr id="5" name="TextBox 4">
            <a:extLst>
              <a:ext uri="{FF2B5EF4-FFF2-40B4-BE49-F238E27FC236}">
                <a16:creationId xmlns:a16="http://schemas.microsoft.com/office/drawing/2014/main" id="{1F927C4E-50A6-C8F6-AF17-55B2E0392324}"/>
              </a:ext>
            </a:extLst>
          </p:cNvPr>
          <p:cNvSpPr txBox="1"/>
          <p:nvPr/>
        </p:nvSpPr>
        <p:spPr>
          <a:xfrm>
            <a:off x="177631" y="1225689"/>
            <a:ext cx="11784520" cy="5632311"/>
          </a:xfrm>
          <a:prstGeom prst="rect">
            <a:avLst/>
          </a:prstGeom>
          <a:noFill/>
        </p:spPr>
        <p:txBody>
          <a:bodyPr wrap="square" rtlCol="0">
            <a:spAutoFit/>
          </a:bodyPr>
          <a:lstStyle/>
          <a:p>
            <a:r>
              <a:rPr lang="en-US" sz="2400" b="1" dirty="0">
                <a:solidFill>
                  <a:srgbClr val="FFA93A"/>
                </a:solidFill>
              </a:rPr>
              <a:t>Limited Control and Customization</a:t>
            </a:r>
            <a:br>
              <a:rPr lang="en-US" sz="2400" b="1" dirty="0">
                <a:solidFill>
                  <a:schemeClr val="bg1"/>
                </a:solidFill>
              </a:rPr>
            </a:br>
            <a:endParaRPr lang="en-US" sz="2400" dirty="0">
              <a:solidFill>
                <a:schemeClr val="bg1"/>
              </a:solidFill>
            </a:endParaRPr>
          </a:p>
          <a:p>
            <a:r>
              <a:rPr lang="en-US" sz="2400" dirty="0">
                <a:solidFill>
                  <a:schemeClr val="bg1"/>
                </a:solidFill>
              </a:rPr>
              <a:t>Using standardized services and platforms offered by the cloud service provider is a common part of cloud computing. As a result, organizations may have less ability to customize and control their infrastructure, applications, and security measures. It may be difficult for some organizations to modify cloud services to precisely match their needs if they have special requirements or compliance requirements.</a:t>
            </a:r>
            <a:br>
              <a:rPr lang="en-US" sz="2400" dirty="0">
                <a:solidFill>
                  <a:schemeClr val="bg1"/>
                </a:solidFill>
              </a:rPr>
            </a:br>
            <a:endParaRPr lang="en-US" sz="2400" dirty="0">
              <a:solidFill>
                <a:schemeClr val="bg1"/>
              </a:solidFill>
            </a:endParaRPr>
          </a:p>
          <a:p>
            <a:r>
              <a:rPr lang="en-US" sz="2400" b="1" dirty="0">
                <a:solidFill>
                  <a:srgbClr val="FFA93A"/>
                </a:solidFill>
              </a:rPr>
              <a:t>Data Security and Concerns about Privacy</a:t>
            </a:r>
            <a:br>
              <a:rPr lang="en-US" sz="2400" b="1" dirty="0">
                <a:solidFill>
                  <a:schemeClr val="bg1"/>
                </a:solidFill>
              </a:rPr>
            </a:br>
            <a:endParaRPr lang="en-US" sz="2400" dirty="0">
              <a:solidFill>
                <a:schemeClr val="bg1"/>
              </a:solidFill>
            </a:endParaRPr>
          </a:p>
          <a:p>
            <a:r>
              <a:rPr lang="en-US" sz="2400" dirty="0">
                <a:solidFill>
                  <a:schemeClr val="bg1"/>
                </a:solidFill>
              </a:rPr>
              <a:t>Concerns about data security and privacy arise when sensitive data is stored on the cloud. Businesses must have faith in the cloud service provider's security procedures, data encryption, access controls, and regulatory compliance. Unauthorized access to data or data breaches can have serious repercussions, including financial loss, reputational harm, and legal obligations.</a:t>
            </a:r>
          </a:p>
        </p:txBody>
      </p:sp>
    </p:spTree>
    <p:extLst>
      <p:ext uri="{BB962C8B-B14F-4D97-AF65-F5344CB8AC3E}">
        <p14:creationId xmlns:p14="http://schemas.microsoft.com/office/powerpoint/2010/main" val="537143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06516-8474-2E6C-CAD4-DEEF3F62605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7DC5A9D-2E3E-52E7-65C0-3071F1914AEF}"/>
              </a:ext>
            </a:extLst>
          </p:cNvPr>
          <p:cNvSpPr txBox="1"/>
          <p:nvPr/>
        </p:nvSpPr>
        <p:spPr>
          <a:xfrm>
            <a:off x="177631" y="590239"/>
            <a:ext cx="5572240"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Disadvantages</a:t>
            </a:r>
            <a:endParaRPr lang="en-ID" sz="2400" dirty="0">
              <a:solidFill>
                <a:schemeClr val="bg1"/>
              </a:solidFill>
              <a:latin typeface="Arial Black" panose="020B0A04020102020204" pitchFamily="34" charset="0"/>
            </a:endParaRPr>
          </a:p>
        </p:txBody>
      </p:sp>
      <p:sp>
        <p:nvSpPr>
          <p:cNvPr id="5" name="TextBox 4">
            <a:extLst>
              <a:ext uri="{FF2B5EF4-FFF2-40B4-BE49-F238E27FC236}">
                <a16:creationId xmlns:a16="http://schemas.microsoft.com/office/drawing/2014/main" id="{646F7956-7298-DC73-7432-ECC99384A052}"/>
              </a:ext>
            </a:extLst>
          </p:cNvPr>
          <p:cNvSpPr txBox="1"/>
          <p:nvPr/>
        </p:nvSpPr>
        <p:spPr>
          <a:xfrm>
            <a:off x="177631" y="1225689"/>
            <a:ext cx="11784520" cy="4893647"/>
          </a:xfrm>
          <a:prstGeom prst="rect">
            <a:avLst/>
          </a:prstGeom>
          <a:noFill/>
        </p:spPr>
        <p:txBody>
          <a:bodyPr wrap="square" rtlCol="0">
            <a:spAutoFit/>
          </a:bodyPr>
          <a:lstStyle/>
          <a:p>
            <a:r>
              <a:rPr lang="en-US" sz="2400" b="1" dirty="0">
                <a:solidFill>
                  <a:srgbClr val="FFA93A"/>
                </a:solidFill>
              </a:rPr>
              <a:t>Hidden Costs and Pricing Models</a:t>
            </a:r>
          </a:p>
          <a:p>
            <a:endParaRPr lang="en-US" sz="2400" dirty="0">
              <a:solidFill>
                <a:srgbClr val="FFA93A"/>
              </a:solidFill>
            </a:endParaRPr>
          </a:p>
          <a:p>
            <a:r>
              <a:rPr lang="en-US" sz="2400" dirty="0">
                <a:solidFill>
                  <a:schemeClr val="bg1"/>
                </a:solidFill>
              </a:rPr>
              <a:t>Although pay-as-you-go models and lower upfront costs make cloud computing more affordable, businesses should be wary of hidden charges. Data transfer fees, additional storage costs, fees for specialized support or technical assistance, and expenses related to regulatory compliance are a few examples.</a:t>
            </a:r>
          </a:p>
          <a:p>
            <a:endParaRPr lang="en-US" sz="2400" dirty="0">
              <a:solidFill>
                <a:schemeClr val="bg1"/>
              </a:solidFill>
            </a:endParaRPr>
          </a:p>
          <a:p>
            <a:r>
              <a:rPr lang="en-US" sz="2400" b="1" dirty="0">
                <a:solidFill>
                  <a:srgbClr val="FFA93A"/>
                </a:solidFill>
              </a:rPr>
              <a:t>Dependency on Service Provider</a:t>
            </a:r>
          </a:p>
          <a:p>
            <a:endParaRPr lang="en-US" sz="2400" dirty="0">
              <a:solidFill>
                <a:srgbClr val="FFA93A"/>
              </a:solidFill>
            </a:endParaRPr>
          </a:p>
          <a:p>
            <a:r>
              <a:rPr lang="en-US" sz="2400" dirty="0">
                <a:solidFill>
                  <a:schemeClr val="bg1"/>
                </a:solidFill>
              </a:rPr>
              <a:t>When an organization depends on a cloud service provider, it is dependent on that provider's dependability, financial security, and longevity. Users may have disruptions and difficulties switching to alternate options if the provider runs into financial difficulties, changes their pricing policy, or even closes down their services.</a:t>
            </a:r>
          </a:p>
        </p:txBody>
      </p:sp>
    </p:spTree>
    <p:extLst>
      <p:ext uri="{BB962C8B-B14F-4D97-AF65-F5344CB8AC3E}">
        <p14:creationId xmlns:p14="http://schemas.microsoft.com/office/powerpoint/2010/main" val="3556346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1" name="Straight Arrow Connector 43">
            <a:extLst>
              <a:ext uri="{FF2B5EF4-FFF2-40B4-BE49-F238E27FC236}">
                <a16:creationId xmlns:a16="http://schemas.microsoft.com/office/drawing/2014/main" id="{D64699C8-00A8-5B66-5FFE-BDF344DA75F1}"/>
              </a:ext>
            </a:extLst>
          </p:cNvPr>
          <p:cNvCxnSpPr>
            <a:cxnSpLocks/>
          </p:cNvCxnSpPr>
          <p:nvPr/>
        </p:nvCxnSpPr>
        <p:spPr>
          <a:xfrm>
            <a:off x="6396986" y="834894"/>
            <a:ext cx="1059241" cy="2601547"/>
          </a:xfrm>
          <a:prstGeom prst="straightConnector1">
            <a:avLst/>
          </a:prstGeom>
          <a:ln>
            <a:headEnd type="triangle"/>
            <a:tailEnd type="none"/>
          </a:ln>
        </p:spPr>
        <p:style>
          <a:lnRef idx="1">
            <a:schemeClr val="accent5"/>
          </a:lnRef>
          <a:fillRef idx="0">
            <a:schemeClr val="accent5"/>
          </a:fillRef>
          <a:effectRef idx="0">
            <a:schemeClr val="accent5"/>
          </a:effectRef>
          <a:fontRef idx="minor">
            <a:schemeClr val="tx1"/>
          </a:fontRef>
        </p:style>
      </p:cxnSp>
      <p:cxnSp>
        <p:nvCxnSpPr>
          <p:cNvPr id="22" name="Straight Arrow Connector 21">
            <a:extLst>
              <a:ext uri="{FF2B5EF4-FFF2-40B4-BE49-F238E27FC236}">
                <a16:creationId xmlns:a16="http://schemas.microsoft.com/office/drawing/2014/main" id="{A9EE4219-C2F5-39AD-3D47-B6A98B40BDF2}"/>
              </a:ext>
            </a:extLst>
          </p:cNvPr>
          <p:cNvCxnSpPr>
            <a:cxnSpLocks/>
          </p:cNvCxnSpPr>
          <p:nvPr/>
        </p:nvCxnSpPr>
        <p:spPr>
          <a:xfrm>
            <a:off x="5601884" y="3409309"/>
            <a:ext cx="1059241" cy="2601547"/>
          </a:xfrm>
          <a:prstGeom prst="straightConnector1">
            <a:avLst/>
          </a:prstGeom>
          <a:ln>
            <a:solidFill>
              <a:srgbClr val="FFA93A"/>
            </a:solidFill>
            <a:tailEnd type="triangle"/>
          </a:ln>
        </p:spPr>
        <p:style>
          <a:lnRef idx="2">
            <a:schemeClr val="accent2"/>
          </a:lnRef>
          <a:fillRef idx="0">
            <a:schemeClr val="accent2"/>
          </a:fillRef>
          <a:effectRef idx="1">
            <a:schemeClr val="accent2"/>
          </a:effectRef>
          <a:fontRef idx="minor">
            <a:schemeClr val="tx1"/>
          </a:fontRef>
        </p:style>
      </p:cxnSp>
      <p:cxnSp>
        <p:nvCxnSpPr>
          <p:cNvPr id="23" name="Straight Arrow Connector 22">
            <a:extLst>
              <a:ext uri="{FF2B5EF4-FFF2-40B4-BE49-F238E27FC236}">
                <a16:creationId xmlns:a16="http://schemas.microsoft.com/office/drawing/2014/main" id="{D981EFE1-F4FB-5744-3BE2-A198F92D7E85}"/>
              </a:ext>
            </a:extLst>
          </p:cNvPr>
          <p:cNvCxnSpPr>
            <a:cxnSpLocks/>
          </p:cNvCxnSpPr>
          <p:nvPr/>
        </p:nvCxnSpPr>
        <p:spPr>
          <a:xfrm>
            <a:off x="9298466" y="3411594"/>
            <a:ext cx="885105" cy="2601459"/>
          </a:xfrm>
          <a:prstGeom prst="straightConnector1">
            <a:avLst/>
          </a:prstGeom>
          <a:ln>
            <a:solidFill>
              <a:srgbClr val="FFA93A"/>
            </a:solidFill>
            <a:tailEnd type="triangle"/>
          </a:ln>
        </p:spPr>
        <p:style>
          <a:lnRef idx="1">
            <a:schemeClr val="accent5"/>
          </a:lnRef>
          <a:fillRef idx="0">
            <a:schemeClr val="accent5"/>
          </a:fillRef>
          <a:effectRef idx="0">
            <a:schemeClr val="accent5"/>
          </a:effectRef>
          <a:fontRef idx="minor">
            <a:schemeClr val="tx1"/>
          </a:fontRef>
        </p:style>
      </p:cxnSp>
      <p:sp>
        <p:nvSpPr>
          <p:cNvPr id="27" name="Parallelogram 26">
            <a:extLst>
              <a:ext uri="{FF2B5EF4-FFF2-40B4-BE49-F238E27FC236}">
                <a16:creationId xmlns:a16="http://schemas.microsoft.com/office/drawing/2014/main" id="{1605B52F-ECDF-CD0F-482D-A6D61D2EDDC7}"/>
              </a:ext>
            </a:extLst>
          </p:cNvPr>
          <p:cNvSpPr/>
          <p:nvPr/>
        </p:nvSpPr>
        <p:spPr>
          <a:xfrm rot="4185827">
            <a:off x="4270520" y="2655660"/>
            <a:ext cx="1135599" cy="1516910"/>
          </a:xfrm>
          <a:prstGeom prst="parallelogram">
            <a:avLst>
              <a:gd name="adj" fmla="val 48341"/>
            </a:avLst>
          </a:prstGeom>
          <a:solidFill>
            <a:srgbClr val="FFA9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29" name="Parallelogram 28">
            <a:extLst>
              <a:ext uri="{FF2B5EF4-FFF2-40B4-BE49-F238E27FC236}">
                <a16:creationId xmlns:a16="http://schemas.microsoft.com/office/drawing/2014/main" id="{4D0E26C1-287B-2ED7-8608-CA03A6D7D44A}"/>
              </a:ext>
            </a:extLst>
          </p:cNvPr>
          <p:cNvSpPr/>
          <p:nvPr/>
        </p:nvSpPr>
        <p:spPr>
          <a:xfrm rot="4185827">
            <a:off x="7943048" y="2646053"/>
            <a:ext cx="1135599" cy="1516910"/>
          </a:xfrm>
          <a:prstGeom prst="parallelogram">
            <a:avLst>
              <a:gd name="adj" fmla="val 48341"/>
            </a:avLst>
          </a:prstGeom>
          <a:solidFill>
            <a:srgbClr val="FFA93A"/>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sz="2700" dirty="0"/>
          </a:p>
        </p:txBody>
      </p:sp>
      <p:sp>
        <p:nvSpPr>
          <p:cNvPr id="28" name="Parallelogram 27">
            <a:extLst>
              <a:ext uri="{FF2B5EF4-FFF2-40B4-BE49-F238E27FC236}">
                <a16:creationId xmlns:a16="http://schemas.microsoft.com/office/drawing/2014/main" id="{F28E7374-0AE0-3A0B-1709-850B181A4294}"/>
              </a:ext>
            </a:extLst>
          </p:cNvPr>
          <p:cNvSpPr/>
          <p:nvPr/>
        </p:nvSpPr>
        <p:spPr>
          <a:xfrm rot="4185827">
            <a:off x="6115964" y="2655660"/>
            <a:ext cx="1135599" cy="1516910"/>
          </a:xfrm>
          <a:prstGeom prst="parallelogram">
            <a:avLst>
              <a:gd name="adj" fmla="val 48341"/>
            </a:avLst>
          </a:prstGeom>
          <a:solidFill>
            <a:srgbClr val="EF14A8"/>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sz="2700" dirty="0"/>
          </a:p>
        </p:txBody>
      </p:sp>
      <p:sp>
        <p:nvSpPr>
          <p:cNvPr id="32" name="직사각형 113">
            <a:extLst>
              <a:ext uri="{FF2B5EF4-FFF2-40B4-BE49-F238E27FC236}">
                <a16:creationId xmlns:a16="http://schemas.microsoft.com/office/drawing/2014/main" id="{01B5C51D-4532-0578-6824-6846D4851C67}"/>
              </a:ext>
            </a:extLst>
          </p:cNvPr>
          <p:cNvSpPr>
            <a:spLocks noChangeArrowheads="1"/>
          </p:cNvSpPr>
          <p:nvPr/>
        </p:nvSpPr>
        <p:spPr bwMode="auto">
          <a:xfrm>
            <a:off x="4334154" y="3221148"/>
            <a:ext cx="992025" cy="400110"/>
          </a:xfrm>
          <a:prstGeom prst="rect">
            <a:avLst/>
          </a:prstGeom>
          <a:noFill/>
          <a:ln w="9525">
            <a:noFill/>
            <a:miter lim="800000"/>
            <a:headEnd/>
            <a:tailEnd/>
          </a:ln>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r>
              <a:rPr lang="en-US" altLang="ko-KR" sz="2000" b="1" dirty="0">
                <a:solidFill>
                  <a:schemeClr val="bg1"/>
                </a:solidFill>
                <a:effectLst>
                  <a:outerShdw blurRad="38100" dist="38100" dir="2700000" algn="tl">
                    <a:srgbClr val="000000">
                      <a:alpha val="43137"/>
                    </a:srgbClr>
                  </a:outerShdw>
                </a:effectLst>
                <a:latin typeface="Georgia Pro Cond" panose="02040506050405020303" pitchFamily="18" charset="0"/>
                <a:cs typeface="Arial" charset="0"/>
              </a:rPr>
              <a:t>1990s</a:t>
            </a:r>
            <a:endParaRPr lang="ko-KR" altLang="en-US" sz="2000" dirty="0">
              <a:solidFill>
                <a:schemeClr val="bg1"/>
              </a:solidFill>
              <a:effectLst>
                <a:outerShdw blurRad="38100" dist="38100" dir="2700000" algn="tl">
                  <a:srgbClr val="000000">
                    <a:alpha val="43137"/>
                  </a:srgbClr>
                </a:outerShdw>
              </a:effectLst>
              <a:latin typeface="Georgia Pro Cond" panose="02040506050405020303" pitchFamily="18" charset="0"/>
            </a:endParaRPr>
          </a:p>
        </p:txBody>
      </p:sp>
      <p:sp>
        <p:nvSpPr>
          <p:cNvPr id="33" name="TextBox 32">
            <a:extLst>
              <a:ext uri="{FF2B5EF4-FFF2-40B4-BE49-F238E27FC236}">
                <a16:creationId xmlns:a16="http://schemas.microsoft.com/office/drawing/2014/main" id="{BEA3C97C-A859-997A-20AC-635B3A1D03A2}"/>
              </a:ext>
            </a:extLst>
          </p:cNvPr>
          <p:cNvSpPr txBox="1"/>
          <p:nvPr/>
        </p:nvSpPr>
        <p:spPr>
          <a:xfrm>
            <a:off x="6175736" y="3221147"/>
            <a:ext cx="1006869" cy="400110"/>
          </a:xfrm>
          <a:prstGeom prst="rect">
            <a:avLst/>
          </a:prstGeom>
          <a:noFill/>
        </p:spPr>
        <p:txBody>
          <a:bodyPr wrap="square" rtlCol="0">
            <a:spAutoFit/>
          </a:bodyPr>
          <a:lstStyle/>
          <a:p>
            <a:pPr algn="ctr"/>
            <a:r>
              <a:rPr lang="en-US" altLang="ko-KR" sz="2000" b="1" dirty="0">
                <a:solidFill>
                  <a:schemeClr val="bg1"/>
                </a:solidFill>
                <a:effectLst>
                  <a:outerShdw blurRad="38100" dist="38100" dir="2700000" algn="tl">
                    <a:srgbClr val="000000">
                      <a:alpha val="43137"/>
                    </a:srgbClr>
                  </a:outerShdw>
                </a:effectLst>
                <a:latin typeface="Georgia Pro Cond" panose="02040506050405020303" pitchFamily="18" charset="0"/>
                <a:cs typeface="Arial" pitchFamily="34" charset="0"/>
              </a:rPr>
              <a:t>2000s</a:t>
            </a:r>
            <a:endParaRPr lang="ko-KR" altLang="en-US" sz="2000" b="1" dirty="0">
              <a:solidFill>
                <a:schemeClr val="bg1"/>
              </a:solidFill>
              <a:effectLst>
                <a:outerShdw blurRad="38100" dist="38100" dir="2700000" algn="tl">
                  <a:srgbClr val="000000">
                    <a:alpha val="43137"/>
                  </a:srgbClr>
                </a:outerShdw>
              </a:effectLst>
              <a:latin typeface="Georgia Pro Cond" panose="02040506050405020303" pitchFamily="18" charset="0"/>
              <a:cs typeface="Arial" pitchFamily="34" charset="0"/>
            </a:endParaRPr>
          </a:p>
        </p:txBody>
      </p:sp>
      <p:sp>
        <p:nvSpPr>
          <p:cNvPr id="34" name="TextBox 33">
            <a:extLst>
              <a:ext uri="{FF2B5EF4-FFF2-40B4-BE49-F238E27FC236}">
                <a16:creationId xmlns:a16="http://schemas.microsoft.com/office/drawing/2014/main" id="{00676F26-82EE-B3E5-A33C-029F598168AF}"/>
              </a:ext>
            </a:extLst>
          </p:cNvPr>
          <p:cNvSpPr txBox="1"/>
          <p:nvPr/>
        </p:nvSpPr>
        <p:spPr>
          <a:xfrm>
            <a:off x="8009983" y="3211540"/>
            <a:ext cx="1006869" cy="400110"/>
          </a:xfrm>
          <a:prstGeom prst="rect">
            <a:avLst/>
          </a:prstGeom>
          <a:noFill/>
        </p:spPr>
        <p:txBody>
          <a:bodyPr wrap="square" rtlCol="0">
            <a:spAutoFit/>
          </a:bodyPr>
          <a:lstStyle/>
          <a:p>
            <a:pPr algn="ctr"/>
            <a:r>
              <a:rPr lang="en-US" altLang="ko-KR" sz="2000" b="1" dirty="0">
                <a:solidFill>
                  <a:schemeClr val="bg1"/>
                </a:solidFill>
                <a:effectLst>
                  <a:outerShdw blurRad="38100" dist="38100" dir="2700000" algn="tl">
                    <a:srgbClr val="000000">
                      <a:alpha val="43137"/>
                    </a:srgbClr>
                  </a:outerShdw>
                </a:effectLst>
                <a:latin typeface="Georgia Pro Cond" panose="02040506050405020303" pitchFamily="18" charset="0"/>
                <a:cs typeface="Arial" pitchFamily="34" charset="0"/>
              </a:rPr>
              <a:t>Today</a:t>
            </a:r>
            <a:endParaRPr lang="ko-KR" altLang="en-US" sz="2000" b="1" dirty="0">
              <a:solidFill>
                <a:schemeClr val="bg1"/>
              </a:solidFill>
              <a:effectLst>
                <a:outerShdw blurRad="38100" dist="38100" dir="2700000" algn="tl">
                  <a:srgbClr val="000000">
                    <a:alpha val="43137"/>
                  </a:srgbClr>
                </a:outerShdw>
              </a:effectLst>
              <a:latin typeface="Georgia Pro Cond" panose="02040506050405020303" pitchFamily="18" charset="0"/>
              <a:cs typeface="Arial" pitchFamily="34" charset="0"/>
            </a:endParaRPr>
          </a:p>
        </p:txBody>
      </p:sp>
      <p:cxnSp>
        <p:nvCxnSpPr>
          <p:cNvPr id="37" name="Straight Arrow Connector 43">
            <a:extLst>
              <a:ext uri="{FF2B5EF4-FFF2-40B4-BE49-F238E27FC236}">
                <a16:creationId xmlns:a16="http://schemas.microsoft.com/office/drawing/2014/main" id="{D9BDF168-630C-2C81-010F-776FE6E35D2D}"/>
              </a:ext>
            </a:extLst>
          </p:cNvPr>
          <p:cNvCxnSpPr>
            <a:cxnSpLocks/>
          </p:cNvCxnSpPr>
          <p:nvPr/>
        </p:nvCxnSpPr>
        <p:spPr>
          <a:xfrm>
            <a:off x="2746914" y="841173"/>
            <a:ext cx="1059241" cy="2601547"/>
          </a:xfrm>
          <a:prstGeom prst="straightConnector1">
            <a:avLst/>
          </a:prstGeom>
          <a:ln>
            <a:headEnd type="triangle"/>
            <a:tailEnd type="none"/>
          </a:ln>
        </p:spPr>
        <p:style>
          <a:lnRef idx="1">
            <a:schemeClr val="accent5"/>
          </a:lnRef>
          <a:fillRef idx="0">
            <a:schemeClr val="accent5"/>
          </a:fillRef>
          <a:effectRef idx="0">
            <a:schemeClr val="accent5"/>
          </a:effectRef>
          <a:fontRef idx="minor">
            <a:schemeClr val="tx1"/>
          </a:fontRef>
        </p:style>
      </p:cxnSp>
      <p:sp>
        <p:nvSpPr>
          <p:cNvPr id="38" name="Parallelogram 36">
            <a:extLst>
              <a:ext uri="{FF2B5EF4-FFF2-40B4-BE49-F238E27FC236}">
                <a16:creationId xmlns:a16="http://schemas.microsoft.com/office/drawing/2014/main" id="{22B1D88B-1D41-B54A-0890-A3300ED354B9}"/>
              </a:ext>
            </a:extLst>
          </p:cNvPr>
          <p:cNvSpPr/>
          <p:nvPr/>
        </p:nvSpPr>
        <p:spPr>
          <a:xfrm rot="4185827">
            <a:off x="2447554" y="2662748"/>
            <a:ext cx="1135599" cy="1516910"/>
          </a:xfrm>
          <a:prstGeom prst="parallelogram">
            <a:avLst>
              <a:gd name="adj" fmla="val 48341"/>
            </a:avLst>
          </a:prstGeom>
          <a:solidFill>
            <a:srgbClr val="EF14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39" name="TextBox 38">
            <a:extLst>
              <a:ext uri="{FF2B5EF4-FFF2-40B4-BE49-F238E27FC236}">
                <a16:creationId xmlns:a16="http://schemas.microsoft.com/office/drawing/2014/main" id="{C985B89C-B531-1751-3D46-0439D64B1CF7}"/>
              </a:ext>
            </a:extLst>
          </p:cNvPr>
          <p:cNvSpPr txBox="1"/>
          <p:nvPr/>
        </p:nvSpPr>
        <p:spPr>
          <a:xfrm>
            <a:off x="2507326" y="3221148"/>
            <a:ext cx="1006869" cy="400110"/>
          </a:xfrm>
          <a:prstGeom prst="rect">
            <a:avLst/>
          </a:prstGeom>
          <a:noFill/>
        </p:spPr>
        <p:txBody>
          <a:bodyPr wrap="square" rtlCol="0">
            <a:spAutoFit/>
          </a:bodyPr>
          <a:lstStyle/>
          <a:p>
            <a:pPr algn="ctr"/>
            <a:r>
              <a:rPr lang="en-US" altLang="ko-KR" sz="2000" b="1" dirty="0">
                <a:solidFill>
                  <a:schemeClr val="bg1"/>
                </a:solidFill>
                <a:effectLst>
                  <a:outerShdw blurRad="38100" dist="38100" dir="2700000" algn="tl">
                    <a:srgbClr val="000000">
                      <a:alpha val="43137"/>
                    </a:srgbClr>
                  </a:outerShdw>
                </a:effectLst>
                <a:latin typeface="Georgia Pro Cond" panose="02040506050405020303" pitchFamily="18" charset="0"/>
                <a:cs typeface="Arial" pitchFamily="34" charset="0"/>
              </a:rPr>
              <a:t>1960s</a:t>
            </a:r>
            <a:endParaRPr lang="ko-KR" altLang="en-US" sz="2000" b="1" dirty="0">
              <a:solidFill>
                <a:schemeClr val="bg1"/>
              </a:solidFill>
              <a:effectLst>
                <a:outerShdw blurRad="38100" dist="38100" dir="2700000" algn="tl">
                  <a:srgbClr val="000000">
                    <a:alpha val="43137"/>
                  </a:srgbClr>
                </a:outerShdw>
              </a:effectLst>
              <a:latin typeface="Georgia Pro Cond" panose="02040506050405020303" pitchFamily="18" charset="0"/>
              <a:cs typeface="Arial" pitchFamily="34" charset="0"/>
            </a:endParaRPr>
          </a:p>
        </p:txBody>
      </p:sp>
      <p:grpSp>
        <p:nvGrpSpPr>
          <p:cNvPr id="4" name="Group 3">
            <a:extLst>
              <a:ext uri="{FF2B5EF4-FFF2-40B4-BE49-F238E27FC236}">
                <a16:creationId xmlns:a16="http://schemas.microsoft.com/office/drawing/2014/main" id="{12DA2FD0-D8D9-D24F-C49F-AD9C707122AB}"/>
              </a:ext>
            </a:extLst>
          </p:cNvPr>
          <p:cNvGrpSpPr/>
          <p:nvPr/>
        </p:nvGrpSpPr>
        <p:grpSpPr>
          <a:xfrm>
            <a:off x="3747540" y="1298824"/>
            <a:ext cx="2928050" cy="1650184"/>
            <a:chOff x="509322" y="1232963"/>
            <a:chExt cx="4734850" cy="1650184"/>
          </a:xfrm>
        </p:grpSpPr>
        <p:sp>
          <p:nvSpPr>
            <p:cNvPr id="20" name="TextBox 19">
              <a:extLst>
                <a:ext uri="{FF2B5EF4-FFF2-40B4-BE49-F238E27FC236}">
                  <a16:creationId xmlns:a16="http://schemas.microsoft.com/office/drawing/2014/main" id="{1AD1C120-693B-C51F-C510-920E4F7E5353}"/>
                </a:ext>
              </a:extLst>
            </p:cNvPr>
            <p:cNvSpPr txBox="1"/>
            <p:nvPr/>
          </p:nvSpPr>
          <p:spPr>
            <a:xfrm>
              <a:off x="509322" y="1559708"/>
              <a:ext cx="4734850" cy="1323439"/>
            </a:xfrm>
            <a:prstGeom prst="rect">
              <a:avLst/>
            </a:prstGeom>
            <a:noFill/>
          </p:spPr>
          <p:txBody>
            <a:bodyPr wrap="square" rtlCol="0">
              <a:spAutoFit/>
            </a:bodyPr>
            <a:lstStyle/>
            <a:p>
              <a:pPr lvl="0"/>
              <a:r>
                <a:rPr lang="en-US" sz="1600" b="0" i="0" dirty="0">
                  <a:solidFill>
                    <a:schemeClr val="bg1"/>
                  </a:solidFill>
                  <a:effectLst/>
                  <a:latin typeface="source-serif-pro"/>
                </a:rPr>
                <a:t>computing model where multiple users can access a single computer system concurrently, sharing its resources such as CPU time, memory,</a:t>
              </a:r>
              <a:endParaRPr lang="en-US" sz="1600" dirty="0">
                <a:solidFill>
                  <a:schemeClr val="bg1"/>
                </a:solidFill>
                <a:latin typeface="Georgia Pro Light" panose="02040302050405020303" pitchFamily="18" charset="0"/>
              </a:endParaRPr>
            </a:p>
          </p:txBody>
        </p:sp>
        <p:sp>
          <p:nvSpPr>
            <p:cNvPr id="21" name="TextBox 20">
              <a:extLst>
                <a:ext uri="{FF2B5EF4-FFF2-40B4-BE49-F238E27FC236}">
                  <a16:creationId xmlns:a16="http://schemas.microsoft.com/office/drawing/2014/main" id="{741A6A8A-FF74-C489-0829-9CDA392489BE}"/>
                </a:ext>
              </a:extLst>
            </p:cNvPr>
            <p:cNvSpPr txBox="1"/>
            <p:nvPr/>
          </p:nvSpPr>
          <p:spPr>
            <a:xfrm>
              <a:off x="509322" y="1232963"/>
              <a:ext cx="4047291" cy="307777"/>
            </a:xfrm>
            <a:prstGeom prst="rect">
              <a:avLst/>
            </a:prstGeom>
            <a:noFill/>
          </p:spPr>
          <p:txBody>
            <a:bodyPr wrap="square" rtlCol="0">
              <a:spAutoFit/>
            </a:bodyPr>
            <a:lstStyle/>
            <a:p>
              <a:pPr lvl="0"/>
              <a:r>
                <a:rPr lang="en-US" sz="1400" b="1" dirty="0">
                  <a:solidFill>
                    <a:srgbClr val="EF14A8"/>
                  </a:solidFill>
                  <a:latin typeface="Georgia" panose="02040502050405020303" pitchFamily="18" charset="0"/>
                </a:rPr>
                <a:t>Time-sharing mainframe</a:t>
              </a:r>
              <a:endParaRPr lang="en-US" sz="1400" b="1" dirty="0">
                <a:solidFill>
                  <a:schemeClr val="accent6"/>
                </a:solidFill>
                <a:latin typeface="Georgia" panose="02040502050405020303" pitchFamily="18" charset="0"/>
              </a:endParaRPr>
            </a:p>
          </p:txBody>
        </p:sp>
      </p:grpSp>
      <p:grpSp>
        <p:nvGrpSpPr>
          <p:cNvPr id="5" name="Group 4">
            <a:extLst>
              <a:ext uri="{FF2B5EF4-FFF2-40B4-BE49-F238E27FC236}">
                <a16:creationId xmlns:a16="http://schemas.microsoft.com/office/drawing/2014/main" id="{4718C86F-F3B3-774E-CEC7-FF132B10AC1E}"/>
              </a:ext>
            </a:extLst>
          </p:cNvPr>
          <p:cNvGrpSpPr/>
          <p:nvPr/>
        </p:nvGrpSpPr>
        <p:grpSpPr>
          <a:xfrm>
            <a:off x="7278787" y="1303504"/>
            <a:ext cx="2122871" cy="1496296"/>
            <a:chOff x="259644" y="1232963"/>
            <a:chExt cx="3432822" cy="1496296"/>
          </a:xfrm>
        </p:grpSpPr>
        <p:sp>
          <p:nvSpPr>
            <p:cNvPr id="18" name="TextBox 17">
              <a:extLst>
                <a:ext uri="{FF2B5EF4-FFF2-40B4-BE49-F238E27FC236}">
                  <a16:creationId xmlns:a16="http://schemas.microsoft.com/office/drawing/2014/main" id="{A409B897-7D1F-20A6-99DB-48140AAB150B}"/>
                </a:ext>
              </a:extLst>
            </p:cNvPr>
            <p:cNvSpPr txBox="1"/>
            <p:nvPr/>
          </p:nvSpPr>
          <p:spPr>
            <a:xfrm>
              <a:off x="294510" y="1559708"/>
              <a:ext cx="3397956" cy="1169551"/>
            </a:xfrm>
            <a:prstGeom prst="rect">
              <a:avLst/>
            </a:prstGeom>
            <a:noFill/>
          </p:spPr>
          <p:txBody>
            <a:bodyPr wrap="square" rtlCol="0">
              <a:spAutoFit/>
            </a:bodyPr>
            <a:lstStyle/>
            <a:p>
              <a:pPr lvl="0"/>
              <a:r>
                <a:rPr lang="en-US" sz="1400" dirty="0">
                  <a:solidFill>
                    <a:schemeClr val="bg1"/>
                  </a:solidFill>
                </a:rPr>
                <a:t>Amazon launched AWS (Amazon Web Services) in 2006, offering EC2 (compute) and S3 (storage) services.</a:t>
              </a:r>
              <a:endParaRPr lang="en-US" sz="1400" dirty="0">
                <a:solidFill>
                  <a:schemeClr val="bg1"/>
                </a:solidFill>
                <a:latin typeface="Georgia Pro Light" panose="02040302050405020303" pitchFamily="18" charset="0"/>
              </a:endParaRPr>
            </a:p>
          </p:txBody>
        </p:sp>
        <p:sp>
          <p:nvSpPr>
            <p:cNvPr id="19" name="TextBox 18">
              <a:extLst>
                <a:ext uri="{FF2B5EF4-FFF2-40B4-BE49-F238E27FC236}">
                  <a16:creationId xmlns:a16="http://schemas.microsoft.com/office/drawing/2014/main" id="{7E7B0642-A152-BAB9-2002-37D1F61C2F04}"/>
                </a:ext>
              </a:extLst>
            </p:cNvPr>
            <p:cNvSpPr txBox="1"/>
            <p:nvPr/>
          </p:nvSpPr>
          <p:spPr>
            <a:xfrm>
              <a:off x="259644" y="1232963"/>
              <a:ext cx="3397956" cy="307777"/>
            </a:xfrm>
            <a:prstGeom prst="rect">
              <a:avLst/>
            </a:prstGeom>
            <a:noFill/>
          </p:spPr>
          <p:txBody>
            <a:bodyPr wrap="square" rtlCol="0">
              <a:spAutoFit/>
            </a:bodyPr>
            <a:lstStyle/>
            <a:p>
              <a:pPr lvl="0"/>
              <a:r>
                <a:rPr lang="en-US" sz="1400" b="1" dirty="0">
                  <a:solidFill>
                    <a:srgbClr val="EF14A8"/>
                  </a:solidFill>
                  <a:latin typeface="Georgia" panose="02040502050405020303" pitchFamily="18" charset="0"/>
                </a:rPr>
                <a:t>Amazon</a:t>
              </a:r>
            </a:p>
          </p:txBody>
        </p:sp>
      </p:grpSp>
      <p:grpSp>
        <p:nvGrpSpPr>
          <p:cNvPr id="8" name="Group 7">
            <a:extLst>
              <a:ext uri="{FF2B5EF4-FFF2-40B4-BE49-F238E27FC236}">
                <a16:creationId xmlns:a16="http://schemas.microsoft.com/office/drawing/2014/main" id="{F0764A02-281F-2739-6819-745C25C29D13}"/>
              </a:ext>
            </a:extLst>
          </p:cNvPr>
          <p:cNvGrpSpPr/>
          <p:nvPr/>
        </p:nvGrpSpPr>
        <p:grpSpPr>
          <a:xfrm>
            <a:off x="7321291" y="4105478"/>
            <a:ext cx="2122871" cy="1496296"/>
            <a:chOff x="259644" y="1232963"/>
            <a:chExt cx="3432822" cy="1496296"/>
          </a:xfrm>
        </p:grpSpPr>
        <p:sp>
          <p:nvSpPr>
            <p:cNvPr id="12" name="TextBox 11">
              <a:extLst>
                <a:ext uri="{FF2B5EF4-FFF2-40B4-BE49-F238E27FC236}">
                  <a16:creationId xmlns:a16="http://schemas.microsoft.com/office/drawing/2014/main" id="{D62804D2-DA8E-B59E-72F8-803FBE3E16B6}"/>
                </a:ext>
              </a:extLst>
            </p:cNvPr>
            <p:cNvSpPr txBox="1"/>
            <p:nvPr/>
          </p:nvSpPr>
          <p:spPr>
            <a:xfrm>
              <a:off x="294510" y="1559708"/>
              <a:ext cx="3397956" cy="1169551"/>
            </a:xfrm>
            <a:prstGeom prst="rect">
              <a:avLst/>
            </a:prstGeom>
            <a:noFill/>
          </p:spPr>
          <p:txBody>
            <a:bodyPr wrap="square" rtlCol="0">
              <a:spAutoFit/>
            </a:bodyPr>
            <a:lstStyle/>
            <a:p>
              <a:pPr lvl="0" algn="r"/>
              <a:r>
                <a:rPr lang="en-US" sz="1400" dirty="0">
                  <a:solidFill>
                    <a:schemeClr val="bg1"/>
                  </a:solidFill>
                </a:rPr>
                <a:t>Cloud is ubiquitous, enabling artificial intelligence, IoT, and other advanced technologies.</a:t>
              </a:r>
              <a:endParaRPr lang="en-US" sz="1400" dirty="0">
                <a:solidFill>
                  <a:schemeClr val="bg1"/>
                </a:solidFill>
                <a:latin typeface="Georgia Pro Light" panose="02040302050405020303" pitchFamily="18" charset="0"/>
              </a:endParaRPr>
            </a:p>
          </p:txBody>
        </p:sp>
        <p:sp>
          <p:nvSpPr>
            <p:cNvPr id="13" name="TextBox 12">
              <a:extLst>
                <a:ext uri="{FF2B5EF4-FFF2-40B4-BE49-F238E27FC236}">
                  <a16:creationId xmlns:a16="http://schemas.microsoft.com/office/drawing/2014/main" id="{C3F9A5EE-A2DC-76F7-7934-BC62275B4705}"/>
                </a:ext>
              </a:extLst>
            </p:cNvPr>
            <p:cNvSpPr txBox="1"/>
            <p:nvPr/>
          </p:nvSpPr>
          <p:spPr>
            <a:xfrm>
              <a:off x="259644" y="1232963"/>
              <a:ext cx="3397956" cy="307777"/>
            </a:xfrm>
            <a:prstGeom prst="rect">
              <a:avLst/>
            </a:prstGeom>
            <a:noFill/>
          </p:spPr>
          <p:txBody>
            <a:bodyPr wrap="square" rtlCol="0">
              <a:spAutoFit/>
            </a:bodyPr>
            <a:lstStyle/>
            <a:p>
              <a:pPr lvl="0" algn="r"/>
              <a:r>
                <a:rPr lang="en-US" sz="1400" b="1" dirty="0">
                  <a:solidFill>
                    <a:srgbClr val="FFA93A"/>
                  </a:solidFill>
                  <a:latin typeface="Georgia" panose="02040502050405020303" pitchFamily="18" charset="0"/>
                </a:rPr>
                <a:t>Cloud era</a:t>
              </a:r>
            </a:p>
          </p:txBody>
        </p:sp>
      </p:grpSp>
      <p:grpSp>
        <p:nvGrpSpPr>
          <p:cNvPr id="9" name="Group 8">
            <a:extLst>
              <a:ext uri="{FF2B5EF4-FFF2-40B4-BE49-F238E27FC236}">
                <a16:creationId xmlns:a16="http://schemas.microsoft.com/office/drawing/2014/main" id="{195C8C10-B319-CFC2-D400-1DD33D247BAA}"/>
              </a:ext>
            </a:extLst>
          </p:cNvPr>
          <p:cNvGrpSpPr/>
          <p:nvPr/>
        </p:nvGrpSpPr>
        <p:grpSpPr>
          <a:xfrm>
            <a:off x="3528727" y="4105479"/>
            <a:ext cx="2122871" cy="1496296"/>
            <a:chOff x="259644" y="1232963"/>
            <a:chExt cx="3432822" cy="1496296"/>
          </a:xfrm>
        </p:grpSpPr>
        <p:sp>
          <p:nvSpPr>
            <p:cNvPr id="10" name="TextBox 9">
              <a:extLst>
                <a:ext uri="{FF2B5EF4-FFF2-40B4-BE49-F238E27FC236}">
                  <a16:creationId xmlns:a16="http://schemas.microsoft.com/office/drawing/2014/main" id="{74898E66-B7D8-BAD1-6404-0D8F618A3122}"/>
                </a:ext>
              </a:extLst>
            </p:cNvPr>
            <p:cNvSpPr txBox="1"/>
            <p:nvPr/>
          </p:nvSpPr>
          <p:spPr>
            <a:xfrm>
              <a:off x="294510" y="1559708"/>
              <a:ext cx="3397956" cy="1169551"/>
            </a:xfrm>
            <a:prstGeom prst="rect">
              <a:avLst/>
            </a:prstGeom>
            <a:noFill/>
          </p:spPr>
          <p:txBody>
            <a:bodyPr wrap="square" rtlCol="0">
              <a:spAutoFit/>
            </a:bodyPr>
            <a:lstStyle/>
            <a:p>
              <a:pPr lvl="0" algn="r"/>
              <a:r>
                <a:rPr lang="en-US" sz="1400" dirty="0">
                  <a:solidFill>
                    <a:schemeClr val="bg1"/>
                  </a:solidFill>
                </a:rPr>
                <a:t>Salesforce offered Software-as-a-Service (SaaS), one of the earliest forms of cloud computing.</a:t>
              </a:r>
              <a:endParaRPr lang="en-US" sz="1400" dirty="0">
                <a:solidFill>
                  <a:schemeClr val="bg1"/>
                </a:solidFill>
                <a:latin typeface="Georgia Pro Light" panose="02040302050405020303" pitchFamily="18" charset="0"/>
              </a:endParaRPr>
            </a:p>
          </p:txBody>
        </p:sp>
        <p:sp>
          <p:nvSpPr>
            <p:cNvPr id="11" name="TextBox 10">
              <a:extLst>
                <a:ext uri="{FF2B5EF4-FFF2-40B4-BE49-F238E27FC236}">
                  <a16:creationId xmlns:a16="http://schemas.microsoft.com/office/drawing/2014/main" id="{4A676E8A-5421-0C8C-C335-52B3373D4973}"/>
                </a:ext>
              </a:extLst>
            </p:cNvPr>
            <p:cNvSpPr txBox="1"/>
            <p:nvPr/>
          </p:nvSpPr>
          <p:spPr>
            <a:xfrm>
              <a:off x="259644" y="1232963"/>
              <a:ext cx="3397956" cy="307777"/>
            </a:xfrm>
            <a:prstGeom prst="rect">
              <a:avLst/>
            </a:prstGeom>
            <a:noFill/>
          </p:spPr>
          <p:txBody>
            <a:bodyPr wrap="square" rtlCol="0">
              <a:spAutoFit/>
            </a:bodyPr>
            <a:lstStyle/>
            <a:p>
              <a:pPr lvl="0" algn="r"/>
              <a:r>
                <a:rPr lang="en-US" sz="1400" b="1" dirty="0">
                  <a:solidFill>
                    <a:srgbClr val="FFA93A"/>
                  </a:solidFill>
                  <a:latin typeface="Georgia" panose="02040502050405020303" pitchFamily="18" charset="0"/>
                </a:rPr>
                <a:t>Salesforce</a:t>
              </a:r>
            </a:p>
          </p:txBody>
        </p:sp>
      </p:grpSp>
      <p:sp>
        <p:nvSpPr>
          <p:cNvPr id="44" name="TextBox 43">
            <a:extLst>
              <a:ext uri="{FF2B5EF4-FFF2-40B4-BE49-F238E27FC236}">
                <a16:creationId xmlns:a16="http://schemas.microsoft.com/office/drawing/2014/main" id="{646331CC-35EB-D4B3-D6A1-5EFA01510FA8}"/>
              </a:ext>
            </a:extLst>
          </p:cNvPr>
          <p:cNvSpPr txBox="1"/>
          <p:nvPr/>
        </p:nvSpPr>
        <p:spPr>
          <a:xfrm>
            <a:off x="177631" y="590239"/>
            <a:ext cx="5572240"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History</a:t>
            </a:r>
            <a:endParaRPr lang="en-ID" sz="2400" dirty="0">
              <a:solidFill>
                <a:schemeClr val="bg1"/>
              </a:solidFill>
              <a:latin typeface="Arial Black" panose="020B0A04020102020204" pitchFamily="34" charset="0"/>
            </a:endParaRPr>
          </a:p>
        </p:txBody>
      </p:sp>
    </p:spTree>
    <p:extLst>
      <p:ext uri="{BB962C8B-B14F-4D97-AF65-F5344CB8AC3E}">
        <p14:creationId xmlns:p14="http://schemas.microsoft.com/office/powerpoint/2010/main" val="3320121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additive="base">
                                        <p:cTn id="7" dur="500" fill="hold"/>
                                        <p:tgtEl>
                                          <p:spTgt spid="44"/>
                                        </p:tgtEl>
                                        <p:attrNameLst>
                                          <p:attrName>ppt_x</p:attrName>
                                        </p:attrNameLst>
                                      </p:cBhvr>
                                      <p:tavLst>
                                        <p:tav tm="0">
                                          <p:val>
                                            <p:strVal val="0-#ppt_w/2"/>
                                          </p:val>
                                        </p:tav>
                                        <p:tav tm="100000">
                                          <p:val>
                                            <p:strVal val="#ppt_x"/>
                                          </p:val>
                                        </p:tav>
                                      </p:tavLst>
                                    </p:anim>
                                    <p:anim calcmode="lin" valueType="num">
                                      <p:cBhvr additive="base">
                                        <p:cTn id="8" dur="500" fill="hold"/>
                                        <p:tgtEl>
                                          <p:spTgt spid="4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8"/>
                                        </p:tgtEl>
                                        <p:attrNameLst>
                                          <p:attrName>style.visibility</p:attrName>
                                        </p:attrNameLst>
                                      </p:cBhvr>
                                      <p:to>
                                        <p:strVal val="visible"/>
                                      </p:to>
                                    </p:set>
                                    <p:anim calcmode="lin" valueType="num">
                                      <p:cBhvr additive="base">
                                        <p:cTn id="13" dur="500" fill="hold"/>
                                        <p:tgtEl>
                                          <p:spTgt spid="38"/>
                                        </p:tgtEl>
                                        <p:attrNameLst>
                                          <p:attrName>ppt_x</p:attrName>
                                        </p:attrNameLst>
                                      </p:cBhvr>
                                      <p:tavLst>
                                        <p:tav tm="0">
                                          <p:val>
                                            <p:strVal val="0-#ppt_w/2"/>
                                          </p:val>
                                        </p:tav>
                                        <p:tav tm="100000">
                                          <p:val>
                                            <p:strVal val="#ppt_x"/>
                                          </p:val>
                                        </p:tav>
                                      </p:tavLst>
                                    </p:anim>
                                    <p:anim calcmode="lin" valueType="num">
                                      <p:cBhvr additive="base">
                                        <p:cTn id="14" dur="500" fill="hold"/>
                                        <p:tgtEl>
                                          <p:spTgt spid="38"/>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39"/>
                                        </p:tgtEl>
                                        <p:attrNameLst>
                                          <p:attrName>style.visibility</p:attrName>
                                        </p:attrNameLst>
                                      </p:cBhvr>
                                      <p:to>
                                        <p:strVal val="visible"/>
                                      </p:to>
                                    </p:set>
                                    <p:animEffect transition="in" filter="fade">
                                      <p:cBhvr>
                                        <p:cTn id="18" dur="500"/>
                                        <p:tgtEl>
                                          <p:spTgt spid="39"/>
                                        </p:tgtEl>
                                      </p:cBhvr>
                                    </p:animEffect>
                                  </p:childTnLst>
                                </p:cTn>
                              </p:par>
                            </p:childTnLst>
                          </p:cTn>
                        </p:par>
                        <p:par>
                          <p:cTn id="19" fill="hold">
                            <p:stCondLst>
                              <p:cond delay="1000"/>
                            </p:stCondLst>
                            <p:childTnLst>
                              <p:par>
                                <p:cTn id="20" presetID="22" presetClass="entr" presetSubtype="4" fill="hold" nodeType="after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wipe(down)">
                                      <p:cBhvr>
                                        <p:cTn id="22" dur="500"/>
                                        <p:tgtEl>
                                          <p:spTgt spid="37"/>
                                        </p:tgtEl>
                                      </p:cBhvr>
                                    </p:animEffect>
                                  </p:childTnLst>
                                </p:cTn>
                              </p:par>
                            </p:childTnLst>
                          </p:cTn>
                        </p:par>
                        <p:par>
                          <p:cTn id="23" fill="hold">
                            <p:stCondLst>
                              <p:cond delay="1500"/>
                            </p:stCondLst>
                            <p:childTnLst>
                              <p:par>
                                <p:cTn id="24" presetID="2" presetClass="entr" presetSubtype="1" fill="hold" nodeType="afterEffect">
                                  <p:stCondLst>
                                    <p:cond delay="0"/>
                                  </p:stCondLst>
                                  <p:childTnLst>
                                    <p:set>
                                      <p:cBhvr>
                                        <p:cTn id="25" dur="1" fill="hold">
                                          <p:stCondLst>
                                            <p:cond delay="0"/>
                                          </p:stCondLst>
                                        </p:cTn>
                                        <p:tgtEl>
                                          <p:spTgt spid="4"/>
                                        </p:tgtEl>
                                        <p:attrNameLst>
                                          <p:attrName>style.visibility</p:attrName>
                                        </p:attrNameLst>
                                      </p:cBhvr>
                                      <p:to>
                                        <p:strVal val="visible"/>
                                      </p:to>
                                    </p:set>
                                    <p:anim calcmode="lin" valueType="num">
                                      <p:cBhvr additive="base">
                                        <p:cTn id="26" dur="500" fill="hold"/>
                                        <p:tgtEl>
                                          <p:spTgt spid="4"/>
                                        </p:tgtEl>
                                        <p:attrNameLst>
                                          <p:attrName>ppt_x</p:attrName>
                                        </p:attrNameLst>
                                      </p:cBhvr>
                                      <p:tavLst>
                                        <p:tav tm="0">
                                          <p:val>
                                            <p:strVal val="#ppt_x"/>
                                          </p:val>
                                        </p:tav>
                                        <p:tav tm="100000">
                                          <p:val>
                                            <p:strVal val="#ppt_x"/>
                                          </p:val>
                                        </p:tav>
                                      </p:tavLst>
                                    </p:anim>
                                    <p:anim calcmode="lin" valueType="num">
                                      <p:cBhvr additive="base">
                                        <p:cTn id="27" dur="5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additive="base">
                                        <p:cTn id="32" dur="500" fill="hold"/>
                                        <p:tgtEl>
                                          <p:spTgt spid="27"/>
                                        </p:tgtEl>
                                        <p:attrNameLst>
                                          <p:attrName>ppt_x</p:attrName>
                                        </p:attrNameLst>
                                      </p:cBhvr>
                                      <p:tavLst>
                                        <p:tav tm="0">
                                          <p:val>
                                            <p:strVal val="#ppt_x"/>
                                          </p:val>
                                        </p:tav>
                                        <p:tav tm="100000">
                                          <p:val>
                                            <p:strVal val="#ppt_x"/>
                                          </p:val>
                                        </p:tav>
                                      </p:tavLst>
                                    </p:anim>
                                    <p:anim calcmode="lin" valueType="num">
                                      <p:cBhvr additive="base">
                                        <p:cTn id="33" dur="500" fill="hold"/>
                                        <p:tgtEl>
                                          <p:spTgt spid="27"/>
                                        </p:tgtEl>
                                        <p:attrNameLst>
                                          <p:attrName>ppt_y</p:attrName>
                                        </p:attrNameLst>
                                      </p:cBhvr>
                                      <p:tavLst>
                                        <p:tav tm="0">
                                          <p:val>
                                            <p:strVal val="1+#ppt_h/2"/>
                                          </p:val>
                                        </p:tav>
                                        <p:tav tm="100000">
                                          <p:val>
                                            <p:strVal val="#ppt_y"/>
                                          </p:val>
                                        </p:tav>
                                      </p:tavLst>
                                    </p:anim>
                                  </p:childTnLst>
                                </p:cTn>
                              </p:par>
                            </p:childTnLst>
                          </p:cTn>
                        </p:par>
                        <p:par>
                          <p:cTn id="34" fill="hold">
                            <p:stCondLst>
                              <p:cond delay="500"/>
                            </p:stCondLst>
                            <p:childTnLst>
                              <p:par>
                                <p:cTn id="35" presetID="10" presetClass="entr" presetSubtype="0" fill="hold" grpId="0" nodeType="after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500"/>
                                        <p:tgtEl>
                                          <p:spTgt spid="32"/>
                                        </p:tgtEl>
                                      </p:cBhvr>
                                    </p:animEffect>
                                  </p:childTnLst>
                                </p:cTn>
                              </p:par>
                            </p:childTnLst>
                          </p:cTn>
                        </p:par>
                        <p:par>
                          <p:cTn id="38" fill="hold">
                            <p:stCondLst>
                              <p:cond delay="1000"/>
                            </p:stCondLst>
                            <p:childTnLst>
                              <p:par>
                                <p:cTn id="39" presetID="10" presetClass="entr" presetSubtype="0" fill="hold" nodeType="after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500"/>
                                        <p:tgtEl>
                                          <p:spTgt spid="22"/>
                                        </p:tgtEl>
                                      </p:cBhvr>
                                    </p:animEffect>
                                  </p:childTnLst>
                                </p:cTn>
                              </p:par>
                            </p:childTnLst>
                          </p:cTn>
                        </p:par>
                        <p:par>
                          <p:cTn id="42" fill="hold">
                            <p:stCondLst>
                              <p:cond delay="1500"/>
                            </p:stCondLst>
                            <p:childTnLst>
                              <p:par>
                                <p:cTn id="43" presetID="2" presetClass="entr" presetSubtype="4" fill="hold" nodeType="afterEffect">
                                  <p:stCondLst>
                                    <p:cond delay="0"/>
                                  </p:stCondLst>
                                  <p:childTnLst>
                                    <p:set>
                                      <p:cBhvr>
                                        <p:cTn id="44" dur="1" fill="hold">
                                          <p:stCondLst>
                                            <p:cond delay="0"/>
                                          </p:stCondLst>
                                        </p:cTn>
                                        <p:tgtEl>
                                          <p:spTgt spid="9"/>
                                        </p:tgtEl>
                                        <p:attrNameLst>
                                          <p:attrName>style.visibility</p:attrName>
                                        </p:attrNameLst>
                                      </p:cBhvr>
                                      <p:to>
                                        <p:strVal val="visible"/>
                                      </p:to>
                                    </p:set>
                                    <p:anim calcmode="lin" valueType="num">
                                      <p:cBhvr additive="base">
                                        <p:cTn id="45" dur="500" fill="hold"/>
                                        <p:tgtEl>
                                          <p:spTgt spid="9"/>
                                        </p:tgtEl>
                                        <p:attrNameLst>
                                          <p:attrName>ppt_x</p:attrName>
                                        </p:attrNameLst>
                                      </p:cBhvr>
                                      <p:tavLst>
                                        <p:tav tm="0">
                                          <p:val>
                                            <p:strVal val="#ppt_x"/>
                                          </p:val>
                                        </p:tav>
                                        <p:tav tm="100000">
                                          <p:val>
                                            <p:strVal val="#ppt_x"/>
                                          </p:val>
                                        </p:tav>
                                      </p:tavLst>
                                    </p:anim>
                                    <p:anim calcmode="lin" valueType="num">
                                      <p:cBhvr additive="base">
                                        <p:cTn id="4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1" fill="hold" grpId="0" nodeType="clickEffect">
                                  <p:stCondLst>
                                    <p:cond delay="0"/>
                                  </p:stCondLst>
                                  <p:childTnLst>
                                    <p:set>
                                      <p:cBhvr>
                                        <p:cTn id="50" dur="1" fill="hold">
                                          <p:stCondLst>
                                            <p:cond delay="0"/>
                                          </p:stCondLst>
                                        </p:cTn>
                                        <p:tgtEl>
                                          <p:spTgt spid="28"/>
                                        </p:tgtEl>
                                        <p:attrNameLst>
                                          <p:attrName>style.visibility</p:attrName>
                                        </p:attrNameLst>
                                      </p:cBhvr>
                                      <p:to>
                                        <p:strVal val="visible"/>
                                      </p:to>
                                    </p:set>
                                    <p:anim calcmode="lin" valueType="num">
                                      <p:cBhvr additive="base">
                                        <p:cTn id="51" dur="500" fill="hold"/>
                                        <p:tgtEl>
                                          <p:spTgt spid="28"/>
                                        </p:tgtEl>
                                        <p:attrNameLst>
                                          <p:attrName>ppt_x</p:attrName>
                                        </p:attrNameLst>
                                      </p:cBhvr>
                                      <p:tavLst>
                                        <p:tav tm="0">
                                          <p:val>
                                            <p:strVal val="#ppt_x"/>
                                          </p:val>
                                        </p:tav>
                                        <p:tav tm="100000">
                                          <p:val>
                                            <p:strVal val="#ppt_x"/>
                                          </p:val>
                                        </p:tav>
                                      </p:tavLst>
                                    </p:anim>
                                    <p:anim calcmode="lin" valueType="num">
                                      <p:cBhvr additive="base">
                                        <p:cTn id="52" dur="500" fill="hold"/>
                                        <p:tgtEl>
                                          <p:spTgt spid="28"/>
                                        </p:tgtEl>
                                        <p:attrNameLst>
                                          <p:attrName>ppt_y</p:attrName>
                                        </p:attrNameLst>
                                      </p:cBhvr>
                                      <p:tavLst>
                                        <p:tav tm="0">
                                          <p:val>
                                            <p:strVal val="0-#ppt_h/2"/>
                                          </p:val>
                                        </p:tav>
                                        <p:tav tm="100000">
                                          <p:val>
                                            <p:strVal val="#ppt_y"/>
                                          </p:val>
                                        </p:tav>
                                      </p:tavLst>
                                    </p:anim>
                                  </p:childTnLst>
                                </p:cTn>
                              </p:par>
                            </p:childTnLst>
                          </p:cTn>
                        </p:par>
                        <p:par>
                          <p:cTn id="53" fill="hold">
                            <p:stCondLst>
                              <p:cond delay="500"/>
                            </p:stCondLst>
                            <p:childTnLst>
                              <p:par>
                                <p:cTn id="54" presetID="10" presetClass="entr" presetSubtype="0" fill="hold" grpId="0" nodeType="afterEffect">
                                  <p:stCondLst>
                                    <p:cond delay="0"/>
                                  </p:stCondLst>
                                  <p:childTnLst>
                                    <p:set>
                                      <p:cBhvr>
                                        <p:cTn id="55" dur="1" fill="hold">
                                          <p:stCondLst>
                                            <p:cond delay="0"/>
                                          </p:stCondLst>
                                        </p:cTn>
                                        <p:tgtEl>
                                          <p:spTgt spid="33"/>
                                        </p:tgtEl>
                                        <p:attrNameLst>
                                          <p:attrName>style.visibility</p:attrName>
                                        </p:attrNameLst>
                                      </p:cBhvr>
                                      <p:to>
                                        <p:strVal val="visible"/>
                                      </p:to>
                                    </p:set>
                                    <p:animEffect transition="in" filter="fade">
                                      <p:cBhvr>
                                        <p:cTn id="56" dur="500"/>
                                        <p:tgtEl>
                                          <p:spTgt spid="33"/>
                                        </p:tgtEl>
                                      </p:cBhvr>
                                    </p:animEffect>
                                  </p:childTnLst>
                                </p:cTn>
                              </p:par>
                            </p:childTnLst>
                          </p:cTn>
                        </p:par>
                        <p:par>
                          <p:cTn id="57" fill="hold">
                            <p:stCondLst>
                              <p:cond delay="1000"/>
                            </p:stCondLst>
                            <p:childTnLst>
                              <p:par>
                                <p:cTn id="58" presetID="22" presetClass="entr" presetSubtype="4" fill="hold" nodeType="afterEffect">
                                  <p:stCondLst>
                                    <p:cond delay="0"/>
                                  </p:stCondLst>
                                  <p:childTnLst>
                                    <p:set>
                                      <p:cBhvr>
                                        <p:cTn id="59" dur="1" fill="hold">
                                          <p:stCondLst>
                                            <p:cond delay="0"/>
                                          </p:stCondLst>
                                        </p:cTn>
                                        <p:tgtEl>
                                          <p:spTgt spid="41"/>
                                        </p:tgtEl>
                                        <p:attrNameLst>
                                          <p:attrName>style.visibility</p:attrName>
                                        </p:attrNameLst>
                                      </p:cBhvr>
                                      <p:to>
                                        <p:strVal val="visible"/>
                                      </p:to>
                                    </p:set>
                                    <p:animEffect transition="in" filter="wipe(down)">
                                      <p:cBhvr>
                                        <p:cTn id="60" dur="500"/>
                                        <p:tgtEl>
                                          <p:spTgt spid="41"/>
                                        </p:tgtEl>
                                      </p:cBhvr>
                                    </p:animEffect>
                                  </p:childTnLst>
                                </p:cTn>
                              </p:par>
                            </p:childTnLst>
                          </p:cTn>
                        </p:par>
                        <p:par>
                          <p:cTn id="61" fill="hold">
                            <p:stCondLst>
                              <p:cond delay="1500"/>
                            </p:stCondLst>
                            <p:childTnLst>
                              <p:par>
                                <p:cTn id="62" presetID="2" presetClass="entr" presetSubtype="1" fill="hold" nodeType="afterEffect">
                                  <p:stCondLst>
                                    <p:cond delay="0"/>
                                  </p:stCondLst>
                                  <p:childTnLst>
                                    <p:set>
                                      <p:cBhvr>
                                        <p:cTn id="63" dur="1" fill="hold">
                                          <p:stCondLst>
                                            <p:cond delay="0"/>
                                          </p:stCondLst>
                                        </p:cTn>
                                        <p:tgtEl>
                                          <p:spTgt spid="5"/>
                                        </p:tgtEl>
                                        <p:attrNameLst>
                                          <p:attrName>style.visibility</p:attrName>
                                        </p:attrNameLst>
                                      </p:cBhvr>
                                      <p:to>
                                        <p:strVal val="visible"/>
                                      </p:to>
                                    </p:set>
                                    <p:anim calcmode="lin" valueType="num">
                                      <p:cBhvr additive="base">
                                        <p:cTn id="64" dur="500" fill="hold"/>
                                        <p:tgtEl>
                                          <p:spTgt spid="5"/>
                                        </p:tgtEl>
                                        <p:attrNameLst>
                                          <p:attrName>ppt_x</p:attrName>
                                        </p:attrNameLst>
                                      </p:cBhvr>
                                      <p:tavLst>
                                        <p:tav tm="0">
                                          <p:val>
                                            <p:strVal val="#ppt_x"/>
                                          </p:val>
                                        </p:tav>
                                        <p:tav tm="100000">
                                          <p:val>
                                            <p:strVal val="#ppt_x"/>
                                          </p:val>
                                        </p:tav>
                                      </p:tavLst>
                                    </p:anim>
                                    <p:anim calcmode="lin" valueType="num">
                                      <p:cBhvr additive="base">
                                        <p:cTn id="65"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2" fill="hold" grpId="0" nodeType="clickEffect">
                                  <p:stCondLst>
                                    <p:cond delay="0"/>
                                  </p:stCondLst>
                                  <p:childTnLst>
                                    <p:set>
                                      <p:cBhvr>
                                        <p:cTn id="69" dur="1" fill="hold">
                                          <p:stCondLst>
                                            <p:cond delay="0"/>
                                          </p:stCondLst>
                                        </p:cTn>
                                        <p:tgtEl>
                                          <p:spTgt spid="29"/>
                                        </p:tgtEl>
                                        <p:attrNameLst>
                                          <p:attrName>style.visibility</p:attrName>
                                        </p:attrNameLst>
                                      </p:cBhvr>
                                      <p:to>
                                        <p:strVal val="visible"/>
                                      </p:to>
                                    </p:set>
                                    <p:anim calcmode="lin" valueType="num">
                                      <p:cBhvr additive="base">
                                        <p:cTn id="70" dur="500" fill="hold"/>
                                        <p:tgtEl>
                                          <p:spTgt spid="29"/>
                                        </p:tgtEl>
                                        <p:attrNameLst>
                                          <p:attrName>ppt_x</p:attrName>
                                        </p:attrNameLst>
                                      </p:cBhvr>
                                      <p:tavLst>
                                        <p:tav tm="0">
                                          <p:val>
                                            <p:strVal val="1+#ppt_w/2"/>
                                          </p:val>
                                        </p:tav>
                                        <p:tav tm="100000">
                                          <p:val>
                                            <p:strVal val="#ppt_x"/>
                                          </p:val>
                                        </p:tav>
                                      </p:tavLst>
                                    </p:anim>
                                    <p:anim calcmode="lin" valueType="num">
                                      <p:cBhvr additive="base">
                                        <p:cTn id="71" dur="500" fill="hold"/>
                                        <p:tgtEl>
                                          <p:spTgt spid="29"/>
                                        </p:tgtEl>
                                        <p:attrNameLst>
                                          <p:attrName>ppt_y</p:attrName>
                                        </p:attrNameLst>
                                      </p:cBhvr>
                                      <p:tavLst>
                                        <p:tav tm="0">
                                          <p:val>
                                            <p:strVal val="#ppt_y"/>
                                          </p:val>
                                        </p:tav>
                                        <p:tav tm="100000">
                                          <p:val>
                                            <p:strVal val="#ppt_y"/>
                                          </p:val>
                                        </p:tav>
                                      </p:tavLst>
                                    </p:anim>
                                  </p:childTnLst>
                                </p:cTn>
                              </p:par>
                            </p:childTnLst>
                          </p:cTn>
                        </p:par>
                        <p:par>
                          <p:cTn id="72" fill="hold">
                            <p:stCondLst>
                              <p:cond delay="500"/>
                            </p:stCondLst>
                            <p:childTnLst>
                              <p:par>
                                <p:cTn id="73" presetID="10" presetClass="entr" presetSubtype="0" fill="hold" grpId="0" nodeType="afterEffect">
                                  <p:stCondLst>
                                    <p:cond delay="0"/>
                                  </p:stCondLst>
                                  <p:childTnLst>
                                    <p:set>
                                      <p:cBhvr>
                                        <p:cTn id="74" dur="1" fill="hold">
                                          <p:stCondLst>
                                            <p:cond delay="0"/>
                                          </p:stCondLst>
                                        </p:cTn>
                                        <p:tgtEl>
                                          <p:spTgt spid="34"/>
                                        </p:tgtEl>
                                        <p:attrNameLst>
                                          <p:attrName>style.visibility</p:attrName>
                                        </p:attrNameLst>
                                      </p:cBhvr>
                                      <p:to>
                                        <p:strVal val="visible"/>
                                      </p:to>
                                    </p:set>
                                    <p:animEffect transition="in" filter="fade">
                                      <p:cBhvr>
                                        <p:cTn id="75" dur="500"/>
                                        <p:tgtEl>
                                          <p:spTgt spid="34"/>
                                        </p:tgtEl>
                                      </p:cBhvr>
                                    </p:animEffect>
                                  </p:childTnLst>
                                </p:cTn>
                              </p:par>
                            </p:childTnLst>
                          </p:cTn>
                        </p:par>
                        <p:par>
                          <p:cTn id="76" fill="hold">
                            <p:stCondLst>
                              <p:cond delay="1000"/>
                            </p:stCondLst>
                            <p:childTnLst>
                              <p:par>
                                <p:cTn id="77" presetID="10" presetClass="entr" presetSubtype="0" fill="hold" nodeType="afterEffect">
                                  <p:stCondLst>
                                    <p:cond delay="0"/>
                                  </p:stCondLst>
                                  <p:childTnLst>
                                    <p:set>
                                      <p:cBhvr>
                                        <p:cTn id="78" dur="1" fill="hold">
                                          <p:stCondLst>
                                            <p:cond delay="0"/>
                                          </p:stCondLst>
                                        </p:cTn>
                                        <p:tgtEl>
                                          <p:spTgt spid="23"/>
                                        </p:tgtEl>
                                        <p:attrNameLst>
                                          <p:attrName>style.visibility</p:attrName>
                                        </p:attrNameLst>
                                      </p:cBhvr>
                                      <p:to>
                                        <p:strVal val="visible"/>
                                      </p:to>
                                    </p:set>
                                    <p:animEffect transition="in" filter="fade">
                                      <p:cBhvr>
                                        <p:cTn id="79" dur="500"/>
                                        <p:tgtEl>
                                          <p:spTgt spid="23"/>
                                        </p:tgtEl>
                                      </p:cBhvr>
                                    </p:animEffect>
                                  </p:childTnLst>
                                </p:cTn>
                              </p:par>
                            </p:childTnLst>
                          </p:cTn>
                        </p:par>
                        <p:par>
                          <p:cTn id="80" fill="hold">
                            <p:stCondLst>
                              <p:cond delay="1500"/>
                            </p:stCondLst>
                            <p:childTnLst>
                              <p:par>
                                <p:cTn id="81" presetID="2" presetClass="entr" presetSubtype="4" fill="hold" nodeType="afterEffect">
                                  <p:stCondLst>
                                    <p:cond delay="0"/>
                                  </p:stCondLst>
                                  <p:childTnLst>
                                    <p:set>
                                      <p:cBhvr>
                                        <p:cTn id="82" dur="1" fill="hold">
                                          <p:stCondLst>
                                            <p:cond delay="0"/>
                                          </p:stCondLst>
                                        </p:cTn>
                                        <p:tgtEl>
                                          <p:spTgt spid="8"/>
                                        </p:tgtEl>
                                        <p:attrNameLst>
                                          <p:attrName>style.visibility</p:attrName>
                                        </p:attrNameLst>
                                      </p:cBhvr>
                                      <p:to>
                                        <p:strVal val="visible"/>
                                      </p:to>
                                    </p:set>
                                    <p:anim calcmode="lin" valueType="num">
                                      <p:cBhvr additive="base">
                                        <p:cTn id="83" dur="500" fill="hold"/>
                                        <p:tgtEl>
                                          <p:spTgt spid="8"/>
                                        </p:tgtEl>
                                        <p:attrNameLst>
                                          <p:attrName>ppt_x</p:attrName>
                                        </p:attrNameLst>
                                      </p:cBhvr>
                                      <p:tavLst>
                                        <p:tav tm="0">
                                          <p:val>
                                            <p:strVal val="#ppt_x"/>
                                          </p:val>
                                        </p:tav>
                                        <p:tav tm="100000">
                                          <p:val>
                                            <p:strVal val="#ppt_x"/>
                                          </p:val>
                                        </p:tav>
                                      </p:tavLst>
                                    </p:anim>
                                    <p:anim calcmode="lin" valueType="num">
                                      <p:cBhvr additive="base">
                                        <p:cTn id="8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9" grpId="0" animBg="1"/>
      <p:bldP spid="28" grpId="0" animBg="1"/>
      <p:bldP spid="32" grpId="0"/>
      <p:bldP spid="33" grpId="0"/>
      <p:bldP spid="34" grpId="0"/>
      <p:bldP spid="38" grpId="0" animBg="1"/>
      <p:bldP spid="39" grpId="0"/>
      <p:bldP spid="4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3B327-3EC1-2D9A-AB45-4538B2E4BAD6}"/>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22F11592-3631-E99F-E298-6CD0208BA8F2}"/>
              </a:ext>
            </a:extLst>
          </p:cNvPr>
          <p:cNvSpPr txBox="1"/>
          <p:nvPr/>
        </p:nvSpPr>
        <p:spPr>
          <a:xfrm>
            <a:off x="177631" y="590239"/>
            <a:ext cx="5572240"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Virtualization</a:t>
            </a:r>
            <a:endParaRPr lang="en-ID" sz="2400" dirty="0">
              <a:solidFill>
                <a:schemeClr val="bg1"/>
              </a:solidFill>
              <a:latin typeface="Arial Black" panose="020B0A04020102020204" pitchFamily="34" charset="0"/>
            </a:endParaRPr>
          </a:p>
        </p:txBody>
      </p:sp>
      <p:sp>
        <p:nvSpPr>
          <p:cNvPr id="2" name="TextBox 1">
            <a:extLst>
              <a:ext uri="{FF2B5EF4-FFF2-40B4-BE49-F238E27FC236}">
                <a16:creationId xmlns:a16="http://schemas.microsoft.com/office/drawing/2014/main" id="{D89C1EEF-CB27-ED09-7E21-A83357258A25}"/>
              </a:ext>
            </a:extLst>
          </p:cNvPr>
          <p:cNvSpPr txBox="1"/>
          <p:nvPr/>
        </p:nvSpPr>
        <p:spPr>
          <a:xfrm>
            <a:off x="177631" y="1683685"/>
            <a:ext cx="5918369" cy="4154984"/>
          </a:xfrm>
          <a:prstGeom prst="rect">
            <a:avLst/>
          </a:prstGeom>
          <a:noFill/>
        </p:spPr>
        <p:txBody>
          <a:bodyPr wrap="square" rtlCol="0">
            <a:spAutoFit/>
          </a:bodyPr>
          <a:lstStyle/>
          <a:p>
            <a:r>
              <a:rPr lang="en-US" sz="2400" dirty="0">
                <a:solidFill>
                  <a:schemeClr val="bg1"/>
                </a:solidFill>
              </a:rPr>
              <a:t>Virtualization is used to create an abstraction layer over computer hardware, enabling the division of a single computer's hardware components—such as processors, memory and storage—into multiple virtual machines (VMs). Each VM runs its own operating system (OS) and behaves like an independent computer, even though it is running on just a portion of the actual underlying computer hardware.</a:t>
            </a:r>
          </a:p>
          <a:p>
            <a:endParaRPr lang="en-US" sz="2400" dirty="0">
              <a:solidFill>
                <a:schemeClr val="bg1"/>
              </a:solidFill>
            </a:endParaRPr>
          </a:p>
        </p:txBody>
      </p:sp>
      <p:pic>
        <p:nvPicPr>
          <p:cNvPr id="3" name="Picture 2">
            <a:extLst>
              <a:ext uri="{FF2B5EF4-FFF2-40B4-BE49-F238E27FC236}">
                <a16:creationId xmlns:a16="http://schemas.microsoft.com/office/drawing/2014/main" id="{FC07082F-5F9C-61EA-6199-9ABC1B5B84BC}"/>
              </a:ext>
            </a:extLst>
          </p:cNvPr>
          <p:cNvPicPr>
            <a:picLocks noChangeAspect="1"/>
          </p:cNvPicPr>
          <p:nvPr/>
        </p:nvPicPr>
        <p:blipFill>
          <a:blip r:embed="rId2"/>
          <a:stretch>
            <a:fillRect/>
          </a:stretch>
        </p:blipFill>
        <p:spPr>
          <a:xfrm>
            <a:off x="6096000" y="1622269"/>
            <a:ext cx="6108700" cy="4216400"/>
          </a:xfrm>
          <a:prstGeom prst="rect">
            <a:avLst/>
          </a:prstGeom>
        </p:spPr>
      </p:pic>
      <p:grpSp>
        <p:nvGrpSpPr>
          <p:cNvPr id="6" name="Group 5">
            <a:extLst>
              <a:ext uri="{FF2B5EF4-FFF2-40B4-BE49-F238E27FC236}">
                <a16:creationId xmlns:a16="http://schemas.microsoft.com/office/drawing/2014/main" id="{6DBE6D14-386A-22E4-50A9-68CAA377F457}"/>
              </a:ext>
            </a:extLst>
          </p:cNvPr>
          <p:cNvGrpSpPr/>
          <p:nvPr/>
        </p:nvGrpSpPr>
        <p:grpSpPr>
          <a:xfrm>
            <a:off x="11575907" y="1293261"/>
            <a:ext cx="7772400" cy="4545408"/>
            <a:chOff x="5351489" y="1156296"/>
            <a:chExt cx="7772400" cy="4545408"/>
          </a:xfrm>
        </p:grpSpPr>
        <p:sp>
          <p:nvSpPr>
            <p:cNvPr id="7" name="Rectangle 6">
              <a:extLst>
                <a:ext uri="{FF2B5EF4-FFF2-40B4-BE49-F238E27FC236}">
                  <a16:creationId xmlns:a16="http://schemas.microsoft.com/office/drawing/2014/main" id="{F2FA2D8A-4F1D-3ECB-146B-5D7C7990FD8B}"/>
                </a:ext>
              </a:extLst>
            </p:cNvPr>
            <p:cNvSpPr/>
            <p:nvPr/>
          </p:nvSpPr>
          <p:spPr>
            <a:xfrm>
              <a:off x="6203554" y="1156296"/>
              <a:ext cx="5918369" cy="4545408"/>
            </a:xfrm>
            <a:prstGeom prst="rect">
              <a:avLst/>
            </a:prstGeom>
            <a:solidFill>
              <a:schemeClr val="bg1"/>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EG"/>
            </a:p>
          </p:txBody>
        </p:sp>
        <p:pic>
          <p:nvPicPr>
            <p:cNvPr id="14" name="Picture 13">
              <a:extLst>
                <a:ext uri="{FF2B5EF4-FFF2-40B4-BE49-F238E27FC236}">
                  <a16:creationId xmlns:a16="http://schemas.microsoft.com/office/drawing/2014/main" id="{6531A934-8C66-954A-5375-FD33375F45F3}"/>
                </a:ext>
              </a:extLst>
            </p:cNvPr>
            <p:cNvPicPr>
              <a:picLocks noChangeAspect="1"/>
            </p:cNvPicPr>
            <p:nvPr/>
          </p:nvPicPr>
          <p:blipFill>
            <a:blip r:embed="rId3"/>
            <a:stretch>
              <a:fillRect/>
            </a:stretch>
          </p:blipFill>
          <p:spPr>
            <a:xfrm>
              <a:off x="5351489" y="1535236"/>
              <a:ext cx="7772400" cy="3787527"/>
            </a:xfrm>
            <a:prstGeom prst="rect">
              <a:avLst/>
            </a:prstGeom>
          </p:spPr>
        </p:pic>
      </p:grpSp>
    </p:spTree>
    <p:extLst>
      <p:ext uri="{BB962C8B-B14F-4D97-AF65-F5344CB8AC3E}">
        <p14:creationId xmlns:p14="http://schemas.microsoft.com/office/powerpoint/2010/main" val="3794881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additive="base">
                                        <p:cTn id="7" dur="500" fill="hold"/>
                                        <p:tgtEl>
                                          <p:spTgt spid="44"/>
                                        </p:tgtEl>
                                        <p:attrNameLst>
                                          <p:attrName>ppt_x</p:attrName>
                                        </p:attrNameLst>
                                      </p:cBhvr>
                                      <p:tavLst>
                                        <p:tav tm="0">
                                          <p:val>
                                            <p:strVal val="0-#ppt_w/2"/>
                                          </p:val>
                                        </p:tav>
                                        <p:tav tm="100000">
                                          <p:val>
                                            <p:strVal val="#ppt_x"/>
                                          </p:val>
                                        </p:tav>
                                      </p:tavLst>
                                    </p:anim>
                                    <p:anim calcmode="lin" valueType="num">
                                      <p:cBhvr additive="base">
                                        <p:cTn id="8" dur="500" fill="hold"/>
                                        <p:tgtEl>
                                          <p:spTgt spid="4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1"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2" presetClass="entr" presetSubtype="2"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1+#ppt_w/2"/>
                                          </p:val>
                                        </p:tav>
                                        <p:tav tm="100000">
                                          <p:val>
                                            <p:strVal val="#ppt_x"/>
                                          </p:val>
                                        </p:tav>
                                      </p:tavLst>
                                    </p:anim>
                                    <p:anim calcmode="lin" valueType="num">
                                      <p:cBhvr additive="base">
                                        <p:cTn id="19"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xit" presetSubtype="2" fill="hold" nodeType="clickEffect">
                                  <p:stCondLst>
                                    <p:cond delay="0"/>
                                  </p:stCondLst>
                                  <p:childTnLst>
                                    <p:anim calcmode="lin" valueType="num">
                                      <p:cBhvr additive="base">
                                        <p:cTn id="23" dur="500"/>
                                        <p:tgtEl>
                                          <p:spTgt spid="3"/>
                                        </p:tgtEl>
                                        <p:attrNameLst>
                                          <p:attrName>ppt_x</p:attrName>
                                        </p:attrNameLst>
                                      </p:cBhvr>
                                      <p:tavLst>
                                        <p:tav tm="0">
                                          <p:val>
                                            <p:strVal val="ppt_x"/>
                                          </p:val>
                                        </p:tav>
                                        <p:tav tm="100000">
                                          <p:val>
                                            <p:strVal val="1+ppt_w/2"/>
                                          </p:val>
                                        </p:tav>
                                      </p:tavLst>
                                    </p:anim>
                                    <p:anim calcmode="lin" valueType="num">
                                      <p:cBhvr additive="base">
                                        <p:cTn id="24" dur="500"/>
                                        <p:tgtEl>
                                          <p:spTgt spid="3"/>
                                        </p:tgtEl>
                                        <p:attrNameLst>
                                          <p:attrName>ppt_y</p:attrName>
                                        </p:attrNameLst>
                                      </p:cBhvr>
                                      <p:tavLst>
                                        <p:tav tm="0">
                                          <p:val>
                                            <p:strVal val="ppt_y"/>
                                          </p:val>
                                        </p:tav>
                                        <p:tav tm="100000">
                                          <p:val>
                                            <p:strVal val="ppt_y"/>
                                          </p:val>
                                        </p:tav>
                                      </p:tavLst>
                                    </p:anim>
                                    <p:set>
                                      <p:cBhvr>
                                        <p:cTn id="25"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2"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962AF-7B8F-0AE9-593A-A45F98BA7341}"/>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099B14CB-CA88-E57C-643C-56F8666D86BB}"/>
              </a:ext>
            </a:extLst>
          </p:cNvPr>
          <p:cNvSpPr txBox="1"/>
          <p:nvPr/>
        </p:nvSpPr>
        <p:spPr>
          <a:xfrm>
            <a:off x="177631" y="590239"/>
            <a:ext cx="5572240"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Virtualization</a:t>
            </a:r>
            <a:endParaRPr lang="en-ID" sz="2400" dirty="0">
              <a:solidFill>
                <a:schemeClr val="bg1"/>
              </a:solidFill>
              <a:latin typeface="Arial Black" panose="020B0A04020102020204" pitchFamily="34" charset="0"/>
            </a:endParaRPr>
          </a:p>
        </p:txBody>
      </p:sp>
      <p:sp>
        <p:nvSpPr>
          <p:cNvPr id="2" name="TextBox 1">
            <a:extLst>
              <a:ext uri="{FF2B5EF4-FFF2-40B4-BE49-F238E27FC236}">
                <a16:creationId xmlns:a16="http://schemas.microsoft.com/office/drawing/2014/main" id="{024B5A83-DCA6-D1A2-B635-B518A14E8DDC}"/>
              </a:ext>
            </a:extLst>
          </p:cNvPr>
          <p:cNvSpPr txBox="1"/>
          <p:nvPr/>
        </p:nvSpPr>
        <p:spPr>
          <a:xfrm>
            <a:off x="177631" y="1683685"/>
            <a:ext cx="5918369" cy="4154984"/>
          </a:xfrm>
          <a:prstGeom prst="rect">
            <a:avLst/>
          </a:prstGeom>
          <a:noFill/>
        </p:spPr>
        <p:txBody>
          <a:bodyPr wrap="square" rtlCol="0">
            <a:spAutoFit/>
          </a:bodyPr>
          <a:lstStyle/>
          <a:p>
            <a:r>
              <a:rPr lang="en-US" sz="2400" dirty="0">
                <a:solidFill>
                  <a:schemeClr val="bg1"/>
                </a:solidFill>
              </a:rPr>
              <a:t>Virtualization is used to create an abstraction layer over computer hardware, enabling the division of a single computer's hardware components—such as processors, memory and storage—into multiple virtual machines (VMs). Each VM runs its own operating system (OS) and behaves like an independent computer, even though it is running on just a portion of the actual underlying computer hardware.</a:t>
            </a:r>
          </a:p>
          <a:p>
            <a:endParaRPr lang="en-US" sz="2400" dirty="0">
              <a:solidFill>
                <a:schemeClr val="bg1"/>
              </a:solidFill>
            </a:endParaRPr>
          </a:p>
        </p:txBody>
      </p:sp>
      <p:grpSp>
        <p:nvGrpSpPr>
          <p:cNvPr id="4" name="Group 3">
            <a:extLst>
              <a:ext uri="{FF2B5EF4-FFF2-40B4-BE49-F238E27FC236}">
                <a16:creationId xmlns:a16="http://schemas.microsoft.com/office/drawing/2014/main" id="{2EF1F6B0-FAF9-6754-839C-0D40D365F65A}"/>
              </a:ext>
            </a:extLst>
          </p:cNvPr>
          <p:cNvGrpSpPr/>
          <p:nvPr/>
        </p:nvGrpSpPr>
        <p:grpSpPr>
          <a:xfrm>
            <a:off x="5303695" y="1293261"/>
            <a:ext cx="7772400" cy="4545408"/>
            <a:chOff x="5351489" y="1156296"/>
            <a:chExt cx="7772400" cy="4545408"/>
          </a:xfrm>
        </p:grpSpPr>
        <p:sp>
          <p:nvSpPr>
            <p:cNvPr id="5" name="Rectangle 4">
              <a:extLst>
                <a:ext uri="{FF2B5EF4-FFF2-40B4-BE49-F238E27FC236}">
                  <a16:creationId xmlns:a16="http://schemas.microsoft.com/office/drawing/2014/main" id="{651F3F65-D980-E892-958A-61786EEC753B}"/>
                </a:ext>
              </a:extLst>
            </p:cNvPr>
            <p:cNvSpPr/>
            <p:nvPr/>
          </p:nvSpPr>
          <p:spPr>
            <a:xfrm>
              <a:off x="6203554" y="1156296"/>
              <a:ext cx="5918369" cy="4545408"/>
            </a:xfrm>
            <a:prstGeom prst="rect">
              <a:avLst/>
            </a:prstGeom>
            <a:solidFill>
              <a:schemeClr val="bg1"/>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EG"/>
            </a:p>
          </p:txBody>
        </p:sp>
        <p:pic>
          <p:nvPicPr>
            <p:cNvPr id="8" name="Picture 7">
              <a:extLst>
                <a:ext uri="{FF2B5EF4-FFF2-40B4-BE49-F238E27FC236}">
                  <a16:creationId xmlns:a16="http://schemas.microsoft.com/office/drawing/2014/main" id="{91438B7F-66C9-55E9-6FD0-FD1EF8D3E071}"/>
                </a:ext>
              </a:extLst>
            </p:cNvPr>
            <p:cNvPicPr>
              <a:picLocks noChangeAspect="1"/>
            </p:cNvPicPr>
            <p:nvPr/>
          </p:nvPicPr>
          <p:blipFill>
            <a:blip r:embed="rId2"/>
            <a:stretch>
              <a:fillRect/>
            </a:stretch>
          </p:blipFill>
          <p:spPr>
            <a:xfrm>
              <a:off x="5351489" y="1535236"/>
              <a:ext cx="7772400" cy="3787527"/>
            </a:xfrm>
            <a:prstGeom prst="rect">
              <a:avLst/>
            </a:prstGeom>
          </p:spPr>
        </p:pic>
      </p:grpSp>
    </p:spTree>
    <p:extLst>
      <p:ext uri="{BB962C8B-B14F-4D97-AF65-F5344CB8AC3E}">
        <p14:creationId xmlns:p14="http://schemas.microsoft.com/office/powerpoint/2010/main" val="6973008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0D2F2-A932-88DF-12AD-0A598DFE6217}"/>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67596B34-B0A2-3C8B-E31F-61E63EC5D41B}"/>
              </a:ext>
            </a:extLst>
          </p:cNvPr>
          <p:cNvSpPr txBox="1"/>
          <p:nvPr/>
        </p:nvSpPr>
        <p:spPr>
          <a:xfrm>
            <a:off x="177631" y="590239"/>
            <a:ext cx="5572240"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Virtualization</a:t>
            </a:r>
            <a:endParaRPr lang="en-ID" sz="2400" dirty="0">
              <a:solidFill>
                <a:schemeClr val="bg1"/>
              </a:solidFill>
              <a:latin typeface="Arial Black" panose="020B0A04020102020204" pitchFamily="34" charset="0"/>
            </a:endParaRPr>
          </a:p>
        </p:txBody>
      </p:sp>
      <p:sp>
        <p:nvSpPr>
          <p:cNvPr id="2" name="TextBox 1">
            <a:extLst>
              <a:ext uri="{FF2B5EF4-FFF2-40B4-BE49-F238E27FC236}">
                <a16:creationId xmlns:a16="http://schemas.microsoft.com/office/drawing/2014/main" id="{E8E6DC91-3249-9EAA-7EC9-E7C69552A150}"/>
              </a:ext>
            </a:extLst>
          </p:cNvPr>
          <p:cNvSpPr txBox="1"/>
          <p:nvPr/>
        </p:nvSpPr>
        <p:spPr>
          <a:xfrm>
            <a:off x="177631" y="1683685"/>
            <a:ext cx="5918369" cy="3416320"/>
          </a:xfrm>
          <a:prstGeom prst="rect">
            <a:avLst/>
          </a:prstGeom>
          <a:noFill/>
        </p:spPr>
        <p:txBody>
          <a:bodyPr wrap="square" rtlCol="0">
            <a:spAutoFit/>
          </a:bodyPr>
          <a:lstStyle/>
          <a:p>
            <a:r>
              <a:rPr lang="en-US" sz="2400" dirty="0">
                <a:solidFill>
                  <a:schemeClr val="bg1"/>
                </a:solidFill>
              </a:rPr>
              <a:t>Hypervisor</a:t>
            </a:r>
            <a:br>
              <a:rPr lang="en-US" sz="2400" dirty="0">
                <a:solidFill>
                  <a:schemeClr val="bg1"/>
                </a:solidFill>
              </a:rPr>
            </a:br>
            <a:br>
              <a:rPr lang="en-US" sz="2400" dirty="0">
                <a:solidFill>
                  <a:schemeClr val="bg1"/>
                </a:solidFill>
              </a:rPr>
            </a:br>
            <a:r>
              <a:rPr lang="en-US" sz="2400" dirty="0">
                <a:solidFill>
                  <a:schemeClr val="bg1"/>
                </a:solidFill>
              </a:rPr>
              <a:t>A hypervisor is a type of software or hardware used to create virtual machines and then run those virtual machines day to day. You’ll sometimes see the same technology referred to as a ‘virtual machine monitor,’ or VMM, which is a reasonable encapsulation of what a hypervisor does.</a:t>
            </a:r>
          </a:p>
        </p:txBody>
      </p:sp>
      <p:pic>
        <p:nvPicPr>
          <p:cNvPr id="11" name="Picture 10" descr="A diagram of a computer system&#10;&#10;Description automatically generated">
            <a:extLst>
              <a:ext uri="{FF2B5EF4-FFF2-40B4-BE49-F238E27FC236}">
                <a16:creationId xmlns:a16="http://schemas.microsoft.com/office/drawing/2014/main" id="{D41464B0-DC56-D9B3-C4AF-C6CC032DA36F}"/>
              </a:ext>
            </a:extLst>
          </p:cNvPr>
          <p:cNvPicPr>
            <a:picLocks noChangeAspect="1"/>
          </p:cNvPicPr>
          <p:nvPr/>
        </p:nvPicPr>
        <p:blipFill>
          <a:blip r:embed="rId2"/>
          <a:srcRect l="12414" t="12529" r="11441" b="7001"/>
          <a:stretch/>
        </p:blipFill>
        <p:spPr>
          <a:xfrm>
            <a:off x="6096000" y="1683685"/>
            <a:ext cx="5918369" cy="4057549"/>
          </a:xfrm>
          <a:prstGeom prst="rect">
            <a:avLst/>
          </a:prstGeom>
        </p:spPr>
      </p:pic>
    </p:spTree>
    <p:extLst>
      <p:ext uri="{BB962C8B-B14F-4D97-AF65-F5344CB8AC3E}">
        <p14:creationId xmlns:p14="http://schemas.microsoft.com/office/powerpoint/2010/main" val="4265837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1+#ppt_w/2"/>
                                          </p:val>
                                        </p:tav>
                                        <p:tav tm="100000">
                                          <p:val>
                                            <p:strVal val="#ppt_x"/>
                                          </p:val>
                                        </p:tav>
                                      </p:tavLst>
                                    </p:anim>
                                    <p:anim calcmode="lin" valueType="num">
                                      <p:cBhvr additive="base">
                                        <p:cTn id="13"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66DBC-67DE-619B-F8FD-819BC704AC93}"/>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650CFC63-15FA-9959-7DBB-7873EED99CD6}"/>
              </a:ext>
            </a:extLst>
          </p:cNvPr>
          <p:cNvSpPr txBox="1"/>
          <p:nvPr/>
        </p:nvSpPr>
        <p:spPr>
          <a:xfrm>
            <a:off x="177631" y="590239"/>
            <a:ext cx="5572240" cy="461665"/>
          </a:xfrm>
          <a:prstGeom prst="rect">
            <a:avLst/>
          </a:prstGeom>
          <a:noFill/>
        </p:spPr>
        <p:txBody>
          <a:bodyPr wrap="square" rtlCol="0">
            <a:spAutoFit/>
          </a:bodyPr>
          <a:lstStyle/>
          <a:p>
            <a:r>
              <a:rPr lang="en-US" sz="2400" b="1" dirty="0">
                <a:solidFill>
                  <a:schemeClr val="bg1"/>
                </a:solidFill>
              </a:rPr>
              <a:t>Hypervisor</a:t>
            </a:r>
          </a:p>
        </p:txBody>
      </p:sp>
      <p:sp>
        <p:nvSpPr>
          <p:cNvPr id="2" name="TextBox 1">
            <a:extLst>
              <a:ext uri="{FF2B5EF4-FFF2-40B4-BE49-F238E27FC236}">
                <a16:creationId xmlns:a16="http://schemas.microsoft.com/office/drawing/2014/main" id="{9291DD9F-7896-1675-0E27-777062745BB0}"/>
              </a:ext>
            </a:extLst>
          </p:cNvPr>
          <p:cNvSpPr txBox="1"/>
          <p:nvPr/>
        </p:nvSpPr>
        <p:spPr>
          <a:xfrm>
            <a:off x="177631" y="1255786"/>
            <a:ext cx="7912061" cy="4574779"/>
          </a:xfrm>
          <a:prstGeom prst="rect">
            <a:avLst/>
          </a:prstGeom>
          <a:noFill/>
        </p:spPr>
        <p:txBody>
          <a:bodyPr wrap="square" rtlCol="0">
            <a:spAutoFit/>
          </a:bodyPr>
          <a:lstStyle/>
          <a:p>
            <a:pPr algn="l">
              <a:lnSpc>
                <a:spcPts val="3150"/>
              </a:lnSpc>
              <a:spcBef>
                <a:spcPts val="3000"/>
              </a:spcBef>
              <a:spcAft>
                <a:spcPts val="1500"/>
              </a:spcAft>
            </a:pPr>
            <a:r>
              <a:rPr lang="en-US" sz="2000" b="1" i="0" dirty="0">
                <a:solidFill>
                  <a:schemeClr val="bg1"/>
                </a:solidFill>
                <a:effectLst/>
              </a:rPr>
              <a:t>Type 1 Hypervisor</a:t>
            </a:r>
          </a:p>
          <a:p>
            <a:pPr algn="l">
              <a:spcAft>
                <a:spcPts val="1500"/>
              </a:spcAft>
            </a:pPr>
            <a:r>
              <a:rPr lang="en-US" sz="2000" b="0" i="0" dirty="0">
                <a:solidFill>
                  <a:schemeClr val="bg1"/>
                </a:solidFill>
                <a:effectLst/>
              </a:rPr>
              <a:t>Most common in enterprise data centers, a type 1 hypervisor replaces the host’s operating system and lies right on top of the hardware. For this reason, type 1 hypervisors are also called bare metal hypervisors or embedded hypervisors.</a:t>
            </a:r>
          </a:p>
          <a:p>
            <a:pPr algn="l">
              <a:lnSpc>
                <a:spcPts val="2100"/>
              </a:lnSpc>
              <a:spcBef>
                <a:spcPts val="3000"/>
              </a:spcBef>
              <a:spcAft>
                <a:spcPts val="1500"/>
              </a:spcAft>
            </a:pPr>
            <a:r>
              <a:rPr lang="en-US" sz="2000" b="1" i="0" dirty="0">
                <a:solidFill>
                  <a:schemeClr val="bg1"/>
                </a:solidFill>
                <a:effectLst/>
              </a:rPr>
              <a:t>Type 1 Hypervisor Examples</a:t>
            </a:r>
          </a:p>
          <a:p>
            <a:pPr algn="l">
              <a:lnSpc>
                <a:spcPts val="1950"/>
              </a:lnSpc>
              <a:spcAft>
                <a:spcPts val="1500"/>
              </a:spcAft>
              <a:buFont typeface="Arial" panose="020B0604020202020204" pitchFamily="34" charset="0"/>
              <a:buChar char="•"/>
            </a:pPr>
            <a:r>
              <a:rPr lang="en-US" sz="2000" b="1" i="0" dirty="0">
                <a:solidFill>
                  <a:schemeClr val="bg1"/>
                </a:solidFill>
                <a:effectLst/>
              </a:rPr>
              <a:t> VMware hypervisors like vSphere, </a:t>
            </a:r>
            <a:r>
              <a:rPr lang="en-US" sz="2000" b="1" i="0" dirty="0" err="1">
                <a:solidFill>
                  <a:schemeClr val="bg1"/>
                </a:solidFill>
                <a:effectLst/>
              </a:rPr>
              <a:t>ESXi</a:t>
            </a:r>
            <a:r>
              <a:rPr lang="en-US" sz="2000" b="1" i="0" dirty="0">
                <a:solidFill>
                  <a:schemeClr val="bg1"/>
                </a:solidFill>
                <a:effectLst/>
              </a:rPr>
              <a:t> </a:t>
            </a:r>
          </a:p>
          <a:p>
            <a:pPr algn="l">
              <a:lnSpc>
                <a:spcPts val="1950"/>
              </a:lnSpc>
              <a:spcAft>
                <a:spcPts val="1500"/>
              </a:spcAft>
              <a:buFont typeface="Arial" panose="020B0604020202020204" pitchFamily="34" charset="0"/>
              <a:buChar char="•"/>
            </a:pPr>
            <a:r>
              <a:rPr lang="en-US" sz="2000" b="1" i="0" dirty="0">
                <a:solidFill>
                  <a:schemeClr val="bg1"/>
                </a:solidFill>
                <a:effectLst/>
              </a:rPr>
              <a:t> Microsoft Hyper-V</a:t>
            </a:r>
          </a:p>
          <a:p>
            <a:pPr algn="l">
              <a:lnSpc>
                <a:spcPts val="1950"/>
              </a:lnSpc>
              <a:spcAft>
                <a:spcPts val="1500"/>
              </a:spcAft>
              <a:buFont typeface="Arial" panose="020B0604020202020204" pitchFamily="34" charset="0"/>
              <a:buChar char="•"/>
            </a:pPr>
            <a:r>
              <a:rPr lang="en-US" sz="2000" b="1" i="0" dirty="0">
                <a:solidFill>
                  <a:schemeClr val="bg1"/>
                </a:solidFill>
                <a:effectLst/>
              </a:rPr>
              <a:t> Oracle VM Server</a:t>
            </a:r>
          </a:p>
          <a:p>
            <a:pPr algn="l">
              <a:lnSpc>
                <a:spcPts val="1950"/>
              </a:lnSpc>
              <a:spcAft>
                <a:spcPts val="1500"/>
              </a:spcAft>
              <a:buFont typeface="Arial" panose="020B0604020202020204" pitchFamily="34" charset="0"/>
              <a:buChar char="•"/>
            </a:pPr>
            <a:r>
              <a:rPr lang="en-US" sz="2000" b="1" i="0" dirty="0">
                <a:solidFill>
                  <a:schemeClr val="bg1"/>
                </a:solidFill>
                <a:effectLst/>
              </a:rPr>
              <a:t> Citrix Hypervisor</a:t>
            </a:r>
          </a:p>
        </p:txBody>
      </p:sp>
      <p:grpSp>
        <p:nvGrpSpPr>
          <p:cNvPr id="6" name="Group 5">
            <a:extLst>
              <a:ext uri="{FF2B5EF4-FFF2-40B4-BE49-F238E27FC236}">
                <a16:creationId xmlns:a16="http://schemas.microsoft.com/office/drawing/2014/main" id="{14110612-FD18-7773-1F03-6A6CED2A59A8}"/>
              </a:ext>
            </a:extLst>
          </p:cNvPr>
          <p:cNvGrpSpPr/>
          <p:nvPr/>
        </p:nvGrpSpPr>
        <p:grpSpPr>
          <a:xfrm>
            <a:off x="5936566" y="1474411"/>
            <a:ext cx="6077803" cy="4856290"/>
            <a:chOff x="5936566" y="1474411"/>
            <a:chExt cx="6077803" cy="4856290"/>
          </a:xfrm>
        </p:grpSpPr>
        <p:pic>
          <p:nvPicPr>
            <p:cNvPr id="3" name="Picture 2" descr="A screenshot of a computer&#10;&#10;Description automatically generated">
              <a:extLst>
                <a:ext uri="{FF2B5EF4-FFF2-40B4-BE49-F238E27FC236}">
                  <a16:creationId xmlns:a16="http://schemas.microsoft.com/office/drawing/2014/main" id="{B52F27A2-37CF-FB55-4A3D-B4334DD3BA8C}"/>
                </a:ext>
              </a:extLst>
            </p:cNvPr>
            <p:cNvPicPr>
              <a:picLocks noChangeAspect="1"/>
            </p:cNvPicPr>
            <p:nvPr/>
          </p:nvPicPr>
          <p:blipFill>
            <a:blip r:embed="rId2"/>
            <a:srcRect l="6611" t="7138" r="49268" b="31808"/>
            <a:stretch/>
          </p:blipFill>
          <p:spPr>
            <a:xfrm>
              <a:off x="8144783" y="1474411"/>
              <a:ext cx="3869586" cy="2971457"/>
            </a:xfrm>
            <a:prstGeom prst="rect">
              <a:avLst/>
            </a:prstGeom>
          </p:spPr>
        </p:pic>
        <p:pic>
          <p:nvPicPr>
            <p:cNvPr id="5" name="Picture 4" descr="A diagram of a computer system&#10;&#10;Description automatically generated">
              <a:extLst>
                <a:ext uri="{FF2B5EF4-FFF2-40B4-BE49-F238E27FC236}">
                  <a16:creationId xmlns:a16="http://schemas.microsoft.com/office/drawing/2014/main" id="{D1AF1BAF-1305-4761-D6C5-0614DDDEC789}"/>
                </a:ext>
              </a:extLst>
            </p:cNvPr>
            <p:cNvPicPr>
              <a:picLocks noChangeAspect="1"/>
            </p:cNvPicPr>
            <p:nvPr/>
          </p:nvPicPr>
          <p:blipFill>
            <a:blip r:embed="rId3"/>
            <a:srcRect l="12414" t="14588" r="11441" b="49013"/>
            <a:stretch/>
          </p:blipFill>
          <p:spPr>
            <a:xfrm>
              <a:off x="5936566" y="4445868"/>
              <a:ext cx="6077803" cy="1884833"/>
            </a:xfrm>
            <a:prstGeom prst="rect">
              <a:avLst/>
            </a:prstGeom>
          </p:spPr>
        </p:pic>
      </p:grpSp>
    </p:spTree>
    <p:extLst>
      <p:ext uri="{BB962C8B-B14F-4D97-AF65-F5344CB8AC3E}">
        <p14:creationId xmlns:p14="http://schemas.microsoft.com/office/powerpoint/2010/main" val="2174435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1+#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8EC92-E736-1ACB-C837-BC20A634E21D}"/>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4F14054D-1D94-8FF1-596C-8A2711B4CDAA}"/>
              </a:ext>
            </a:extLst>
          </p:cNvPr>
          <p:cNvSpPr txBox="1"/>
          <p:nvPr/>
        </p:nvSpPr>
        <p:spPr>
          <a:xfrm>
            <a:off x="177631" y="590239"/>
            <a:ext cx="5572240" cy="461665"/>
          </a:xfrm>
          <a:prstGeom prst="rect">
            <a:avLst/>
          </a:prstGeom>
          <a:noFill/>
        </p:spPr>
        <p:txBody>
          <a:bodyPr wrap="square" rtlCol="0">
            <a:spAutoFit/>
          </a:bodyPr>
          <a:lstStyle/>
          <a:p>
            <a:r>
              <a:rPr lang="en-US" sz="2400" b="1" dirty="0">
                <a:solidFill>
                  <a:schemeClr val="bg1"/>
                </a:solidFill>
              </a:rPr>
              <a:t>Hypervisor</a:t>
            </a:r>
          </a:p>
        </p:txBody>
      </p:sp>
      <p:sp>
        <p:nvSpPr>
          <p:cNvPr id="9" name="TextBox 8">
            <a:extLst>
              <a:ext uri="{FF2B5EF4-FFF2-40B4-BE49-F238E27FC236}">
                <a16:creationId xmlns:a16="http://schemas.microsoft.com/office/drawing/2014/main" id="{145B3E41-1443-AA1F-E693-F84B89E2F3AF}"/>
              </a:ext>
            </a:extLst>
          </p:cNvPr>
          <p:cNvSpPr txBox="1"/>
          <p:nvPr/>
        </p:nvSpPr>
        <p:spPr>
          <a:xfrm>
            <a:off x="177631" y="1363050"/>
            <a:ext cx="7912061" cy="4632037"/>
          </a:xfrm>
          <a:prstGeom prst="rect">
            <a:avLst/>
          </a:prstGeom>
          <a:noFill/>
        </p:spPr>
        <p:txBody>
          <a:bodyPr wrap="square" rtlCol="0">
            <a:spAutoFit/>
          </a:bodyPr>
          <a:lstStyle/>
          <a:p>
            <a:pPr>
              <a:spcAft>
                <a:spcPts val="1500"/>
              </a:spcAft>
            </a:pPr>
            <a:r>
              <a:rPr lang="en-US" sz="2000" b="1" dirty="0">
                <a:solidFill>
                  <a:schemeClr val="bg1"/>
                </a:solidFill>
              </a:rPr>
              <a:t>Type 2 Hypervisors</a:t>
            </a:r>
          </a:p>
          <a:p>
            <a:pPr>
              <a:spcAft>
                <a:spcPts val="1500"/>
              </a:spcAft>
            </a:pPr>
            <a:r>
              <a:rPr lang="en-US" sz="2000" b="1" dirty="0">
                <a:solidFill>
                  <a:schemeClr val="bg1"/>
                </a:solidFill>
              </a:rPr>
              <a:t>A type 2 hypervisor is hosted, running as software on the O/S, which in turn runs on the physical hardware. This form of hypervisor is typically used to run multiple operating systems on one personal computer, such as to enable the user to boot into either Windows or Linux.</a:t>
            </a:r>
          </a:p>
          <a:p>
            <a:pPr>
              <a:spcAft>
                <a:spcPts val="1500"/>
              </a:spcAft>
            </a:pPr>
            <a:endParaRPr lang="en-US" sz="2000" b="1" dirty="0">
              <a:solidFill>
                <a:schemeClr val="bg1"/>
              </a:solidFill>
            </a:endParaRPr>
          </a:p>
          <a:p>
            <a:pPr>
              <a:spcAft>
                <a:spcPts val="1500"/>
              </a:spcAft>
            </a:pPr>
            <a:r>
              <a:rPr lang="en-US" sz="2000" b="1" dirty="0">
                <a:solidFill>
                  <a:schemeClr val="bg1"/>
                </a:solidFill>
              </a:rPr>
              <a:t>Type 2 Hypervisor Examples:</a:t>
            </a:r>
          </a:p>
          <a:p>
            <a:pPr>
              <a:spcAft>
                <a:spcPts val="1500"/>
              </a:spcAft>
            </a:pPr>
            <a:r>
              <a:rPr lang="en-US" sz="2000" b="1" dirty="0">
                <a:solidFill>
                  <a:schemeClr val="bg1"/>
                </a:solidFill>
              </a:rPr>
              <a:t>VMware Workstation</a:t>
            </a:r>
          </a:p>
          <a:p>
            <a:pPr>
              <a:spcAft>
                <a:spcPts val="1500"/>
              </a:spcAft>
            </a:pPr>
            <a:r>
              <a:rPr lang="en-US" sz="2000" b="1" dirty="0">
                <a:solidFill>
                  <a:schemeClr val="bg1"/>
                </a:solidFill>
              </a:rPr>
              <a:t>Oracle VirtualBox</a:t>
            </a:r>
          </a:p>
          <a:p>
            <a:pPr>
              <a:spcAft>
                <a:spcPts val="1500"/>
              </a:spcAft>
            </a:pPr>
            <a:endParaRPr lang="en-US" sz="2000" b="1" dirty="0">
              <a:solidFill>
                <a:schemeClr val="bg1"/>
              </a:solidFill>
            </a:endParaRPr>
          </a:p>
        </p:txBody>
      </p:sp>
      <p:grpSp>
        <p:nvGrpSpPr>
          <p:cNvPr id="13" name="Group 12">
            <a:extLst>
              <a:ext uri="{FF2B5EF4-FFF2-40B4-BE49-F238E27FC236}">
                <a16:creationId xmlns:a16="http://schemas.microsoft.com/office/drawing/2014/main" id="{D2A41813-D710-3635-73BC-9D0F32A808EA}"/>
              </a:ext>
            </a:extLst>
          </p:cNvPr>
          <p:cNvGrpSpPr/>
          <p:nvPr/>
        </p:nvGrpSpPr>
        <p:grpSpPr>
          <a:xfrm>
            <a:off x="5937569" y="590239"/>
            <a:ext cx="6076800" cy="5746527"/>
            <a:chOff x="5937569" y="590239"/>
            <a:chExt cx="6076800" cy="5746527"/>
          </a:xfrm>
        </p:grpSpPr>
        <p:pic>
          <p:nvPicPr>
            <p:cNvPr id="10" name="Picture 9" descr="A diagram of a computer system&#10;&#10;Description automatically generated">
              <a:extLst>
                <a:ext uri="{FF2B5EF4-FFF2-40B4-BE49-F238E27FC236}">
                  <a16:creationId xmlns:a16="http://schemas.microsoft.com/office/drawing/2014/main" id="{44863998-1F0C-65EB-6383-55BD5944FCDC}"/>
                </a:ext>
              </a:extLst>
            </p:cNvPr>
            <p:cNvPicPr>
              <a:picLocks/>
            </p:cNvPicPr>
            <p:nvPr/>
          </p:nvPicPr>
          <p:blipFill>
            <a:blip r:embed="rId2"/>
            <a:srcRect l="12414" t="53192" r="11441" b="7001"/>
            <a:stretch/>
          </p:blipFill>
          <p:spPr>
            <a:xfrm>
              <a:off x="5937569" y="4453966"/>
              <a:ext cx="6076800" cy="1882800"/>
            </a:xfrm>
            <a:prstGeom prst="rect">
              <a:avLst/>
            </a:prstGeom>
          </p:spPr>
        </p:pic>
        <p:pic>
          <p:nvPicPr>
            <p:cNvPr id="12" name="Picture 11" descr="A screenshot of a computer&#10;&#10;Description automatically generated">
              <a:extLst>
                <a:ext uri="{FF2B5EF4-FFF2-40B4-BE49-F238E27FC236}">
                  <a16:creationId xmlns:a16="http://schemas.microsoft.com/office/drawing/2014/main" id="{360DA8DF-4F1C-B984-7A33-518BD6253D50}"/>
                </a:ext>
              </a:extLst>
            </p:cNvPr>
            <p:cNvPicPr>
              <a:picLocks noChangeAspect="1"/>
            </p:cNvPicPr>
            <p:nvPr/>
          </p:nvPicPr>
          <p:blipFill>
            <a:blip r:embed="rId3"/>
            <a:srcRect l="54618" t="7099" r="3764" b="17136"/>
            <a:stretch/>
          </p:blipFill>
          <p:spPr>
            <a:xfrm>
              <a:off x="8144783" y="590239"/>
              <a:ext cx="3869586" cy="3909178"/>
            </a:xfrm>
            <a:prstGeom prst="rect">
              <a:avLst/>
            </a:prstGeom>
          </p:spPr>
        </p:pic>
      </p:grpSp>
    </p:spTree>
    <p:extLst>
      <p:ext uri="{BB962C8B-B14F-4D97-AF65-F5344CB8AC3E}">
        <p14:creationId xmlns:p14="http://schemas.microsoft.com/office/powerpoint/2010/main" val="964157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fill="hold"/>
                                        <p:tgtEl>
                                          <p:spTgt spid="13"/>
                                        </p:tgtEl>
                                        <p:attrNameLst>
                                          <p:attrName>ppt_x</p:attrName>
                                        </p:attrNameLst>
                                      </p:cBhvr>
                                      <p:tavLst>
                                        <p:tav tm="0">
                                          <p:val>
                                            <p:strVal val="1+#ppt_w/2"/>
                                          </p:val>
                                        </p:tav>
                                        <p:tav tm="100000">
                                          <p:val>
                                            <p:strVal val="#ppt_x"/>
                                          </p:val>
                                        </p:tav>
                                      </p:tavLst>
                                    </p:anim>
                                    <p:anim calcmode="lin" valueType="num">
                                      <p:cBhvr additive="base">
                                        <p:cTn id="13"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FA87B-7864-95C9-E440-4CBAD926BC2A}"/>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ADB1A4CD-4EB6-2DA7-48D1-71A63EEABFF2}"/>
              </a:ext>
            </a:extLst>
          </p:cNvPr>
          <p:cNvSpPr txBox="1"/>
          <p:nvPr/>
        </p:nvSpPr>
        <p:spPr>
          <a:xfrm>
            <a:off x="177631" y="1363050"/>
            <a:ext cx="11737704" cy="5016758"/>
          </a:xfrm>
          <a:prstGeom prst="rect">
            <a:avLst/>
          </a:prstGeom>
          <a:noFill/>
        </p:spPr>
        <p:txBody>
          <a:bodyPr wrap="square" rtlCol="0">
            <a:spAutoFit/>
          </a:bodyPr>
          <a:lstStyle/>
          <a:p>
            <a:r>
              <a:rPr lang="en-US" sz="2000" b="1" dirty="0">
                <a:solidFill>
                  <a:schemeClr val="bg1"/>
                </a:solidFill>
              </a:rPr>
              <a:t>What’s an example of virtualization?</a:t>
            </a:r>
            <a:br>
              <a:rPr lang="en-US" sz="2000" b="1" dirty="0">
                <a:solidFill>
                  <a:schemeClr val="bg1"/>
                </a:solidFill>
              </a:rPr>
            </a:br>
            <a:endParaRPr lang="en-US" sz="2000" b="1" dirty="0">
              <a:solidFill>
                <a:schemeClr val="bg1"/>
              </a:solidFill>
            </a:endParaRPr>
          </a:p>
          <a:p>
            <a:r>
              <a:rPr lang="en-US" sz="2000" b="1" dirty="0">
                <a:solidFill>
                  <a:schemeClr val="bg1"/>
                </a:solidFill>
              </a:rPr>
              <a:t>Here’s a common virtualization scenario: a business has three physical servers that each have a specific purpose:</a:t>
            </a:r>
            <a:br>
              <a:rPr lang="en-US" sz="2000" b="1" dirty="0">
                <a:solidFill>
                  <a:schemeClr val="bg1"/>
                </a:solidFill>
              </a:rPr>
            </a:br>
            <a:br>
              <a:rPr lang="en-US" sz="2000" b="1" dirty="0">
                <a:solidFill>
                  <a:schemeClr val="bg1"/>
                </a:solidFill>
              </a:rPr>
            </a:br>
            <a:r>
              <a:rPr lang="en-US" sz="2000" b="1" dirty="0">
                <a:solidFill>
                  <a:schemeClr val="bg1"/>
                </a:solidFill>
              </a:rPr>
              <a:t>One supports web traffic,</a:t>
            </a:r>
            <a:br>
              <a:rPr lang="en-US" sz="2000" b="1" dirty="0">
                <a:solidFill>
                  <a:schemeClr val="bg1"/>
                </a:solidFill>
              </a:rPr>
            </a:br>
            <a:r>
              <a:rPr lang="en-US" sz="2000" b="1" dirty="0">
                <a:solidFill>
                  <a:schemeClr val="bg1"/>
                </a:solidFill>
              </a:rPr>
              <a:t>One supports company email, </a:t>
            </a:r>
            <a:br>
              <a:rPr lang="en-US" sz="2000" b="1" dirty="0">
                <a:solidFill>
                  <a:schemeClr val="bg1"/>
                </a:solidFill>
              </a:rPr>
            </a:br>
            <a:r>
              <a:rPr lang="en-US" sz="2000" b="1" dirty="0">
                <a:solidFill>
                  <a:schemeClr val="bg1"/>
                </a:solidFill>
              </a:rPr>
              <a:t>One supports internal business applications.</a:t>
            </a:r>
            <a:br>
              <a:rPr lang="en-US" sz="2000" b="1" dirty="0">
                <a:solidFill>
                  <a:schemeClr val="bg1"/>
                </a:solidFill>
              </a:rPr>
            </a:br>
            <a:r>
              <a:rPr lang="en-US" sz="2000" b="1" dirty="0">
                <a:solidFill>
                  <a:schemeClr val="bg1"/>
                </a:solidFill>
              </a:rPr>
              <a:t>With each physical server only being used for its dedicated purpose, the business is probably only using one-third of each server’s computing capacity—even though it pays 100% of the server’s maintenance costs.</a:t>
            </a:r>
            <a:br>
              <a:rPr lang="en-US" sz="2000" b="1" dirty="0">
                <a:solidFill>
                  <a:schemeClr val="bg1"/>
                </a:solidFill>
              </a:rPr>
            </a:br>
            <a:endParaRPr lang="en-US" sz="2000" b="1" dirty="0">
              <a:solidFill>
                <a:schemeClr val="bg1"/>
              </a:solidFill>
            </a:endParaRPr>
          </a:p>
          <a:p>
            <a:r>
              <a:rPr lang="en-US" sz="2000" b="1" dirty="0">
                <a:solidFill>
                  <a:schemeClr val="bg1"/>
                </a:solidFill>
              </a:rPr>
              <a:t>With virtualization, you could split one of the servers into two virtual machines and cut your maintenance costs by 33%. This means one server could handle email and web traffic, another could host all business applications, and the third could be retired to save costs or repurposed for some other IT service.</a:t>
            </a:r>
          </a:p>
        </p:txBody>
      </p:sp>
      <p:sp>
        <p:nvSpPr>
          <p:cNvPr id="2" name="TextBox 1">
            <a:extLst>
              <a:ext uri="{FF2B5EF4-FFF2-40B4-BE49-F238E27FC236}">
                <a16:creationId xmlns:a16="http://schemas.microsoft.com/office/drawing/2014/main" id="{6E737167-E711-B15D-10ED-3C394E322889}"/>
              </a:ext>
            </a:extLst>
          </p:cNvPr>
          <p:cNvSpPr txBox="1"/>
          <p:nvPr/>
        </p:nvSpPr>
        <p:spPr>
          <a:xfrm>
            <a:off x="177631" y="590239"/>
            <a:ext cx="5572240"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Virtualization</a:t>
            </a:r>
            <a:endParaRPr lang="en-ID" sz="2400" dirty="0">
              <a:solidFill>
                <a:schemeClr val="bg1"/>
              </a:solidFill>
              <a:latin typeface="Arial Black" panose="020B0A04020102020204" pitchFamily="34" charset="0"/>
            </a:endParaRPr>
          </a:p>
        </p:txBody>
      </p:sp>
    </p:spTree>
    <p:extLst>
      <p:ext uri="{BB962C8B-B14F-4D97-AF65-F5344CB8AC3E}">
        <p14:creationId xmlns:p14="http://schemas.microsoft.com/office/powerpoint/2010/main" val="4168757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E0E2C-A373-C65E-C2E8-29470E5581CB}"/>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B8721F2B-93C1-F379-DDFD-5A2402E534AB}"/>
              </a:ext>
            </a:extLst>
          </p:cNvPr>
          <p:cNvSpPr txBox="1"/>
          <p:nvPr/>
        </p:nvSpPr>
        <p:spPr>
          <a:xfrm>
            <a:off x="177631" y="1363050"/>
            <a:ext cx="11737704" cy="4664547"/>
          </a:xfrm>
          <a:prstGeom prst="rect">
            <a:avLst/>
          </a:prstGeom>
          <a:noFill/>
        </p:spPr>
        <p:txBody>
          <a:bodyPr wrap="square" rtlCol="0">
            <a:spAutoFit/>
          </a:bodyPr>
          <a:lstStyle/>
          <a:p>
            <a:pPr>
              <a:lnSpc>
                <a:spcPct val="150000"/>
              </a:lnSpc>
            </a:pPr>
            <a:r>
              <a:rPr lang="en-US" sz="2000" b="1" dirty="0">
                <a:solidFill>
                  <a:schemeClr val="bg1"/>
                </a:solidFill>
              </a:rPr>
              <a:t>Containerization is "OS-level virtualization". It doesn't simulate the entire physical machine. It just simulates the OS of your machine. </a:t>
            </a:r>
          </a:p>
          <a:p>
            <a:pPr marL="342900" indent="-342900">
              <a:lnSpc>
                <a:spcPct val="150000"/>
              </a:lnSpc>
              <a:buFont typeface="Arial" panose="020B0604020202020204" pitchFamily="34" charset="0"/>
              <a:buChar char="•"/>
            </a:pPr>
            <a:r>
              <a:rPr lang="en-US" sz="2000" b="1" dirty="0">
                <a:solidFill>
                  <a:schemeClr val="bg1"/>
                </a:solidFill>
              </a:rPr>
              <a:t>Multiple applications can share the same OS kernel. </a:t>
            </a:r>
          </a:p>
          <a:p>
            <a:pPr marL="342900" indent="-342900">
              <a:lnSpc>
                <a:spcPct val="150000"/>
              </a:lnSpc>
              <a:buFont typeface="Arial" panose="020B0604020202020204" pitchFamily="34" charset="0"/>
              <a:buChar char="•"/>
            </a:pPr>
            <a:r>
              <a:rPr lang="en-US" sz="2000" b="1" dirty="0">
                <a:solidFill>
                  <a:schemeClr val="bg1"/>
                </a:solidFill>
              </a:rPr>
              <a:t> Most common container technology is "Docker". </a:t>
            </a:r>
          </a:p>
          <a:p>
            <a:pPr marL="342900" indent="-342900">
              <a:lnSpc>
                <a:spcPct val="150000"/>
              </a:lnSpc>
              <a:buFont typeface="Arial" panose="020B0604020202020204" pitchFamily="34" charset="0"/>
              <a:buChar char="•"/>
            </a:pPr>
            <a:r>
              <a:rPr lang="en-US" sz="2000" b="1" dirty="0">
                <a:solidFill>
                  <a:schemeClr val="bg1"/>
                </a:solidFill>
              </a:rPr>
              <a:t>Containerization is the process of bundling the application code along with the libraries, configuration files, and dependencies required for the application to run cross-platform.</a:t>
            </a:r>
          </a:p>
          <a:p>
            <a:pPr marL="342900" indent="-342900">
              <a:lnSpc>
                <a:spcPct val="150000"/>
              </a:lnSpc>
              <a:buFont typeface="Arial" panose="020B0604020202020204" pitchFamily="34" charset="0"/>
              <a:buChar char="•"/>
            </a:pPr>
            <a:r>
              <a:rPr lang="en-US" sz="2000" b="1" dirty="0">
                <a:solidFill>
                  <a:schemeClr val="bg1"/>
                </a:solidFill>
              </a:rPr>
              <a:t>It is an application-packaging approach where the code is written once and capable of executing anywhere.</a:t>
            </a:r>
          </a:p>
          <a:p>
            <a:pPr marL="342900" indent="-342900">
              <a:lnSpc>
                <a:spcPct val="150000"/>
              </a:lnSpc>
              <a:buFont typeface="Arial" panose="020B0604020202020204" pitchFamily="34" charset="0"/>
              <a:buChar char="•"/>
            </a:pPr>
            <a:r>
              <a:rPr lang="en-US" sz="2000" b="1" dirty="0">
                <a:solidFill>
                  <a:schemeClr val="bg1"/>
                </a:solidFill>
              </a:rPr>
              <a:t>It provides less isolation than virtualizations as the containers share the same kernel unlike virtualization where each virtual machine is completely isolated from the other machines.</a:t>
            </a:r>
          </a:p>
        </p:txBody>
      </p:sp>
      <p:sp>
        <p:nvSpPr>
          <p:cNvPr id="2" name="TextBox 1">
            <a:extLst>
              <a:ext uri="{FF2B5EF4-FFF2-40B4-BE49-F238E27FC236}">
                <a16:creationId xmlns:a16="http://schemas.microsoft.com/office/drawing/2014/main" id="{EAFCC355-1943-F855-0A91-F89FA77E297E}"/>
              </a:ext>
            </a:extLst>
          </p:cNvPr>
          <p:cNvSpPr txBox="1"/>
          <p:nvPr/>
        </p:nvSpPr>
        <p:spPr>
          <a:xfrm>
            <a:off x="177631" y="590239"/>
            <a:ext cx="5572240"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Containerization</a:t>
            </a:r>
            <a:endParaRPr lang="en-ID" sz="2400" dirty="0">
              <a:solidFill>
                <a:schemeClr val="bg1"/>
              </a:solidFill>
              <a:latin typeface="Arial Black" panose="020B0A04020102020204" pitchFamily="34" charset="0"/>
            </a:endParaRPr>
          </a:p>
        </p:txBody>
      </p:sp>
    </p:spTree>
    <p:extLst>
      <p:ext uri="{BB962C8B-B14F-4D97-AF65-F5344CB8AC3E}">
        <p14:creationId xmlns:p14="http://schemas.microsoft.com/office/powerpoint/2010/main" val="636160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93C21-3CF2-E7E8-A9B2-139F5A69C7D5}"/>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EEE763F-B191-1470-B0F8-CA45E1F5DD79}"/>
              </a:ext>
            </a:extLst>
          </p:cNvPr>
          <p:cNvSpPr txBox="1"/>
          <p:nvPr/>
        </p:nvSpPr>
        <p:spPr>
          <a:xfrm>
            <a:off x="197262" y="1147245"/>
            <a:ext cx="2169329" cy="676467"/>
          </a:xfrm>
          <a:prstGeom prst="rect">
            <a:avLst/>
          </a:prstGeom>
          <a:noFill/>
        </p:spPr>
        <p:txBody>
          <a:bodyPr wrap="square" rtlCol="0">
            <a:spAutoFit/>
          </a:bodyPr>
          <a:lstStyle/>
          <a:p>
            <a:pPr>
              <a:lnSpc>
                <a:spcPct val="150000"/>
              </a:lnSpc>
            </a:pPr>
            <a:r>
              <a:rPr lang="en-US" sz="2800" b="1" dirty="0">
                <a:solidFill>
                  <a:schemeClr val="bg1"/>
                </a:solidFill>
              </a:rPr>
              <a:t>Docker</a:t>
            </a:r>
          </a:p>
        </p:txBody>
      </p:sp>
      <p:sp>
        <p:nvSpPr>
          <p:cNvPr id="2" name="TextBox 1">
            <a:extLst>
              <a:ext uri="{FF2B5EF4-FFF2-40B4-BE49-F238E27FC236}">
                <a16:creationId xmlns:a16="http://schemas.microsoft.com/office/drawing/2014/main" id="{ECFDC59F-23CD-7B4D-A27F-36DE2192F587}"/>
              </a:ext>
            </a:extLst>
          </p:cNvPr>
          <p:cNvSpPr txBox="1"/>
          <p:nvPr/>
        </p:nvSpPr>
        <p:spPr>
          <a:xfrm>
            <a:off x="177631" y="590239"/>
            <a:ext cx="5572240"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Containerization</a:t>
            </a:r>
            <a:endParaRPr lang="en-ID" sz="2400" dirty="0">
              <a:solidFill>
                <a:schemeClr val="bg1"/>
              </a:solidFill>
              <a:latin typeface="Arial Black" panose="020B0A04020102020204" pitchFamily="34" charset="0"/>
            </a:endParaRPr>
          </a:p>
        </p:txBody>
      </p:sp>
      <p:sp>
        <p:nvSpPr>
          <p:cNvPr id="3" name="TextBox 2">
            <a:extLst>
              <a:ext uri="{FF2B5EF4-FFF2-40B4-BE49-F238E27FC236}">
                <a16:creationId xmlns:a16="http://schemas.microsoft.com/office/drawing/2014/main" id="{CF8D36B3-6D49-6DA2-3A0E-BB98BE32DC5D}"/>
              </a:ext>
            </a:extLst>
          </p:cNvPr>
          <p:cNvSpPr txBox="1"/>
          <p:nvPr/>
        </p:nvSpPr>
        <p:spPr>
          <a:xfrm>
            <a:off x="197262" y="1823712"/>
            <a:ext cx="12136289" cy="4893647"/>
          </a:xfrm>
          <a:prstGeom prst="rect">
            <a:avLst/>
          </a:prstGeom>
          <a:noFill/>
        </p:spPr>
        <p:txBody>
          <a:bodyPr wrap="square" rtlCol="0">
            <a:spAutoFit/>
          </a:bodyPr>
          <a:lstStyle/>
          <a:p>
            <a:r>
              <a:rPr lang="en-US" sz="2400" dirty="0">
                <a:solidFill>
                  <a:schemeClr val="bg1"/>
                </a:solidFill>
              </a:rPr>
              <a:t>Docker is an open-source framework that enables </a:t>
            </a:r>
          </a:p>
          <a:p>
            <a:r>
              <a:rPr lang="en-US" sz="2400" dirty="0">
                <a:solidFill>
                  <a:schemeClr val="bg1"/>
                </a:solidFill>
              </a:rPr>
              <a:t>developers to build, deploy, run, update and manage</a:t>
            </a:r>
          </a:p>
          <a:p>
            <a:r>
              <a:rPr lang="en-US" sz="2400" dirty="0">
                <a:solidFill>
                  <a:schemeClr val="bg1"/>
                </a:solidFill>
              </a:rPr>
              <a:t>containers.</a:t>
            </a:r>
          </a:p>
          <a:p>
            <a:endParaRPr lang="en-US" sz="2400" dirty="0">
              <a:solidFill>
                <a:schemeClr val="bg1"/>
              </a:solidFill>
            </a:endParaRPr>
          </a:p>
          <a:p>
            <a:endParaRPr lang="en-US" sz="2400" dirty="0">
              <a:solidFill>
                <a:schemeClr val="bg1"/>
              </a:solidFill>
            </a:endParaRPr>
          </a:p>
          <a:p>
            <a:r>
              <a:rPr lang="en-US" sz="2400" dirty="0">
                <a:solidFill>
                  <a:schemeClr val="bg1"/>
                </a:solidFill>
              </a:rPr>
              <a:t>Docker utilizes LXC (Linux Containers) which refers to capabilities of the Linux kernel (specifically namespaces and control groups) which allow sandboxing processes from one another and controlling their resource allocations.</a:t>
            </a:r>
          </a:p>
          <a:p>
            <a:r>
              <a:rPr lang="en-US" sz="2400" dirty="0">
                <a:solidFill>
                  <a:schemeClr val="bg1"/>
                </a:solidFill>
              </a:rPr>
              <a:t>On top of this low-level foundation of kernel features, Docker offers a high-level tool with several powerful functionalities.</a:t>
            </a:r>
          </a:p>
          <a:p>
            <a:endParaRPr lang="en-US" sz="2400" dirty="0">
              <a:solidFill>
                <a:schemeClr val="bg1"/>
              </a:solidFill>
            </a:endParaRPr>
          </a:p>
          <a:p>
            <a:r>
              <a:rPr lang="en-US" sz="2400" dirty="0">
                <a:solidFill>
                  <a:schemeClr val="bg1"/>
                </a:solidFill>
              </a:rPr>
              <a:t>Namespace gives the isolation for the container with the underline host.</a:t>
            </a:r>
          </a:p>
          <a:p>
            <a:r>
              <a:rPr lang="en-US" sz="2400" dirty="0">
                <a:solidFill>
                  <a:schemeClr val="bg1"/>
                </a:solidFill>
              </a:rPr>
              <a:t>Cgroups gives the ability to allocate resources to the containers.</a:t>
            </a:r>
            <a:endParaRPr lang="en-EG" sz="2400" dirty="0">
              <a:solidFill>
                <a:schemeClr val="bg1"/>
              </a:solidFill>
            </a:endParaRPr>
          </a:p>
        </p:txBody>
      </p:sp>
      <p:pic>
        <p:nvPicPr>
          <p:cNvPr id="5" name="Picture 4" descr="A blue whale with a whale and a whale with a whale and a whale&#10;&#10;Description automatically generated with medium confidence">
            <a:extLst>
              <a:ext uri="{FF2B5EF4-FFF2-40B4-BE49-F238E27FC236}">
                <a16:creationId xmlns:a16="http://schemas.microsoft.com/office/drawing/2014/main" id="{DA3CC2FA-8C1A-07D3-9C20-6574ACB67800}"/>
              </a:ext>
            </a:extLst>
          </p:cNvPr>
          <p:cNvPicPr>
            <a:picLocks noChangeAspect="1"/>
          </p:cNvPicPr>
          <p:nvPr/>
        </p:nvPicPr>
        <p:blipFill>
          <a:blip r:embed="rId2"/>
          <a:stretch>
            <a:fillRect/>
          </a:stretch>
        </p:blipFill>
        <p:spPr>
          <a:xfrm>
            <a:off x="7399000" y="876928"/>
            <a:ext cx="4615369" cy="2632711"/>
          </a:xfrm>
          <a:prstGeom prst="rect">
            <a:avLst/>
          </a:prstGeom>
        </p:spPr>
      </p:pic>
    </p:spTree>
    <p:extLst>
      <p:ext uri="{BB962C8B-B14F-4D97-AF65-F5344CB8AC3E}">
        <p14:creationId xmlns:p14="http://schemas.microsoft.com/office/powerpoint/2010/main" val="2266289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0-#ppt_w/2"/>
                                          </p:val>
                                        </p:tav>
                                        <p:tav tm="100000">
                                          <p:val>
                                            <p:strVal val="#ppt_x"/>
                                          </p:val>
                                        </p:tav>
                                      </p:tavLst>
                                    </p:anim>
                                    <p:anim calcmode="lin" valueType="num">
                                      <p:cBhvr additive="base">
                                        <p:cTn id="13" dur="500" fill="hold"/>
                                        <p:tgtEl>
                                          <p:spTgt spid="3"/>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1+#ppt_w/2"/>
                                          </p:val>
                                        </p:tav>
                                        <p:tav tm="100000">
                                          <p:val>
                                            <p:strVal val="#ppt_x"/>
                                          </p:val>
                                        </p:tav>
                                      </p:tavLst>
                                    </p:anim>
                                    <p:anim calcmode="lin" valueType="num">
                                      <p:cBhvr additive="base">
                                        <p:cTn id="1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572E8-D4B3-DFE0-8E88-A2237305235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6AB736C-4D66-477C-9158-0604F0F41395}"/>
              </a:ext>
            </a:extLst>
          </p:cNvPr>
          <p:cNvSpPr txBox="1"/>
          <p:nvPr/>
        </p:nvSpPr>
        <p:spPr>
          <a:xfrm>
            <a:off x="177631" y="628757"/>
            <a:ext cx="12136289" cy="6740307"/>
          </a:xfrm>
          <a:prstGeom prst="rect">
            <a:avLst/>
          </a:prstGeom>
          <a:noFill/>
        </p:spPr>
        <p:txBody>
          <a:bodyPr wrap="square" rtlCol="0">
            <a:spAutoFit/>
          </a:bodyPr>
          <a:lstStyle/>
          <a:p>
            <a:r>
              <a:rPr lang="en-US" sz="2400" dirty="0">
                <a:solidFill>
                  <a:schemeClr val="bg1"/>
                </a:solidFill>
              </a:rPr>
              <a:t>1. Docker Engine: The core component of Docker that enables container management. It includes the Docker daemon (dockerd), which runs as a background service, and the Docker CLI (docker), which provides a command-line interface for interacting with Docker.</a:t>
            </a:r>
            <a:br>
              <a:rPr lang="en-US" sz="2400" dirty="0">
                <a:solidFill>
                  <a:schemeClr val="bg1"/>
                </a:solidFill>
              </a:rPr>
            </a:br>
            <a:endParaRPr lang="en-US" sz="2400" dirty="0">
              <a:solidFill>
                <a:schemeClr val="bg1"/>
              </a:solidFill>
            </a:endParaRPr>
          </a:p>
          <a:p>
            <a:r>
              <a:rPr lang="en-US" sz="2400" dirty="0">
                <a:solidFill>
                  <a:schemeClr val="bg1"/>
                </a:solidFill>
              </a:rPr>
              <a:t>2. Docker Image: A read-only template that contains the application code, libraries, and dependencies required to run a container. Images serve as the building blocks for containers. Docker images can be based on other images, and they are versioned to allow for reproducibility.</a:t>
            </a:r>
          </a:p>
          <a:p>
            <a:endParaRPr lang="en-US" sz="2400" dirty="0">
              <a:solidFill>
                <a:schemeClr val="bg1"/>
              </a:solidFill>
            </a:endParaRPr>
          </a:p>
          <a:p>
            <a:r>
              <a:rPr lang="en-US" sz="2400" dirty="0">
                <a:solidFill>
                  <a:schemeClr val="bg1"/>
                </a:solidFill>
              </a:rPr>
              <a:t>3. Docker Container: A running instance of a Docker image. Containers are isolated from the host system and other containers, but they share the host OS kernel. This isolation ensures that applications can run consistently regardless of the underlying infrastructure.</a:t>
            </a:r>
          </a:p>
          <a:p>
            <a:endParaRPr lang="en-US" sz="2400" dirty="0">
              <a:solidFill>
                <a:schemeClr val="bg1"/>
              </a:solidFill>
            </a:endParaRPr>
          </a:p>
          <a:p>
            <a:r>
              <a:rPr lang="en-US" sz="2400" dirty="0">
                <a:solidFill>
                  <a:schemeClr val="bg1"/>
                </a:solidFill>
              </a:rPr>
              <a:t>4. Docker Registry: A repository that stores Docker images. Docker Hub is the default public registry that allows developers to access and share images. Private registries can also be used for more secure image storage.</a:t>
            </a:r>
          </a:p>
          <a:p>
            <a:br>
              <a:rPr lang="en-US" sz="2400" dirty="0">
                <a:solidFill>
                  <a:schemeClr val="bg1"/>
                </a:solidFill>
              </a:rPr>
            </a:br>
            <a:endParaRPr lang="en-US" sz="2400" dirty="0">
              <a:solidFill>
                <a:schemeClr val="bg1"/>
              </a:solidFill>
            </a:endParaRPr>
          </a:p>
        </p:txBody>
      </p:sp>
    </p:spTree>
    <p:extLst>
      <p:ext uri="{BB962C8B-B14F-4D97-AF65-F5344CB8AC3E}">
        <p14:creationId xmlns:p14="http://schemas.microsoft.com/office/powerpoint/2010/main" val="392398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60D67-AD3C-F57D-AF76-8D4F34DA8F0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6DF43D3-02B7-2C68-5DA5-C70F8F55CE13}"/>
              </a:ext>
            </a:extLst>
          </p:cNvPr>
          <p:cNvSpPr txBox="1"/>
          <p:nvPr/>
        </p:nvSpPr>
        <p:spPr>
          <a:xfrm>
            <a:off x="177631" y="590239"/>
            <a:ext cx="7342842"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Virtualization vs Containerization</a:t>
            </a:r>
            <a:endParaRPr lang="en-ID" sz="2400" dirty="0">
              <a:solidFill>
                <a:schemeClr val="bg1"/>
              </a:solidFill>
              <a:latin typeface="Arial Black" panose="020B0A04020102020204" pitchFamily="34" charset="0"/>
            </a:endParaRPr>
          </a:p>
        </p:txBody>
      </p:sp>
      <p:grpSp>
        <p:nvGrpSpPr>
          <p:cNvPr id="5" name="Group 4">
            <a:extLst>
              <a:ext uri="{FF2B5EF4-FFF2-40B4-BE49-F238E27FC236}">
                <a16:creationId xmlns:a16="http://schemas.microsoft.com/office/drawing/2014/main" id="{8851A78C-D9E5-F3F5-9613-0F84B9CACE5E}"/>
              </a:ext>
            </a:extLst>
          </p:cNvPr>
          <p:cNvGrpSpPr/>
          <p:nvPr/>
        </p:nvGrpSpPr>
        <p:grpSpPr>
          <a:xfrm>
            <a:off x="829768" y="1442746"/>
            <a:ext cx="10532465" cy="4608000"/>
            <a:chOff x="1038938" y="1442746"/>
            <a:chExt cx="10532465" cy="4608000"/>
          </a:xfrm>
        </p:grpSpPr>
        <p:pic>
          <p:nvPicPr>
            <p:cNvPr id="3" name="Picture 2">
              <a:extLst>
                <a:ext uri="{FF2B5EF4-FFF2-40B4-BE49-F238E27FC236}">
                  <a16:creationId xmlns:a16="http://schemas.microsoft.com/office/drawing/2014/main" id="{19A48ACD-5CD7-AD91-FDE6-8FFF2DFE40FA}"/>
                </a:ext>
              </a:extLst>
            </p:cNvPr>
            <p:cNvPicPr>
              <a:picLocks noChangeAspect="1"/>
            </p:cNvPicPr>
            <p:nvPr/>
          </p:nvPicPr>
          <p:blipFill>
            <a:blip r:embed="rId2"/>
            <a:stretch>
              <a:fillRect/>
            </a:stretch>
          </p:blipFill>
          <p:spPr>
            <a:xfrm>
              <a:off x="1038938" y="1442746"/>
              <a:ext cx="5028102" cy="4608000"/>
            </a:xfrm>
            <a:prstGeom prst="rect">
              <a:avLst/>
            </a:prstGeom>
          </p:spPr>
        </p:pic>
        <p:pic>
          <p:nvPicPr>
            <p:cNvPr id="4" name="Picture 3">
              <a:extLst>
                <a:ext uri="{FF2B5EF4-FFF2-40B4-BE49-F238E27FC236}">
                  <a16:creationId xmlns:a16="http://schemas.microsoft.com/office/drawing/2014/main" id="{136DE949-6C6D-8882-F673-1A4BC0BCE4B2}"/>
                </a:ext>
              </a:extLst>
            </p:cNvPr>
            <p:cNvPicPr>
              <a:picLocks noChangeAspect="1"/>
            </p:cNvPicPr>
            <p:nvPr/>
          </p:nvPicPr>
          <p:blipFill>
            <a:blip r:embed="rId3"/>
            <a:stretch>
              <a:fillRect/>
            </a:stretch>
          </p:blipFill>
          <p:spPr>
            <a:xfrm>
              <a:off x="6400800" y="1442746"/>
              <a:ext cx="5170603" cy="4608000"/>
            </a:xfrm>
            <a:prstGeom prst="rect">
              <a:avLst/>
            </a:prstGeom>
          </p:spPr>
        </p:pic>
      </p:grpSp>
    </p:spTree>
    <p:extLst>
      <p:ext uri="{BB962C8B-B14F-4D97-AF65-F5344CB8AC3E}">
        <p14:creationId xmlns:p14="http://schemas.microsoft.com/office/powerpoint/2010/main" val="3882128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0" presetClass="entr" presetSubtype="0"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3B305-C92A-5D4C-4C82-C6346BDA162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031A2B5-D5FE-A57D-4747-309D84F8D814}"/>
              </a:ext>
            </a:extLst>
          </p:cNvPr>
          <p:cNvSpPr txBox="1"/>
          <p:nvPr/>
        </p:nvSpPr>
        <p:spPr>
          <a:xfrm>
            <a:off x="177631" y="590239"/>
            <a:ext cx="7342842"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Virtualization vs Containerization</a:t>
            </a:r>
            <a:endParaRPr lang="en-ID" sz="2400" dirty="0">
              <a:solidFill>
                <a:schemeClr val="bg1"/>
              </a:solidFill>
              <a:latin typeface="Arial Black" panose="020B0A04020102020204" pitchFamily="34" charset="0"/>
            </a:endParaRPr>
          </a:p>
        </p:txBody>
      </p:sp>
      <p:sp>
        <p:nvSpPr>
          <p:cNvPr id="6" name="TextBox 5">
            <a:extLst>
              <a:ext uri="{FF2B5EF4-FFF2-40B4-BE49-F238E27FC236}">
                <a16:creationId xmlns:a16="http://schemas.microsoft.com/office/drawing/2014/main" id="{151653D7-9F64-34B8-FC6B-11D82BB8FE71}"/>
              </a:ext>
            </a:extLst>
          </p:cNvPr>
          <p:cNvSpPr txBox="1"/>
          <p:nvPr/>
        </p:nvSpPr>
        <p:spPr>
          <a:xfrm>
            <a:off x="177631" y="1264920"/>
            <a:ext cx="11861969" cy="5355312"/>
          </a:xfrm>
          <a:prstGeom prst="rect">
            <a:avLst/>
          </a:prstGeom>
          <a:noFill/>
        </p:spPr>
        <p:txBody>
          <a:bodyPr wrap="square" rtlCol="0">
            <a:spAutoFit/>
          </a:bodyPr>
          <a:lstStyle/>
          <a:p>
            <a:pPr algn="l">
              <a:spcAft>
                <a:spcPts val="1200"/>
              </a:spcAft>
            </a:pPr>
            <a:r>
              <a:rPr lang="en-US" sz="2400" b="1" i="0" dirty="0">
                <a:solidFill>
                  <a:srgbClr val="FFA93A"/>
                </a:solidFill>
                <a:effectLst/>
                <a:latin typeface="Inter"/>
              </a:rPr>
              <a:t>1. Resource Overhead</a:t>
            </a:r>
          </a:p>
          <a:p>
            <a:pPr algn="l">
              <a:spcAft>
                <a:spcPts val="1200"/>
              </a:spcAft>
            </a:pPr>
            <a:r>
              <a:rPr lang="en-US" sz="2400" b="0" i="0" dirty="0">
                <a:solidFill>
                  <a:schemeClr val="bg1"/>
                </a:solidFill>
                <a:effectLst/>
                <a:latin typeface="Inter"/>
              </a:rPr>
              <a:t>When comparing containerization vs virtualization in terms of resource overhead, containerization is the clear winner. Because containers share the host system’s operating system, and do not need to run a full operating system, they are significantly more lightweight and consume fewer resources. Virtual machines, on the other hand, each require their own OS, which increases the overhead, especially when many VMs are running on the same host system.</a:t>
            </a:r>
          </a:p>
          <a:p>
            <a:pPr algn="l">
              <a:spcAft>
                <a:spcPts val="1200"/>
              </a:spcAft>
            </a:pPr>
            <a:r>
              <a:rPr lang="en-US" sz="2400" b="1" i="0" dirty="0">
                <a:solidFill>
                  <a:srgbClr val="FFA93A"/>
                </a:solidFill>
                <a:effectLst/>
                <a:latin typeface="Inter"/>
              </a:rPr>
              <a:t>2. Startup Time</a:t>
            </a:r>
          </a:p>
          <a:p>
            <a:pPr algn="l"/>
            <a:r>
              <a:rPr lang="en-US" sz="2400" b="0" i="0" dirty="0">
                <a:solidFill>
                  <a:schemeClr val="bg1"/>
                </a:solidFill>
                <a:effectLst/>
                <a:latin typeface="Inter"/>
              </a:rPr>
              <a:t>In general, containers start up more quickly than VMs, because they don’t have to start up an entire operating system. Virtual machines take much longer to boot up. This means containers are more flexible and can be torn down and restarted whenever needed, supporting immutability, which means that a resource never changes after being deployed.</a:t>
            </a:r>
          </a:p>
          <a:p>
            <a:endParaRPr lang="en-EG" sz="2400" dirty="0">
              <a:solidFill>
                <a:schemeClr val="bg1"/>
              </a:solidFill>
            </a:endParaRPr>
          </a:p>
        </p:txBody>
      </p:sp>
    </p:spTree>
    <p:extLst>
      <p:ext uri="{BB962C8B-B14F-4D97-AF65-F5344CB8AC3E}">
        <p14:creationId xmlns:p14="http://schemas.microsoft.com/office/powerpoint/2010/main" val="163328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4E7E9-0C17-31F1-EDE8-3F7CE9007D7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BB98CF8-EB8F-F1AC-E36E-7DE4306B96D8}"/>
              </a:ext>
            </a:extLst>
          </p:cNvPr>
          <p:cNvSpPr txBox="1"/>
          <p:nvPr/>
        </p:nvSpPr>
        <p:spPr>
          <a:xfrm>
            <a:off x="177631" y="590239"/>
            <a:ext cx="7342842"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Virtualization vs Containerization</a:t>
            </a:r>
            <a:endParaRPr lang="en-ID" sz="2400" dirty="0">
              <a:solidFill>
                <a:schemeClr val="bg1"/>
              </a:solidFill>
              <a:latin typeface="Arial Black" panose="020B0A04020102020204" pitchFamily="34" charset="0"/>
            </a:endParaRPr>
          </a:p>
        </p:txBody>
      </p:sp>
      <p:sp>
        <p:nvSpPr>
          <p:cNvPr id="6" name="TextBox 5">
            <a:extLst>
              <a:ext uri="{FF2B5EF4-FFF2-40B4-BE49-F238E27FC236}">
                <a16:creationId xmlns:a16="http://schemas.microsoft.com/office/drawing/2014/main" id="{5DC79446-6692-A4AE-77B7-1E54F5D8F6B2}"/>
              </a:ext>
            </a:extLst>
          </p:cNvPr>
          <p:cNvSpPr txBox="1"/>
          <p:nvPr/>
        </p:nvSpPr>
        <p:spPr>
          <a:xfrm>
            <a:off x="177631" y="1264920"/>
            <a:ext cx="11861969" cy="4616648"/>
          </a:xfrm>
          <a:prstGeom prst="rect">
            <a:avLst/>
          </a:prstGeom>
          <a:noFill/>
        </p:spPr>
        <p:txBody>
          <a:bodyPr wrap="square" rtlCol="0">
            <a:spAutoFit/>
          </a:bodyPr>
          <a:lstStyle/>
          <a:p>
            <a:pPr algn="l">
              <a:spcAft>
                <a:spcPts val="1200"/>
              </a:spcAft>
            </a:pPr>
            <a:r>
              <a:rPr lang="en-US" sz="2400" b="1" dirty="0">
                <a:solidFill>
                  <a:srgbClr val="FFA93A"/>
                </a:solidFill>
                <a:latin typeface="Inter"/>
              </a:rPr>
              <a:t>3. Portability</a:t>
            </a:r>
          </a:p>
          <a:p>
            <a:pPr algn="l">
              <a:spcAft>
                <a:spcPts val="1200"/>
              </a:spcAft>
            </a:pPr>
            <a:r>
              <a:rPr lang="en-US" sz="2400" dirty="0">
                <a:solidFill>
                  <a:schemeClr val="bg1"/>
                </a:solidFill>
                <a:latin typeface="Inter"/>
              </a:rPr>
              <a:t>Both containers and virtual machines offer a high degree of portability. However, containers have a slight edge because they package the application and all of its dependencies together into a single unit, which can be run on any system that supports the container platform. Virtual machines, while also portable, are more dependent on the underlying hardware.</a:t>
            </a:r>
          </a:p>
          <a:p>
            <a:pPr algn="l">
              <a:spcAft>
                <a:spcPts val="1200"/>
              </a:spcAft>
            </a:pPr>
            <a:r>
              <a:rPr lang="en-US" sz="2400" b="1" dirty="0">
                <a:solidFill>
                  <a:srgbClr val="FFA93A"/>
                </a:solidFill>
                <a:latin typeface="Inter"/>
              </a:rPr>
              <a:t>4. Security Isolation</a:t>
            </a:r>
          </a:p>
          <a:p>
            <a:pPr algn="l"/>
            <a:r>
              <a:rPr lang="en-US" sz="2400" dirty="0">
                <a:solidFill>
                  <a:schemeClr val="bg1"/>
                </a:solidFill>
                <a:latin typeface="Inter"/>
              </a:rPr>
              <a:t>In terms of security isolation, virtual machines have the advantage. Because each VM is completely isolated from the host system and other VMs, a security breach in one VM typically does not affect the others (although it is possible to compromise the hypervisor and take control of all VMs on the device). Containers, while isolated from each other, still share the host system’s OS, so a breach in one container could possibly leak to other containers.</a:t>
            </a:r>
          </a:p>
        </p:txBody>
      </p:sp>
    </p:spTree>
    <p:extLst>
      <p:ext uri="{BB962C8B-B14F-4D97-AF65-F5344CB8AC3E}">
        <p14:creationId xmlns:p14="http://schemas.microsoft.com/office/powerpoint/2010/main" val="2637656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56CA4-7567-91D4-5DA1-44BC5B275AF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C241B0D-2941-7BE1-B250-F39B930BF8D6}"/>
              </a:ext>
            </a:extLst>
          </p:cNvPr>
          <p:cNvSpPr txBox="1"/>
          <p:nvPr/>
        </p:nvSpPr>
        <p:spPr>
          <a:xfrm>
            <a:off x="177631" y="590239"/>
            <a:ext cx="7342842"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Virtualization vs Containerization</a:t>
            </a:r>
            <a:endParaRPr lang="en-ID" sz="2400" dirty="0">
              <a:solidFill>
                <a:schemeClr val="bg1"/>
              </a:solidFill>
              <a:latin typeface="Arial Black" panose="020B0A04020102020204" pitchFamily="34" charset="0"/>
            </a:endParaRPr>
          </a:p>
        </p:txBody>
      </p:sp>
      <p:sp>
        <p:nvSpPr>
          <p:cNvPr id="6" name="TextBox 5">
            <a:extLst>
              <a:ext uri="{FF2B5EF4-FFF2-40B4-BE49-F238E27FC236}">
                <a16:creationId xmlns:a16="http://schemas.microsoft.com/office/drawing/2014/main" id="{7E29E278-93E7-F130-5FD2-32D6B9979BC0}"/>
              </a:ext>
            </a:extLst>
          </p:cNvPr>
          <p:cNvSpPr txBox="1"/>
          <p:nvPr/>
        </p:nvSpPr>
        <p:spPr>
          <a:xfrm>
            <a:off x="177631" y="1341120"/>
            <a:ext cx="11541929" cy="2462213"/>
          </a:xfrm>
          <a:prstGeom prst="rect">
            <a:avLst/>
          </a:prstGeom>
          <a:noFill/>
        </p:spPr>
        <p:txBody>
          <a:bodyPr wrap="square" rtlCol="0">
            <a:spAutoFit/>
          </a:bodyPr>
          <a:lstStyle/>
          <a:p>
            <a:pPr algn="l">
              <a:spcAft>
                <a:spcPts val="1200"/>
              </a:spcAft>
            </a:pPr>
            <a:r>
              <a:rPr lang="en-US" sz="2400" b="1" dirty="0">
                <a:solidFill>
                  <a:srgbClr val="FFA93A"/>
                </a:solidFill>
                <a:latin typeface="Inter"/>
              </a:rPr>
              <a:t>5. Scalability and Management</a:t>
            </a:r>
          </a:p>
          <a:p>
            <a:pPr algn="l">
              <a:spcAft>
                <a:spcPts val="1200"/>
              </a:spcAft>
            </a:pPr>
            <a:r>
              <a:rPr lang="en-US" sz="2400" dirty="0">
                <a:solidFill>
                  <a:schemeClr val="bg1"/>
                </a:solidFill>
                <a:latin typeface="Inter"/>
              </a:rPr>
              <a:t>The lightweight nature and rapid startup time offered by containers make them ideal for scaling applications quickly and efficiently. They also lend themselves well to the microservices architecture, which can simplify the management of complex applications. Virtual machines, while also scalable, are more resource-intensive and take longer to start, making them less suitable for microservices and distributed applications.</a:t>
            </a:r>
          </a:p>
        </p:txBody>
      </p:sp>
    </p:spTree>
    <p:extLst>
      <p:ext uri="{BB962C8B-B14F-4D97-AF65-F5344CB8AC3E}">
        <p14:creationId xmlns:p14="http://schemas.microsoft.com/office/powerpoint/2010/main" val="3387552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9A87B-6F86-BAA7-2C1D-41BFC974AA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B1B6A91-C7B1-CB81-4C5E-D90E1DEA3F9B}"/>
              </a:ext>
            </a:extLst>
          </p:cNvPr>
          <p:cNvSpPr txBox="1"/>
          <p:nvPr/>
        </p:nvSpPr>
        <p:spPr>
          <a:xfrm>
            <a:off x="177631" y="590239"/>
            <a:ext cx="7342842" cy="461665"/>
          </a:xfrm>
          <a:prstGeom prst="rect">
            <a:avLst/>
          </a:prstGeom>
          <a:noFill/>
        </p:spPr>
        <p:txBody>
          <a:bodyPr wrap="square" rtlCol="0">
            <a:spAutoFit/>
          </a:bodyPr>
          <a:lstStyle/>
          <a:p>
            <a:r>
              <a:rPr lang="en-ID" sz="2400" dirty="0">
                <a:solidFill>
                  <a:schemeClr val="bg1"/>
                </a:solidFill>
                <a:latin typeface="Arial Black" panose="020B0A04020102020204" pitchFamily="34" charset="0"/>
              </a:rPr>
              <a:t>Application Architectures</a:t>
            </a:r>
          </a:p>
        </p:txBody>
      </p:sp>
      <p:sp>
        <p:nvSpPr>
          <p:cNvPr id="6" name="TextBox 5">
            <a:extLst>
              <a:ext uri="{FF2B5EF4-FFF2-40B4-BE49-F238E27FC236}">
                <a16:creationId xmlns:a16="http://schemas.microsoft.com/office/drawing/2014/main" id="{E8CD218B-B7E3-CAD4-22B5-31773C48E2CB}"/>
              </a:ext>
            </a:extLst>
          </p:cNvPr>
          <p:cNvSpPr txBox="1"/>
          <p:nvPr/>
        </p:nvSpPr>
        <p:spPr>
          <a:xfrm>
            <a:off x="177631" y="1051904"/>
            <a:ext cx="11831489" cy="5955476"/>
          </a:xfrm>
          <a:prstGeom prst="rect">
            <a:avLst/>
          </a:prstGeom>
          <a:noFill/>
        </p:spPr>
        <p:txBody>
          <a:bodyPr wrap="square" rtlCol="0">
            <a:spAutoFit/>
          </a:bodyPr>
          <a:lstStyle/>
          <a:p>
            <a:pPr>
              <a:spcAft>
                <a:spcPts val="600"/>
              </a:spcAft>
            </a:pPr>
            <a:r>
              <a:rPr lang="en-US" sz="1900" dirty="0">
                <a:solidFill>
                  <a:schemeClr val="bg1"/>
                </a:solidFill>
              </a:rPr>
              <a:t>A monolithic architecture is a single, unified application where all the components and functionalities are tightly integrated into one cohesive unit. It runs as a single process, and all its parts are interdependent.</a:t>
            </a:r>
          </a:p>
          <a:p>
            <a:r>
              <a:rPr lang="en-US" sz="1900" b="1" dirty="0">
                <a:solidFill>
                  <a:srgbClr val="FFA93A"/>
                </a:solidFill>
              </a:rPr>
              <a:t>Characteristics:</a:t>
            </a:r>
          </a:p>
          <a:p>
            <a:r>
              <a:rPr lang="en-US" sz="1900" b="1" dirty="0">
                <a:solidFill>
                  <a:schemeClr val="bg1"/>
                </a:solidFill>
              </a:rPr>
              <a:t>Single Codebase:</a:t>
            </a:r>
            <a:r>
              <a:rPr lang="en-US" sz="1900" dirty="0">
                <a:solidFill>
                  <a:schemeClr val="bg1"/>
                </a:solidFill>
              </a:rPr>
              <a:t> All components, such as the user interface (UI), business logic, and data access layers, are part of one codebase.</a:t>
            </a:r>
          </a:p>
          <a:p>
            <a:r>
              <a:rPr lang="en-US" sz="1900" b="1" dirty="0">
                <a:solidFill>
                  <a:schemeClr val="bg1"/>
                </a:solidFill>
              </a:rPr>
              <a:t>Tightly Coupled:</a:t>
            </a:r>
            <a:r>
              <a:rPr lang="en-US" sz="1900" dirty="0">
                <a:solidFill>
                  <a:schemeClr val="bg1"/>
                </a:solidFill>
              </a:rPr>
              <a:t> Any change to one part of the system may require redeploying the entire application.</a:t>
            </a:r>
          </a:p>
          <a:p>
            <a:pPr>
              <a:spcAft>
                <a:spcPts val="600"/>
              </a:spcAft>
            </a:pPr>
            <a:r>
              <a:rPr lang="en-US" sz="1900" b="1" dirty="0">
                <a:solidFill>
                  <a:schemeClr val="bg1"/>
                </a:solidFill>
              </a:rPr>
              <a:t>Centralized Database:</a:t>
            </a:r>
            <a:r>
              <a:rPr lang="en-US" sz="1900" dirty="0">
                <a:solidFill>
                  <a:schemeClr val="bg1"/>
                </a:solidFill>
              </a:rPr>
              <a:t> Often relies on a single database for all operations.</a:t>
            </a:r>
          </a:p>
          <a:p>
            <a:r>
              <a:rPr lang="en-US" sz="1900" b="1" dirty="0">
                <a:solidFill>
                  <a:srgbClr val="FFA93A"/>
                </a:solidFill>
              </a:rPr>
              <a:t>Advantages:</a:t>
            </a:r>
          </a:p>
          <a:p>
            <a:r>
              <a:rPr lang="en-US" sz="1900" b="1" dirty="0">
                <a:solidFill>
                  <a:schemeClr val="bg1"/>
                </a:solidFill>
              </a:rPr>
              <a:t>Simplicity:</a:t>
            </a:r>
            <a:r>
              <a:rPr lang="en-US" sz="1900" dirty="0">
                <a:solidFill>
                  <a:schemeClr val="bg1"/>
                </a:solidFill>
              </a:rPr>
              <a:t> Easier to develop and test initially due to its single codebase.</a:t>
            </a:r>
          </a:p>
          <a:p>
            <a:r>
              <a:rPr lang="en-US" sz="1900" b="1" dirty="0">
                <a:solidFill>
                  <a:schemeClr val="bg1"/>
                </a:solidFill>
              </a:rPr>
              <a:t>Performance:</a:t>
            </a:r>
            <a:r>
              <a:rPr lang="en-US" sz="1900" dirty="0">
                <a:solidFill>
                  <a:schemeClr val="bg1"/>
                </a:solidFill>
              </a:rPr>
              <a:t> Can be faster since components communicate directly within the application.</a:t>
            </a:r>
          </a:p>
          <a:p>
            <a:pPr>
              <a:spcAft>
                <a:spcPts val="600"/>
              </a:spcAft>
            </a:pPr>
            <a:r>
              <a:rPr lang="en-US" sz="1900" b="1" dirty="0">
                <a:solidFill>
                  <a:schemeClr val="bg1"/>
                </a:solidFill>
              </a:rPr>
              <a:t>Deployment:</a:t>
            </a:r>
            <a:r>
              <a:rPr lang="en-US" sz="1900" dirty="0">
                <a:solidFill>
                  <a:schemeClr val="bg1"/>
                </a:solidFill>
              </a:rPr>
              <a:t> Requires only one deployment process for the entire application.</a:t>
            </a:r>
          </a:p>
          <a:p>
            <a:r>
              <a:rPr lang="en-US" sz="1900" b="1" dirty="0">
                <a:solidFill>
                  <a:srgbClr val="FFA93A"/>
                </a:solidFill>
              </a:rPr>
              <a:t>Challenges:</a:t>
            </a:r>
          </a:p>
          <a:p>
            <a:r>
              <a:rPr lang="en-US" sz="1900" b="1" dirty="0">
                <a:solidFill>
                  <a:schemeClr val="bg1"/>
                </a:solidFill>
              </a:rPr>
              <a:t>Scalability:</a:t>
            </a:r>
            <a:r>
              <a:rPr lang="en-US" sz="1900" dirty="0">
                <a:solidFill>
                  <a:schemeClr val="bg1"/>
                </a:solidFill>
              </a:rPr>
              <a:t> Difficult to scale individual components independently.</a:t>
            </a:r>
          </a:p>
          <a:p>
            <a:r>
              <a:rPr lang="en-US" sz="1900" b="1" dirty="0">
                <a:solidFill>
                  <a:schemeClr val="bg1"/>
                </a:solidFill>
              </a:rPr>
              <a:t>Maintenance:</a:t>
            </a:r>
            <a:r>
              <a:rPr lang="en-US" sz="1900" dirty="0">
                <a:solidFill>
                  <a:schemeClr val="bg1"/>
                </a:solidFill>
              </a:rPr>
              <a:t> Becomes cumbersome as the application grows in size and complexity.</a:t>
            </a:r>
          </a:p>
          <a:p>
            <a:pPr>
              <a:spcAft>
                <a:spcPts val="600"/>
              </a:spcAft>
            </a:pPr>
            <a:r>
              <a:rPr lang="en-US" sz="1900" b="1" dirty="0">
                <a:solidFill>
                  <a:schemeClr val="bg1"/>
                </a:solidFill>
              </a:rPr>
              <a:t>Downtime:</a:t>
            </a:r>
            <a:r>
              <a:rPr lang="en-US" sz="1900" dirty="0">
                <a:solidFill>
                  <a:schemeClr val="bg1"/>
                </a:solidFill>
              </a:rPr>
              <a:t> Any changes require redeploying the whole system, leading to potential downtime.</a:t>
            </a:r>
          </a:p>
          <a:p>
            <a:r>
              <a:rPr lang="en-US" sz="1900" b="1" dirty="0">
                <a:solidFill>
                  <a:srgbClr val="FFA93A"/>
                </a:solidFill>
              </a:rPr>
              <a:t>Example:</a:t>
            </a:r>
          </a:p>
          <a:p>
            <a:r>
              <a:rPr lang="en-US" sz="1900" dirty="0">
                <a:solidFill>
                  <a:schemeClr val="bg1"/>
                </a:solidFill>
              </a:rPr>
              <a:t>A traditional e-commerce application where the catalog, user authentication, order processing, and payment gateway are all part of a single application.</a:t>
            </a:r>
          </a:p>
          <a:p>
            <a:endParaRPr lang="en-US" sz="1900" b="1" dirty="0">
              <a:solidFill>
                <a:schemeClr val="bg1"/>
              </a:solidFill>
            </a:endParaRPr>
          </a:p>
        </p:txBody>
      </p:sp>
      <p:sp>
        <p:nvSpPr>
          <p:cNvPr id="4" name="TextBox 3">
            <a:extLst>
              <a:ext uri="{FF2B5EF4-FFF2-40B4-BE49-F238E27FC236}">
                <a16:creationId xmlns:a16="http://schemas.microsoft.com/office/drawing/2014/main" id="{56F288B5-5F31-CD55-5184-45AE5AE61D23}"/>
              </a:ext>
            </a:extLst>
          </p:cNvPr>
          <p:cNvSpPr txBox="1"/>
          <p:nvPr/>
        </p:nvSpPr>
        <p:spPr>
          <a:xfrm>
            <a:off x="177631" y="590238"/>
            <a:ext cx="4174866" cy="461665"/>
          </a:xfrm>
          <a:prstGeom prst="rect">
            <a:avLst/>
          </a:prstGeom>
          <a:noFill/>
        </p:spPr>
        <p:txBody>
          <a:bodyPr wrap="square">
            <a:spAutoFit/>
          </a:bodyPr>
          <a:lstStyle/>
          <a:p>
            <a:r>
              <a:rPr lang="en-US" sz="2400" dirty="0">
                <a:solidFill>
                  <a:schemeClr val="bg1"/>
                </a:solidFill>
                <a:latin typeface="Arial Black" panose="020B0A04020102020204" pitchFamily="34" charset="0"/>
              </a:rPr>
              <a:t>Monolithic</a:t>
            </a:r>
            <a:r>
              <a:rPr lang="en-US" sz="1800" b="1" dirty="0">
                <a:solidFill>
                  <a:schemeClr val="bg1"/>
                </a:solidFill>
              </a:rPr>
              <a:t> </a:t>
            </a:r>
            <a:r>
              <a:rPr lang="en-US" sz="2400" dirty="0">
                <a:solidFill>
                  <a:schemeClr val="bg1"/>
                </a:solidFill>
                <a:latin typeface="Arial Black" panose="020B0A04020102020204" pitchFamily="34" charset="0"/>
              </a:rPr>
              <a:t>Architecture</a:t>
            </a:r>
            <a:endParaRPr lang="en-EG" sz="2400" dirty="0">
              <a:solidFill>
                <a:schemeClr val="bg1"/>
              </a:solidFill>
              <a:latin typeface="Arial Black" panose="020B0A04020102020204" pitchFamily="34" charset="0"/>
            </a:endParaRPr>
          </a:p>
        </p:txBody>
      </p:sp>
    </p:spTree>
    <p:extLst>
      <p:ext uri="{BB962C8B-B14F-4D97-AF65-F5344CB8AC3E}">
        <p14:creationId xmlns:p14="http://schemas.microsoft.com/office/powerpoint/2010/main" val="1432604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1"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8" fill="hold" grpId="0" nodeType="clickEffect">
                                  <p:stCondLst>
                                    <p:cond delay="0"/>
                                  </p:stCondLst>
                                  <p:childTnLst>
                                    <p:anim calcmode="lin" valueType="num">
                                      <p:cBhvr additive="base">
                                        <p:cTn id="12" dur="500"/>
                                        <p:tgtEl>
                                          <p:spTgt spid="2"/>
                                        </p:tgtEl>
                                        <p:attrNameLst>
                                          <p:attrName>ppt_x</p:attrName>
                                        </p:attrNameLst>
                                      </p:cBhvr>
                                      <p:tavLst>
                                        <p:tav tm="0">
                                          <p:val>
                                            <p:strVal val="ppt_x"/>
                                          </p:val>
                                        </p:tav>
                                        <p:tav tm="100000">
                                          <p:val>
                                            <p:strVal val="0-ppt_w/2"/>
                                          </p:val>
                                        </p:tav>
                                      </p:tavLst>
                                    </p:anim>
                                    <p:anim calcmode="lin" valueType="num">
                                      <p:cBhvr additive="base">
                                        <p:cTn id="13" dur="500"/>
                                        <p:tgtEl>
                                          <p:spTgt spid="2"/>
                                        </p:tgtEl>
                                        <p:attrNameLst>
                                          <p:attrName>ppt_y</p:attrName>
                                        </p:attrNameLst>
                                      </p:cBhvr>
                                      <p:tavLst>
                                        <p:tav tm="0">
                                          <p:val>
                                            <p:strVal val="ppt_y"/>
                                          </p:val>
                                        </p:tav>
                                        <p:tav tm="100000">
                                          <p:val>
                                            <p:strVal val="ppt_y"/>
                                          </p:val>
                                        </p:tav>
                                      </p:tavLst>
                                    </p:anim>
                                    <p:set>
                                      <p:cBhvr>
                                        <p:cTn id="14" dur="1" fill="hold">
                                          <p:stCondLst>
                                            <p:cond delay="499"/>
                                          </p:stCondLst>
                                        </p:cTn>
                                        <p:tgtEl>
                                          <p:spTgt spid="2"/>
                                        </p:tgtEl>
                                        <p:attrNameLst>
                                          <p:attrName>style.visibility</p:attrName>
                                        </p:attrNameLst>
                                      </p:cBhvr>
                                      <p:to>
                                        <p:strVal val="hidden"/>
                                      </p:to>
                                    </p:set>
                                  </p:childTnLst>
                                </p:cTn>
                              </p:par>
                            </p:childTnLst>
                          </p:cTn>
                        </p:par>
                        <p:par>
                          <p:cTn id="15" fill="hold">
                            <p:stCondLst>
                              <p:cond delay="500"/>
                            </p:stCondLst>
                            <p:childTnLst>
                              <p:par>
                                <p:cTn id="16" presetID="2" presetClass="entr" presetSubtype="8" fill="hold" grpId="0" nodeType="after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500" fill="hold"/>
                                        <p:tgtEl>
                                          <p:spTgt spid="4"/>
                                        </p:tgtEl>
                                        <p:attrNameLst>
                                          <p:attrName>ppt_x</p:attrName>
                                        </p:attrNameLst>
                                      </p:cBhvr>
                                      <p:tavLst>
                                        <p:tav tm="0">
                                          <p:val>
                                            <p:strVal val="0-#ppt_w/2"/>
                                          </p:val>
                                        </p:tav>
                                        <p:tav tm="100000">
                                          <p:val>
                                            <p:strVal val="#ppt_x"/>
                                          </p:val>
                                        </p:tav>
                                      </p:tavLst>
                                    </p:anim>
                                    <p:anim calcmode="lin" valueType="num">
                                      <p:cBhvr additive="base">
                                        <p:cTn id="19" dur="500" fill="hold"/>
                                        <p:tgtEl>
                                          <p:spTgt spid="4"/>
                                        </p:tgtEl>
                                        <p:attrNameLst>
                                          <p:attrName>ppt_y</p:attrName>
                                        </p:attrNameLst>
                                      </p:cBhvr>
                                      <p:tavLst>
                                        <p:tav tm="0">
                                          <p:val>
                                            <p:strVal val="#ppt_y"/>
                                          </p:val>
                                        </p:tav>
                                        <p:tav tm="100000">
                                          <p:val>
                                            <p:strVal val="#ppt_y"/>
                                          </p:val>
                                        </p:tav>
                                      </p:tavLst>
                                    </p:anim>
                                  </p:childTnLst>
                                </p:cTn>
                              </p:par>
                            </p:childTnLst>
                          </p:cTn>
                        </p:par>
                        <p:par>
                          <p:cTn id="20" fill="hold">
                            <p:stCondLst>
                              <p:cond delay="1000"/>
                            </p:stCondLst>
                            <p:childTnLst>
                              <p:par>
                                <p:cTn id="21" presetID="2" presetClass="entr" presetSubtype="8"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0-#ppt_w/2"/>
                                          </p:val>
                                        </p:tav>
                                        <p:tav tm="100000">
                                          <p:val>
                                            <p:strVal val="#ppt_x"/>
                                          </p:val>
                                        </p:tav>
                                      </p:tavLst>
                                    </p:anim>
                                    <p:anim calcmode="lin" valueType="num">
                                      <p:cBhvr additive="base">
                                        <p:cTn id="2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6" grpId="0"/>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78889-8145-7378-AB7A-178662E18B8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DD462D2-F8E9-6CEB-DE08-AA0A88FDFEE5}"/>
              </a:ext>
            </a:extLst>
          </p:cNvPr>
          <p:cNvSpPr txBox="1"/>
          <p:nvPr/>
        </p:nvSpPr>
        <p:spPr>
          <a:xfrm>
            <a:off x="177631" y="1051904"/>
            <a:ext cx="11831489" cy="5724644"/>
          </a:xfrm>
          <a:prstGeom prst="rect">
            <a:avLst/>
          </a:prstGeom>
          <a:noFill/>
        </p:spPr>
        <p:txBody>
          <a:bodyPr wrap="square" rtlCol="0">
            <a:spAutoFit/>
          </a:bodyPr>
          <a:lstStyle/>
          <a:p>
            <a:r>
              <a:rPr lang="en-US" sz="2000" dirty="0">
                <a:solidFill>
                  <a:schemeClr val="bg1"/>
                </a:solidFill>
              </a:rPr>
              <a:t>3-Tier architecture is a layered approach that divides the application into three distinct layers:</a:t>
            </a:r>
          </a:p>
          <a:p>
            <a:r>
              <a:rPr lang="en-US" sz="2000" b="1" dirty="0">
                <a:solidFill>
                  <a:schemeClr val="bg1"/>
                </a:solidFill>
              </a:rPr>
              <a:t>Presentation Layer:</a:t>
            </a:r>
            <a:r>
              <a:rPr lang="en-US" sz="2000" dirty="0">
                <a:solidFill>
                  <a:schemeClr val="bg1"/>
                </a:solidFill>
              </a:rPr>
              <a:t> The user interface that interacts with end-users.</a:t>
            </a:r>
          </a:p>
          <a:p>
            <a:r>
              <a:rPr lang="en-US" sz="2000" b="1" dirty="0">
                <a:solidFill>
                  <a:schemeClr val="bg1"/>
                </a:solidFill>
              </a:rPr>
              <a:t>Business Logic Layer:</a:t>
            </a:r>
            <a:r>
              <a:rPr lang="en-US" sz="2000" dirty="0">
                <a:solidFill>
                  <a:schemeClr val="bg1"/>
                </a:solidFill>
              </a:rPr>
              <a:t> Contains the rules and operations of the application (calculations, etc.).</a:t>
            </a:r>
          </a:p>
          <a:p>
            <a:pPr>
              <a:spcAft>
                <a:spcPts val="600"/>
              </a:spcAft>
            </a:pPr>
            <a:r>
              <a:rPr lang="en-US" sz="2000" b="1" dirty="0">
                <a:solidFill>
                  <a:schemeClr val="bg1"/>
                </a:solidFill>
              </a:rPr>
              <a:t>Data Layer:</a:t>
            </a:r>
            <a:r>
              <a:rPr lang="en-US" sz="2000" dirty="0">
                <a:solidFill>
                  <a:schemeClr val="bg1"/>
                </a:solidFill>
              </a:rPr>
              <a:t> Handles data storage, retrieval, and management.</a:t>
            </a:r>
            <a:endParaRPr lang="en-US" sz="1900" dirty="0">
              <a:solidFill>
                <a:schemeClr val="bg1"/>
              </a:solidFill>
            </a:endParaRPr>
          </a:p>
          <a:p>
            <a:r>
              <a:rPr lang="en-US" sz="1900" b="1" dirty="0">
                <a:solidFill>
                  <a:srgbClr val="FFA93A"/>
                </a:solidFill>
              </a:rPr>
              <a:t>Characteristics:</a:t>
            </a:r>
          </a:p>
          <a:p>
            <a:pPr>
              <a:spcAft>
                <a:spcPts val="600"/>
              </a:spcAft>
            </a:pPr>
            <a:r>
              <a:rPr lang="en-US" sz="2000" b="1" dirty="0">
                <a:solidFill>
                  <a:schemeClr val="bg1"/>
                </a:solidFill>
              </a:rPr>
              <a:t>Separation of Concerns:</a:t>
            </a:r>
            <a:r>
              <a:rPr lang="en-US" sz="2000" dirty="0">
                <a:solidFill>
                  <a:schemeClr val="bg1"/>
                </a:solidFill>
              </a:rPr>
              <a:t> Each layer is responsible for a specific function, making it modular.</a:t>
            </a:r>
            <a:endParaRPr lang="en-US" sz="1900" dirty="0">
              <a:solidFill>
                <a:schemeClr val="bg1"/>
              </a:solidFill>
            </a:endParaRPr>
          </a:p>
          <a:p>
            <a:r>
              <a:rPr lang="en-US" sz="1900" b="1" dirty="0">
                <a:solidFill>
                  <a:srgbClr val="FFA93A"/>
                </a:solidFill>
              </a:rPr>
              <a:t>Advantages:</a:t>
            </a:r>
          </a:p>
          <a:p>
            <a:r>
              <a:rPr lang="en-US" sz="2000" b="1" dirty="0">
                <a:solidFill>
                  <a:schemeClr val="bg1"/>
                </a:solidFill>
              </a:rPr>
              <a:t>Modularity:</a:t>
            </a:r>
            <a:r>
              <a:rPr lang="en-US" sz="2000" dirty="0">
                <a:solidFill>
                  <a:schemeClr val="bg1"/>
                </a:solidFill>
              </a:rPr>
              <a:t> Easy to maintain and update individual layers without affecting others.</a:t>
            </a:r>
          </a:p>
          <a:p>
            <a:r>
              <a:rPr lang="en-US" sz="2000" b="1" dirty="0">
                <a:solidFill>
                  <a:schemeClr val="bg1"/>
                </a:solidFill>
              </a:rPr>
              <a:t>Scalability:</a:t>
            </a:r>
            <a:r>
              <a:rPr lang="en-US" sz="2000" dirty="0">
                <a:solidFill>
                  <a:schemeClr val="bg1"/>
                </a:solidFill>
              </a:rPr>
              <a:t> Layers can be scaled independently, especially the data and business logic layers.</a:t>
            </a:r>
          </a:p>
          <a:p>
            <a:r>
              <a:rPr lang="en-US" sz="2000" b="1" dirty="0">
                <a:solidFill>
                  <a:schemeClr val="bg1"/>
                </a:solidFill>
              </a:rPr>
              <a:t>Flexibility:</a:t>
            </a:r>
            <a:r>
              <a:rPr lang="en-US" sz="2000" dirty="0">
                <a:solidFill>
                  <a:schemeClr val="bg1"/>
                </a:solidFill>
              </a:rPr>
              <a:t> Supports integration with other systems via APIs or middleware.</a:t>
            </a:r>
            <a:r>
              <a:rPr lang="en-US" sz="1900" dirty="0">
                <a:solidFill>
                  <a:schemeClr val="bg1"/>
                </a:solidFill>
              </a:rPr>
              <a:t>.</a:t>
            </a:r>
          </a:p>
          <a:p>
            <a:r>
              <a:rPr lang="en-US" sz="1900" b="1" dirty="0">
                <a:solidFill>
                  <a:srgbClr val="FFA93A"/>
                </a:solidFill>
              </a:rPr>
              <a:t>Challenges:</a:t>
            </a:r>
          </a:p>
          <a:p>
            <a:r>
              <a:rPr lang="en-US" sz="2000" b="1" dirty="0">
                <a:solidFill>
                  <a:schemeClr val="bg1"/>
                </a:solidFill>
              </a:rPr>
              <a:t>Complexity:</a:t>
            </a:r>
            <a:r>
              <a:rPr lang="en-US" sz="2000" dirty="0">
                <a:solidFill>
                  <a:schemeClr val="bg1"/>
                </a:solidFill>
              </a:rPr>
              <a:t> Slightly more complex than monolithic architectures to design and implement.</a:t>
            </a:r>
          </a:p>
          <a:p>
            <a:r>
              <a:rPr lang="en-US" sz="2000" b="1" dirty="0">
                <a:solidFill>
                  <a:schemeClr val="bg1"/>
                </a:solidFill>
              </a:rPr>
              <a:t>Latency:</a:t>
            </a:r>
            <a:r>
              <a:rPr lang="en-US" sz="2000" dirty="0">
                <a:solidFill>
                  <a:schemeClr val="bg1"/>
                </a:solidFill>
              </a:rPr>
              <a:t> Communication between layers can introduce latency.</a:t>
            </a:r>
          </a:p>
          <a:p>
            <a:r>
              <a:rPr lang="en-US" sz="2000" b="1" dirty="0">
                <a:solidFill>
                  <a:schemeClr val="bg1"/>
                </a:solidFill>
              </a:rPr>
              <a:t>Deployment:</a:t>
            </a:r>
            <a:r>
              <a:rPr lang="en-US" sz="2000" dirty="0">
                <a:solidFill>
                  <a:schemeClr val="bg1"/>
                </a:solidFill>
              </a:rPr>
              <a:t> Requires managing multiple components.</a:t>
            </a:r>
            <a:r>
              <a:rPr lang="en-US" sz="1900" dirty="0">
                <a:solidFill>
                  <a:schemeClr val="bg1"/>
                </a:solidFill>
              </a:rPr>
              <a:t>.</a:t>
            </a:r>
          </a:p>
          <a:p>
            <a:r>
              <a:rPr lang="en-US" sz="1900" b="1" dirty="0">
                <a:solidFill>
                  <a:srgbClr val="FFA93A"/>
                </a:solidFill>
              </a:rPr>
              <a:t>Example:</a:t>
            </a:r>
          </a:p>
          <a:p>
            <a:r>
              <a:rPr lang="en-US" sz="2000" dirty="0">
                <a:solidFill>
                  <a:schemeClr val="bg1"/>
                </a:solidFill>
              </a:rPr>
              <a:t>A banking application where: The </a:t>
            </a:r>
            <a:r>
              <a:rPr lang="en-US" sz="2000" b="1" dirty="0">
                <a:solidFill>
                  <a:schemeClr val="bg1"/>
                </a:solidFill>
              </a:rPr>
              <a:t>presentation layer</a:t>
            </a:r>
            <a:r>
              <a:rPr lang="en-US" sz="2000" dirty="0">
                <a:solidFill>
                  <a:schemeClr val="bg1"/>
                </a:solidFill>
              </a:rPr>
              <a:t> is a mobile app.</a:t>
            </a:r>
          </a:p>
          <a:p>
            <a:r>
              <a:rPr lang="en-US" sz="2000" dirty="0">
                <a:solidFill>
                  <a:schemeClr val="bg1"/>
                </a:solidFill>
              </a:rPr>
              <a:t>The </a:t>
            </a:r>
            <a:r>
              <a:rPr lang="en-US" sz="2000" b="1" dirty="0">
                <a:solidFill>
                  <a:schemeClr val="bg1"/>
                </a:solidFill>
              </a:rPr>
              <a:t>business logic layer</a:t>
            </a:r>
            <a:r>
              <a:rPr lang="en-US" sz="2000" dirty="0">
                <a:solidFill>
                  <a:schemeClr val="bg1"/>
                </a:solidFill>
              </a:rPr>
              <a:t> contains rules for transaction validation.</a:t>
            </a:r>
          </a:p>
          <a:p>
            <a:r>
              <a:rPr lang="en-US" sz="2000" dirty="0">
                <a:solidFill>
                  <a:schemeClr val="bg1"/>
                </a:solidFill>
              </a:rPr>
              <a:t>The </a:t>
            </a:r>
            <a:r>
              <a:rPr lang="en-US" sz="2000" b="1" dirty="0">
                <a:solidFill>
                  <a:schemeClr val="bg1"/>
                </a:solidFill>
              </a:rPr>
              <a:t>data layer</a:t>
            </a:r>
            <a:r>
              <a:rPr lang="en-US" sz="2000" dirty="0">
                <a:solidFill>
                  <a:schemeClr val="bg1"/>
                </a:solidFill>
              </a:rPr>
              <a:t> is a secure database storing user accounts and balances.</a:t>
            </a:r>
          </a:p>
        </p:txBody>
      </p:sp>
      <p:sp>
        <p:nvSpPr>
          <p:cNvPr id="4" name="TextBox 3">
            <a:extLst>
              <a:ext uri="{FF2B5EF4-FFF2-40B4-BE49-F238E27FC236}">
                <a16:creationId xmlns:a16="http://schemas.microsoft.com/office/drawing/2014/main" id="{E2524133-AA2D-D736-4E4C-FDE55296E900}"/>
              </a:ext>
            </a:extLst>
          </p:cNvPr>
          <p:cNvSpPr txBox="1"/>
          <p:nvPr/>
        </p:nvSpPr>
        <p:spPr>
          <a:xfrm>
            <a:off x="177631" y="590238"/>
            <a:ext cx="4174866" cy="461665"/>
          </a:xfrm>
          <a:prstGeom prst="rect">
            <a:avLst/>
          </a:prstGeom>
          <a:noFill/>
        </p:spPr>
        <p:txBody>
          <a:bodyPr wrap="square">
            <a:spAutoFit/>
          </a:bodyPr>
          <a:lstStyle/>
          <a:p>
            <a:r>
              <a:rPr lang="en-US" sz="2400" dirty="0">
                <a:solidFill>
                  <a:schemeClr val="bg1"/>
                </a:solidFill>
                <a:latin typeface="Arial Black" panose="020B0A04020102020204" pitchFamily="34" charset="0"/>
              </a:rPr>
              <a:t>3-Tier Architecture</a:t>
            </a:r>
            <a:endParaRPr lang="en-EG" sz="2400" dirty="0">
              <a:solidFill>
                <a:schemeClr val="bg1"/>
              </a:solidFill>
              <a:latin typeface="Arial Black" panose="020B0A04020102020204" pitchFamily="34" charset="0"/>
            </a:endParaRPr>
          </a:p>
        </p:txBody>
      </p:sp>
    </p:spTree>
    <p:extLst>
      <p:ext uri="{BB962C8B-B14F-4D97-AF65-F5344CB8AC3E}">
        <p14:creationId xmlns:p14="http://schemas.microsoft.com/office/powerpoint/2010/main" val="938620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0-#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17F47-CAB4-F9E6-7AEB-83D8852AA0E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4545CE7-20D5-B68F-750E-1398A9DE9361}"/>
              </a:ext>
            </a:extLst>
          </p:cNvPr>
          <p:cNvSpPr txBox="1"/>
          <p:nvPr/>
        </p:nvSpPr>
        <p:spPr>
          <a:xfrm>
            <a:off x="177631" y="986180"/>
            <a:ext cx="11831489" cy="5909310"/>
          </a:xfrm>
          <a:prstGeom prst="rect">
            <a:avLst/>
          </a:prstGeom>
          <a:noFill/>
        </p:spPr>
        <p:txBody>
          <a:bodyPr wrap="square" rtlCol="0">
            <a:spAutoFit/>
          </a:bodyPr>
          <a:lstStyle/>
          <a:p>
            <a:r>
              <a:rPr lang="en-US" dirty="0">
                <a:solidFill>
                  <a:schemeClr val="bg1"/>
                </a:solidFill>
              </a:rPr>
              <a:t>Microservices architecture breaks down an application into a collection of small, independent, and loosely coupled services. Each service is designed to handle a specific business capability and can be developed, deployed, and scaled independently.</a:t>
            </a:r>
          </a:p>
          <a:p>
            <a:r>
              <a:rPr lang="en-US" b="1" dirty="0">
                <a:solidFill>
                  <a:srgbClr val="FFA93A"/>
                </a:solidFill>
              </a:rPr>
              <a:t>Characteristics:</a:t>
            </a:r>
          </a:p>
          <a:p>
            <a:r>
              <a:rPr lang="en-US" b="1" dirty="0">
                <a:solidFill>
                  <a:schemeClr val="bg1"/>
                </a:solidFill>
              </a:rPr>
              <a:t>Decoupled Services:</a:t>
            </a:r>
            <a:r>
              <a:rPr lang="en-US" dirty="0">
                <a:solidFill>
                  <a:schemeClr val="bg1"/>
                </a:solidFill>
              </a:rPr>
              <a:t> Each service runs in its own process and communicates via lightweight APIs.</a:t>
            </a:r>
          </a:p>
          <a:p>
            <a:r>
              <a:rPr lang="en-US" b="1" dirty="0">
                <a:solidFill>
                  <a:schemeClr val="bg1"/>
                </a:solidFill>
              </a:rPr>
              <a:t>Polyglot Programming:</a:t>
            </a:r>
            <a:r>
              <a:rPr lang="en-US" dirty="0">
                <a:solidFill>
                  <a:schemeClr val="bg1"/>
                </a:solidFill>
              </a:rPr>
              <a:t> Different services can use different programming languages, databases, or frameworks.</a:t>
            </a:r>
          </a:p>
          <a:p>
            <a:r>
              <a:rPr lang="en-US" b="1" dirty="0">
                <a:solidFill>
                  <a:schemeClr val="bg1"/>
                </a:solidFill>
              </a:rPr>
              <a:t>Independent Deployment:</a:t>
            </a:r>
            <a:r>
              <a:rPr lang="en-US" dirty="0">
                <a:solidFill>
                  <a:schemeClr val="bg1"/>
                </a:solidFill>
              </a:rPr>
              <a:t> Changes to one service don’t require redeploying the entire application.</a:t>
            </a:r>
          </a:p>
          <a:p>
            <a:r>
              <a:rPr lang="en-US" b="1" dirty="0">
                <a:solidFill>
                  <a:srgbClr val="FFA93A"/>
                </a:solidFill>
              </a:rPr>
              <a:t>Advantages:</a:t>
            </a:r>
          </a:p>
          <a:p>
            <a:r>
              <a:rPr lang="en-US" b="1" dirty="0">
                <a:solidFill>
                  <a:schemeClr val="bg1"/>
                </a:solidFill>
              </a:rPr>
              <a:t>Scalability:</a:t>
            </a:r>
            <a:r>
              <a:rPr lang="en-US" dirty="0">
                <a:solidFill>
                  <a:schemeClr val="bg1"/>
                </a:solidFill>
              </a:rPr>
              <a:t> Individual services can be scaled as needed.</a:t>
            </a:r>
          </a:p>
          <a:p>
            <a:r>
              <a:rPr lang="en-US" b="1" dirty="0">
                <a:solidFill>
                  <a:schemeClr val="bg1"/>
                </a:solidFill>
              </a:rPr>
              <a:t>Resilience:</a:t>
            </a:r>
            <a:r>
              <a:rPr lang="en-US" dirty="0">
                <a:solidFill>
                  <a:schemeClr val="bg1"/>
                </a:solidFill>
              </a:rPr>
              <a:t> Failure in one service doesn’t affect the entire system.</a:t>
            </a:r>
          </a:p>
          <a:p>
            <a:r>
              <a:rPr lang="en-US" b="1" dirty="0">
                <a:solidFill>
                  <a:schemeClr val="bg1"/>
                </a:solidFill>
              </a:rPr>
              <a:t>Faster Development:</a:t>
            </a:r>
            <a:r>
              <a:rPr lang="en-US" dirty="0">
                <a:solidFill>
                  <a:schemeClr val="bg1"/>
                </a:solidFill>
              </a:rPr>
              <a:t> Teams can work on services independently, speeding up development cycles.</a:t>
            </a:r>
          </a:p>
          <a:p>
            <a:r>
              <a:rPr lang="en-US" b="1" dirty="0">
                <a:solidFill>
                  <a:srgbClr val="FFA93A"/>
                </a:solidFill>
              </a:rPr>
              <a:t>Challenges:</a:t>
            </a:r>
          </a:p>
          <a:p>
            <a:r>
              <a:rPr lang="en-US" b="1" dirty="0">
                <a:solidFill>
                  <a:schemeClr val="bg1"/>
                </a:solidFill>
              </a:rPr>
              <a:t>Complexity:</a:t>
            </a:r>
            <a:r>
              <a:rPr lang="en-US" dirty="0">
                <a:solidFill>
                  <a:schemeClr val="bg1"/>
                </a:solidFill>
              </a:rPr>
              <a:t> Managing many services can be challenging, especially communication and coordination.</a:t>
            </a:r>
          </a:p>
          <a:p>
            <a:r>
              <a:rPr lang="en-US" b="1" dirty="0">
                <a:solidFill>
                  <a:schemeClr val="bg1"/>
                </a:solidFill>
              </a:rPr>
              <a:t>Latency:</a:t>
            </a:r>
            <a:r>
              <a:rPr lang="en-US" dirty="0">
                <a:solidFill>
                  <a:schemeClr val="bg1"/>
                </a:solidFill>
              </a:rPr>
              <a:t> Services communicate over a network, which may introduce latency.</a:t>
            </a:r>
          </a:p>
          <a:p>
            <a:r>
              <a:rPr lang="en-US" b="1" dirty="0">
                <a:solidFill>
                  <a:schemeClr val="bg1"/>
                </a:solidFill>
              </a:rPr>
              <a:t>Monitoring:</a:t>
            </a:r>
            <a:r>
              <a:rPr lang="en-US" dirty="0">
                <a:solidFill>
                  <a:schemeClr val="bg1"/>
                </a:solidFill>
              </a:rPr>
              <a:t> Requires robust monitoring and logging for troubleshooting.</a:t>
            </a:r>
          </a:p>
          <a:p>
            <a:r>
              <a:rPr lang="en-US" b="1" dirty="0">
                <a:solidFill>
                  <a:srgbClr val="FFA93A"/>
                </a:solidFill>
              </a:rPr>
              <a:t>Example:</a:t>
            </a:r>
          </a:p>
          <a:p>
            <a:r>
              <a:rPr lang="en-US" dirty="0">
                <a:solidFill>
                  <a:schemeClr val="bg1"/>
                </a:solidFill>
              </a:rPr>
              <a:t>A modern e-commerce platform where:</a:t>
            </a:r>
          </a:p>
          <a:p>
            <a:r>
              <a:rPr lang="en-US" dirty="0">
                <a:solidFill>
                  <a:schemeClr val="bg1"/>
                </a:solidFill>
              </a:rPr>
              <a:t>The </a:t>
            </a:r>
            <a:r>
              <a:rPr lang="en-US" b="1" dirty="0">
                <a:solidFill>
                  <a:schemeClr val="bg1"/>
                </a:solidFill>
              </a:rPr>
              <a:t>user service</a:t>
            </a:r>
            <a:r>
              <a:rPr lang="en-US" dirty="0">
                <a:solidFill>
                  <a:schemeClr val="bg1"/>
                </a:solidFill>
              </a:rPr>
              <a:t> handles authentication and user profiles.</a:t>
            </a:r>
          </a:p>
          <a:p>
            <a:r>
              <a:rPr lang="en-US" dirty="0">
                <a:solidFill>
                  <a:schemeClr val="bg1"/>
                </a:solidFill>
              </a:rPr>
              <a:t>The </a:t>
            </a:r>
            <a:r>
              <a:rPr lang="en-US" b="1" dirty="0">
                <a:solidFill>
                  <a:schemeClr val="bg1"/>
                </a:solidFill>
              </a:rPr>
              <a:t>catalog service</a:t>
            </a:r>
            <a:r>
              <a:rPr lang="en-US" dirty="0">
                <a:solidFill>
                  <a:schemeClr val="bg1"/>
                </a:solidFill>
              </a:rPr>
              <a:t> manages product listings.</a:t>
            </a:r>
          </a:p>
          <a:p>
            <a:r>
              <a:rPr lang="en-US" dirty="0">
                <a:solidFill>
                  <a:schemeClr val="bg1"/>
                </a:solidFill>
              </a:rPr>
              <a:t>The </a:t>
            </a:r>
            <a:r>
              <a:rPr lang="en-US" b="1" dirty="0">
                <a:solidFill>
                  <a:schemeClr val="bg1"/>
                </a:solidFill>
              </a:rPr>
              <a:t>order service</a:t>
            </a:r>
            <a:r>
              <a:rPr lang="en-US" dirty="0">
                <a:solidFill>
                  <a:schemeClr val="bg1"/>
                </a:solidFill>
              </a:rPr>
              <a:t> processes orders and payments.</a:t>
            </a:r>
            <a:br>
              <a:rPr lang="en-US" dirty="0">
                <a:solidFill>
                  <a:schemeClr val="bg1"/>
                </a:solidFill>
              </a:rPr>
            </a:br>
            <a:r>
              <a:rPr lang="en-US" dirty="0">
                <a:solidFill>
                  <a:schemeClr val="bg1"/>
                </a:solidFill>
              </a:rPr>
              <a:t>Each of these services is an independent microservice, often deployed in containers like Docker.</a:t>
            </a:r>
          </a:p>
        </p:txBody>
      </p:sp>
      <p:sp>
        <p:nvSpPr>
          <p:cNvPr id="4" name="TextBox 3">
            <a:extLst>
              <a:ext uri="{FF2B5EF4-FFF2-40B4-BE49-F238E27FC236}">
                <a16:creationId xmlns:a16="http://schemas.microsoft.com/office/drawing/2014/main" id="{CFA05A1F-11CE-A50C-6297-EA82C362E95B}"/>
              </a:ext>
            </a:extLst>
          </p:cNvPr>
          <p:cNvSpPr txBox="1"/>
          <p:nvPr/>
        </p:nvSpPr>
        <p:spPr>
          <a:xfrm>
            <a:off x="177630" y="590238"/>
            <a:ext cx="4851569" cy="461665"/>
          </a:xfrm>
          <a:prstGeom prst="rect">
            <a:avLst/>
          </a:prstGeom>
          <a:noFill/>
        </p:spPr>
        <p:txBody>
          <a:bodyPr wrap="square">
            <a:spAutoFit/>
          </a:bodyPr>
          <a:lstStyle/>
          <a:p>
            <a:r>
              <a:rPr lang="en-US" sz="2400" dirty="0">
                <a:solidFill>
                  <a:schemeClr val="bg1"/>
                </a:solidFill>
                <a:latin typeface="Arial Black" panose="020B0A04020102020204" pitchFamily="34" charset="0"/>
              </a:rPr>
              <a:t>Microservices Architecture</a:t>
            </a:r>
            <a:endParaRPr lang="en-EG" sz="2400" dirty="0">
              <a:solidFill>
                <a:schemeClr val="bg1"/>
              </a:solidFill>
              <a:latin typeface="Arial Black" panose="020B0A04020102020204" pitchFamily="34" charset="0"/>
            </a:endParaRPr>
          </a:p>
        </p:txBody>
      </p:sp>
    </p:spTree>
    <p:extLst>
      <p:ext uri="{BB962C8B-B14F-4D97-AF65-F5344CB8AC3E}">
        <p14:creationId xmlns:p14="http://schemas.microsoft.com/office/powerpoint/2010/main" val="223566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0-#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DAECC-4324-C687-08E5-DFD4ACA512A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BD34FF1-82A4-BF0A-2D8A-FB9677B501C8}"/>
              </a:ext>
            </a:extLst>
          </p:cNvPr>
          <p:cNvSpPr txBox="1"/>
          <p:nvPr/>
        </p:nvSpPr>
        <p:spPr>
          <a:xfrm>
            <a:off x="177631" y="590239"/>
            <a:ext cx="7342842" cy="461665"/>
          </a:xfrm>
          <a:prstGeom prst="rect">
            <a:avLst/>
          </a:prstGeom>
          <a:noFill/>
        </p:spPr>
        <p:txBody>
          <a:bodyPr wrap="square" rtlCol="0">
            <a:spAutoFit/>
          </a:bodyPr>
          <a:lstStyle/>
          <a:p>
            <a:r>
              <a:rPr lang="en-ID" sz="2400" dirty="0">
                <a:solidFill>
                  <a:schemeClr val="bg1"/>
                </a:solidFill>
                <a:latin typeface="Arial Black" panose="020B0A04020102020204" pitchFamily="34" charset="0"/>
              </a:rPr>
              <a:t>Deployment Models</a:t>
            </a:r>
          </a:p>
        </p:txBody>
      </p:sp>
      <p:sp>
        <p:nvSpPr>
          <p:cNvPr id="6" name="TextBox 5">
            <a:extLst>
              <a:ext uri="{FF2B5EF4-FFF2-40B4-BE49-F238E27FC236}">
                <a16:creationId xmlns:a16="http://schemas.microsoft.com/office/drawing/2014/main" id="{7C346907-0F71-95B8-AD09-A022A5E90C1F}"/>
              </a:ext>
            </a:extLst>
          </p:cNvPr>
          <p:cNvSpPr txBox="1"/>
          <p:nvPr/>
        </p:nvSpPr>
        <p:spPr>
          <a:xfrm>
            <a:off x="177631" y="1615784"/>
            <a:ext cx="11831489" cy="3693319"/>
          </a:xfrm>
          <a:prstGeom prst="rect">
            <a:avLst/>
          </a:prstGeom>
          <a:noFill/>
        </p:spPr>
        <p:txBody>
          <a:bodyPr wrap="square" rtlCol="0">
            <a:spAutoFit/>
          </a:bodyPr>
          <a:lstStyle/>
          <a:p>
            <a:r>
              <a:rPr lang="en-US" sz="2400" dirty="0">
                <a:solidFill>
                  <a:schemeClr val="bg1"/>
                </a:solidFill>
              </a:rPr>
              <a:t>A cloud deployment model essentially defines where the infrastructure for your deployment resides and determines who has ownership and control over that infrastructure. It also determines the cloud’s nature and purpose.</a:t>
            </a:r>
            <a:br>
              <a:rPr lang="en-US" sz="2400" dirty="0">
                <a:solidFill>
                  <a:schemeClr val="bg1"/>
                </a:solidFill>
              </a:rPr>
            </a:br>
            <a:br>
              <a:rPr lang="en-US" sz="2100" dirty="0">
                <a:solidFill>
                  <a:schemeClr val="bg1"/>
                </a:solidFill>
              </a:rPr>
            </a:br>
            <a:r>
              <a:rPr lang="en-US" sz="2400" dirty="0">
                <a:solidFill>
                  <a:schemeClr val="bg1"/>
                </a:solidFill>
              </a:rPr>
              <a:t>Types of Cloud Deployment Models</a:t>
            </a:r>
          </a:p>
          <a:p>
            <a:pPr marL="342900" indent="-342900">
              <a:buFont typeface="Arial" panose="020B0604020202020204" pitchFamily="34" charset="0"/>
              <a:buChar char="•"/>
            </a:pPr>
            <a:endParaRPr lang="en-US" sz="2100" dirty="0">
              <a:solidFill>
                <a:schemeClr val="bg1"/>
              </a:solidFill>
            </a:endParaRPr>
          </a:p>
          <a:p>
            <a:pPr marL="342900" indent="-342900">
              <a:buFont typeface="Arial" panose="020B0604020202020204" pitchFamily="34" charset="0"/>
              <a:buChar char="•"/>
            </a:pPr>
            <a:r>
              <a:rPr lang="en-US" sz="2400" b="1" dirty="0">
                <a:solidFill>
                  <a:schemeClr val="bg1"/>
                </a:solidFill>
              </a:rPr>
              <a:t>Public Cloud</a:t>
            </a:r>
            <a:endParaRPr lang="en-US" sz="2400" dirty="0">
              <a:solidFill>
                <a:schemeClr val="bg1"/>
              </a:solidFill>
            </a:endParaRPr>
          </a:p>
          <a:p>
            <a:pPr marL="342900" indent="-342900">
              <a:buFont typeface="Arial" panose="020B0604020202020204" pitchFamily="34" charset="0"/>
              <a:buChar char="•"/>
            </a:pPr>
            <a:r>
              <a:rPr lang="en-US" sz="2400" b="1" dirty="0">
                <a:solidFill>
                  <a:schemeClr val="bg1"/>
                </a:solidFill>
              </a:rPr>
              <a:t>Private Cloud</a:t>
            </a:r>
            <a:endParaRPr lang="en-US" sz="2400" dirty="0">
              <a:solidFill>
                <a:schemeClr val="bg1"/>
              </a:solidFill>
            </a:endParaRPr>
          </a:p>
          <a:p>
            <a:pPr marL="342900" indent="-342900">
              <a:buFont typeface="Arial" panose="020B0604020202020204" pitchFamily="34" charset="0"/>
              <a:buChar char="•"/>
            </a:pPr>
            <a:r>
              <a:rPr lang="en-US" sz="2400" b="1" dirty="0">
                <a:solidFill>
                  <a:schemeClr val="bg1"/>
                </a:solidFill>
              </a:rPr>
              <a:t>Hybrid Cloud</a:t>
            </a:r>
          </a:p>
          <a:p>
            <a:pPr marL="342900" indent="-342900">
              <a:buFont typeface="Arial" panose="020B0604020202020204" pitchFamily="34" charset="0"/>
              <a:buChar char="•"/>
            </a:pPr>
            <a:r>
              <a:rPr lang="en-US" sz="2400" b="1" dirty="0">
                <a:solidFill>
                  <a:schemeClr val="bg1"/>
                </a:solidFill>
              </a:rPr>
              <a:t>Multi-Cloud</a:t>
            </a:r>
            <a:endParaRPr lang="en-US" sz="2400" dirty="0">
              <a:solidFill>
                <a:schemeClr val="bg1"/>
              </a:solidFill>
            </a:endParaRPr>
          </a:p>
        </p:txBody>
      </p:sp>
    </p:spTree>
    <p:extLst>
      <p:ext uri="{BB962C8B-B14F-4D97-AF65-F5344CB8AC3E}">
        <p14:creationId xmlns:p14="http://schemas.microsoft.com/office/powerpoint/2010/main" val="485176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0-#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9F4E8-A8C7-18AD-6749-8E8F1483220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C007EC3-0137-9203-F98E-ABA42D6385FC}"/>
              </a:ext>
            </a:extLst>
          </p:cNvPr>
          <p:cNvSpPr txBox="1"/>
          <p:nvPr/>
        </p:nvSpPr>
        <p:spPr>
          <a:xfrm>
            <a:off x="177631" y="590239"/>
            <a:ext cx="7342842" cy="461665"/>
          </a:xfrm>
          <a:prstGeom prst="rect">
            <a:avLst/>
          </a:prstGeom>
          <a:noFill/>
        </p:spPr>
        <p:txBody>
          <a:bodyPr wrap="square" rtlCol="0">
            <a:spAutoFit/>
          </a:bodyPr>
          <a:lstStyle/>
          <a:p>
            <a:r>
              <a:rPr lang="en-ID" sz="2400" dirty="0">
                <a:solidFill>
                  <a:schemeClr val="bg1"/>
                </a:solidFill>
                <a:latin typeface="Arial Black" panose="020B0A04020102020204" pitchFamily="34" charset="0"/>
              </a:rPr>
              <a:t>Deployment Models</a:t>
            </a:r>
          </a:p>
        </p:txBody>
      </p:sp>
      <p:sp>
        <p:nvSpPr>
          <p:cNvPr id="6" name="TextBox 5">
            <a:extLst>
              <a:ext uri="{FF2B5EF4-FFF2-40B4-BE49-F238E27FC236}">
                <a16:creationId xmlns:a16="http://schemas.microsoft.com/office/drawing/2014/main" id="{86179AAE-951C-C7EB-CAFC-4C08039F7F27}"/>
              </a:ext>
            </a:extLst>
          </p:cNvPr>
          <p:cNvSpPr txBox="1"/>
          <p:nvPr/>
        </p:nvSpPr>
        <p:spPr>
          <a:xfrm>
            <a:off x="177631" y="1173824"/>
            <a:ext cx="11831489" cy="6617196"/>
          </a:xfrm>
          <a:prstGeom prst="rect">
            <a:avLst/>
          </a:prstGeom>
          <a:noFill/>
        </p:spPr>
        <p:txBody>
          <a:bodyPr wrap="square" rtlCol="0">
            <a:spAutoFit/>
          </a:bodyPr>
          <a:lstStyle/>
          <a:p>
            <a:r>
              <a:rPr lang="en-US" sz="2400" b="1" dirty="0">
                <a:solidFill>
                  <a:schemeClr val="bg1"/>
                </a:solidFill>
                <a:effectLst/>
              </a:rPr>
              <a:t>Public Cloud Model</a:t>
            </a:r>
            <a:br>
              <a:rPr lang="en-US" sz="2400" b="1" dirty="0">
                <a:solidFill>
                  <a:schemeClr val="bg1"/>
                </a:solidFill>
                <a:effectLst/>
              </a:rPr>
            </a:br>
            <a:endParaRPr lang="en-US" sz="2400" b="1" dirty="0">
              <a:solidFill>
                <a:schemeClr val="bg1"/>
              </a:solidFill>
              <a:effectLst/>
            </a:endParaRPr>
          </a:p>
          <a:p>
            <a:r>
              <a:rPr lang="en-US" dirty="0">
                <a:solidFill>
                  <a:schemeClr val="bg1"/>
                </a:solidFill>
              </a:rPr>
              <a:t>Public cloud is a commonly adopted cloud model, where </a:t>
            </a:r>
            <a:r>
              <a:rPr lang="en-US" b="1" dirty="0">
                <a:solidFill>
                  <a:schemeClr val="bg1"/>
                </a:solidFill>
              </a:rPr>
              <a:t>the cloud services provider owns the infrastructure and openly provides access to it for the public to consume</a:t>
            </a:r>
            <a:r>
              <a:rPr lang="en-US" dirty="0">
                <a:solidFill>
                  <a:schemeClr val="bg1"/>
                </a:solidFill>
              </a:rPr>
              <a:t>.</a:t>
            </a:r>
          </a:p>
          <a:p>
            <a:r>
              <a:rPr lang="en-US" dirty="0">
                <a:solidFill>
                  <a:schemeClr val="bg1"/>
                </a:solidFill>
              </a:rPr>
              <a:t>As the service provider owns the hardware and supporting networking infrastructure, it is under the service provider’s full control. The service provider is responsible for the physical security, maintenance, and management of the data center where the infrastructure resides. The underlying infrastructure is, therefore, outside of the customer’s control and also away from the customer’s physical location.</a:t>
            </a:r>
          </a:p>
          <a:p>
            <a:r>
              <a:rPr lang="en-US" dirty="0">
                <a:solidFill>
                  <a:schemeClr val="bg1"/>
                </a:solidFill>
              </a:rPr>
              <a:t>Examples: Microsoft Azure, Amazon AWS, Google Cloud, Oracle Cloud.</a:t>
            </a:r>
            <a:br>
              <a:rPr lang="en-US" dirty="0">
                <a:solidFill>
                  <a:schemeClr val="bg1"/>
                </a:solidFill>
              </a:rPr>
            </a:br>
            <a:br>
              <a:rPr lang="en-US" dirty="0">
                <a:solidFill>
                  <a:schemeClr val="bg1"/>
                </a:solidFill>
              </a:rPr>
            </a:br>
            <a:r>
              <a:rPr lang="en-US" b="1" dirty="0">
                <a:solidFill>
                  <a:srgbClr val="FFA93A"/>
                </a:solidFill>
              </a:rPr>
              <a:t>Advantages of the Public Cloud Model</a:t>
            </a:r>
          </a:p>
          <a:p>
            <a:r>
              <a:rPr lang="en-US" dirty="0">
                <a:solidFill>
                  <a:schemeClr val="bg1"/>
                </a:solidFill>
              </a:rPr>
              <a:t>Low initial capital cost (Move from Capex to </a:t>
            </a:r>
            <a:r>
              <a:rPr lang="en-US" dirty="0" err="1">
                <a:solidFill>
                  <a:schemeClr val="bg1"/>
                </a:solidFill>
              </a:rPr>
              <a:t>Opex</a:t>
            </a:r>
            <a:r>
              <a:rPr lang="en-US" dirty="0">
                <a:solidFill>
                  <a:schemeClr val="bg1"/>
                </a:solidFill>
              </a:rPr>
              <a:t>)</a:t>
            </a:r>
          </a:p>
          <a:p>
            <a:r>
              <a:rPr lang="en-US" dirty="0">
                <a:solidFill>
                  <a:schemeClr val="bg1"/>
                </a:solidFill>
              </a:rPr>
              <a:t>High Flexibility</a:t>
            </a:r>
          </a:p>
          <a:p>
            <a:r>
              <a:rPr lang="en-US" dirty="0">
                <a:solidFill>
                  <a:schemeClr val="bg1"/>
                </a:solidFill>
              </a:rPr>
              <a:t>High (almost unlimited) scalability</a:t>
            </a:r>
          </a:p>
          <a:p>
            <a:r>
              <a:rPr lang="en-US" dirty="0">
                <a:solidFill>
                  <a:schemeClr val="bg1"/>
                </a:solidFill>
              </a:rPr>
              <a:t>High Reliability</a:t>
            </a:r>
          </a:p>
          <a:p>
            <a:r>
              <a:rPr lang="en-US" dirty="0">
                <a:solidFill>
                  <a:schemeClr val="bg1"/>
                </a:solidFill>
              </a:rPr>
              <a:t>Low maintenance costs</a:t>
            </a:r>
          </a:p>
          <a:p>
            <a:endParaRPr lang="en-US" dirty="0">
              <a:solidFill>
                <a:schemeClr val="bg1"/>
              </a:solidFill>
            </a:endParaRPr>
          </a:p>
          <a:p>
            <a:pPr>
              <a:spcAft>
                <a:spcPts val="1200"/>
              </a:spcAft>
            </a:pPr>
            <a:r>
              <a:rPr lang="en-US" b="1" dirty="0">
                <a:solidFill>
                  <a:srgbClr val="FFA93A"/>
                </a:solidFill>
              </a:rPr>
              <a:t>Disadvantages of the Public Cloud Model</a:t>
            </a:r>
          </a:p>
          <a:p>
            <a:r>
              <a:rPr lang="en-US" dirty="0">
                <a:solidFill>
                  <a:schemeClr val="bg1"/>
                </a:solidFill>
              </a:rPr>
              <a:t>Data security concerns for strictly regulated businesses</a:t>
            </a:r>
          </a:p>
          <a:p>
            <a:br>
              <a:rPr lang="en-US" dirty="0">
                <a:solidFill>
                  <a:schemeClr val="bg1"/>
                </a:solidFill>
              </a:rPr>
            </a:br>
            <a:endParaRPr lang="en-US" dirty="0">
              <a:solidFill>
                <a:schemeClr val="bg1"/>
              </a:solidFill>
            </a:endParaRPr>
          </a:p>
          <a:p>
            <a:endParaRPr lang="en-US" sz="2400" dirty="0">
              <a:solidFill>
                <a:schemeClr val="bg1"/>
              </a:solidFill>
            </a:endParaRPr>
          </a:p>
        </p:txBody>
      </p:sp>
    </p:spTree>
    <p:extLst>
      <p:ext uri="{BB962C8B-B14F-4D97-AF65-F5344CB8AC3E}">
        <p14:creationId xmlns:p14="http://schemas.microsoft.com/office/powerpoint/2010/main" val="4139846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9EC2A-6A3A-4808-4771-D7D7D5CE317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ABF4973-EA5E-5614-655B-501CF2BED766}"/>
              </a:ext>
            </a:extLst>
          </p:cNvPr>
          <p:cNvSpPr txBox="1"/>
          <p:nvPr/>
        </p:nvSpPr>
        <p:spPr>
          <a:xfrm>
            <a:off x="177631" y="590239"/>
            <a:ext cx="7342842" cy="461665"/>
          </a:xfrm>
          <a:prstGeom prst="rect">
            <a:avLst/>
          </a:prstGeom>
          <a:noFill/>
        </p:spPr>
        <p:txBody>
          <a:bodyPr wrap="square" rtlCol="0">
            <a:spAutoFit/>
          </a:bodyPr>
          <a:lstStyle/>
          <a:p>
            <a:r>
              <a:rPr lang="en-ID" sz="2400" dirty="0">
                <a:solidFill>
                  <a:schemeClr val="bg1"/>
                </a:solidFill>
                <a:latin typeface="Arial Black" panose="020B0A04020102020204" pitchFamily="34" charset="0"/>
              </a:rPr>
              <a:t>Deployment Models</a:t>
            </a:r>
          </a:p>
        </p:txBody>
      </p:sp>
      <p:sp>
        <p:nvSpPr>
          <p:cNvPr id="6" name="TextBox 5">
            <a:extLst>
              <a:ext uri="{FF2B5EF4-FFF2-40B4-BE49-F238E27FC236}">
                <a16:creationId xmlns:a16="http://schemas.microsoft.com/office/drawing/2014/main" id="{C5283A1D-864B-155A-D97E-7C555AF5A4D6}"/>
              </a:ext>
            </a:extLst>
          </p:cNvPr>
          <p:cNvSpPr txBox="1"/>
          <p:nvPr/>
        </p:nvSpPr>
        <p:spPr>
          <a:xfrm>
            <a:off x="177631" y="1173824"/>
            <a:ext cx="11831489" cy="7017306"/>
          </a:xfrm>
          <a:prstGeom prst="rect">
            <a:avLst/>
          </a:prstGeom>
          <a:noFill/>
        </p:spPr>
        <p:txBody>
          <a:bodyPr wrap="square" rtlCol="0">
            <a:spAutoFit/>
          </a:bodyPr>
          <a:lstStyle/>
          <a:p>
            <a:r>
              <a:rPr lang="en-US" sz="2400" b="1" dirty="0">
                <a:solidFill>
                  <a:schemeClr val="bg1"/>
                </a:solidFill>
                <a:effectLst/>
              </a:rPr>
              <a:t>Private Cloud Model</a:t>
            </a:r>
            <a:br>
              <a:rPr lang="en-US" sz="2400" b="1" dirty="0">
                <a:solidFill>
                  <a:schemeClr val="bg1"/>
                </a:solidFill>
                <a:effectLst/>
              </a:rPr>
            </a:br>
            <a:endParaRPr lang="en-US" sz="2400" b="1" dirty="0">
              <a:solidFill>
                <a:schemeClr val="bg1"/>
              </a:solidFill>
              <a:effectLst/>
            </a:endParaRPr>
          </a:p>
          <a:p>
            <a:r>
              <a:rPr lang="en-US" dirty="0">
                <a:solidFill>
                  <a:schemeClr val="bg1"/>
                </a:solidFill>
              </a:rPr>
              <a:t>A private cloud can be thought of as </a:t>
            </a:r>
            <a:r>
              <a:rPr lang="en-US" b="1" dirty="0">
                <a:solidFill>
                  <a:schemeClr val="bg1"/>
                </a:solidFill>
              </a:rPr>
              <a:t>an environment that is fully owned and managed by a single tenant</a:t>
            </a:r>
            <a:r>
              <a:rPr lang="en-US" dirty="0">
                <a:solidFill>
                  <a:schemeClr val="bg1"/>
                </a:solidFill>
              </a:rPr>
              <a:t>. This option is usually chosen to alleviate any data security concerns that might exist with the public cloud offering. Any strict cloud governance requirements can also be more easily adhered to, and the private cloud can be more easily customized.</a:t>
            </a:r>
          </a:p>
          <a:p>
            <a:r>
              <a:rPr lang="en-US" dirty="0">
                <a:solidFill>
                  <a:schemeClr val="bg1"/>
                </a:solidFill>
              </a:rPr>
              <a:t>Full control of the hardware can lead to higher performance. A customer will typically run a private cloud within their own building (on-premises) or purchase rack space in a data center in which to host their infrastructure.</a:t>
            </a:r>
          </a:p>
          <a:p>
            <a:r>
              <a:rPr lang="en-US" dirty="0">
                <a:solidFill>
                  <a:schemeClr val="bg1"/>
                </a:solidFill>
              </a:rPr>
              <a:t>However, the responsibility to manage the infrastructure also falls to the customer, creating a need for more staff with wider skills and increasing costs. </a:t>
            </a:r>
          </a:p>
          <a:p>
            <a:r>
              <a:rPr lang="en-US" dirty="0">
                <a:solidFill>
                  <a:schemeClr val="bg1"/>
                </a:solidFill>
              </a:rPr>
              <a:t>Examples: On-premises data centers using OpenStack or VMware.</a:t>
            </a:r>
            <a:br>
              <a:rPr lang="en-US" dirty="0">
                <a:solidFill>
                  <a:schemeClr val="bg1"/>
                </a:solidFill>
              </a:rPr>
            </a:br>
            <a:br>
              <a:rPr lang="en-US" dirty="0">
                <a:solidFill>
                  <a:schemeClr val="bg1"/>
                </a:solidFill>
              </a:rPr>
            </a:br>
            <a:r>
              <a:rPr lang="en-US" b="1" dirty="0">
                <a:solidFill>
                  <a:srgbClr val="FFA93A"/>
                </a:solidFill>
              </a:rPr>
              <a:t>Advantages of the Private Cloud Model</a:t>
            </a:r>
            <a:endParaRPr lang="en-US" b="1" dirty="0">
              <a:solidFill>
                <a:schemeClr val="bg1"/>
              </a:solidFill>
            </a:endParaRPr>
          </a:p>
          <a:p>
            <a:r>
              <a:rPr lang="en-US" dirty="0">
                <a:solidFill>
                  <a:schemeClr val="bg1"/>
                </a:solidFill>
              </a:rPr>
              <a:t>Increased security and control</a:t>
            </a:r>
          </a:p>
          <a:p>
            <a:r>
              <a:rPr lang="en-US" dirty="0">
                <a:solidFill>
                  <a:schemeClr val="bg1"/>
                </a:solidFill>
              </a:rPr>
              <a:t>Dedicated hardware may improve performance</a:t>
            </a:r>
          </a:p>
          <a:p>
            <a:r>
              <a:rPr lang="en-US" dirty="0">
                <a:solidFill>
                  <a:schemeClr val="bg1"/>
                </a:solidFill>
              </a:rPr>
              <a:t>High flexibility</a:t>
            </a:r>
          </a:p>
          <a:p>
            <a:endParaRPr lang="en-US" dirty="0">
              <a:solidFill>
                <a:schemeClr val="bg1"/>
              </a:solidFill>
            </a:endParaRPr>
          </a:p>
          <a:p>
            <a:r>
              <a:rPr lang="en-US" b="1" dirty="0">
                <a:solidFill>
                  <a:srgbClr val="FFA93A"/>
                </a:solidFill>
              </a:rPr>
              <a:t>Disadvantages of the Private Cloud Model</a:t>
            </a:r>
          </a:p>
          <a:p>
            <a:r>
              <a:rPr lang="en-US" dirty="0">
                <a:solidFill>
                  <a:schemeClr val="bg1"/>
                </a:solidFill>
              </a:rPr>
              <a:t>High cost</a:t>
            </a:r>
          </a:p>
          <a:p>
            <a:r>
              <a:rPr lang="en-US" dirty="0">
                <a:solidFill>
                  <a:schemeClr val="bg1"/>
                </a:solidFill>
              </a:rPr>
              <a:t>Higher management overhead</a:t>
            </a:r>
          </a:p>
          <a:p>
            <a:br>
              <a:rPr lang="en-US" dirty="0">
                <a:solidFill>
                  <a:schemeClr val="bg1"/>
                </a:solidFill>
              </a:rPr>
            </a:br>
            <a:endParaRPr lang="en-US" dirty="0">
              <a:solidFill>
                <a:schemeClr val="bg1"/>
              </a:solidFill>
            </a:endParaRPr>
          </a:p>
          <a:p>
            <a:br>
              <a:rPr lang="en-US" dirty="0">
                <a:solidFill>
                  <a:schemeClr val="bg1"/>
                </a:solidFill>
              </a:rPr>
            </a:br>
            <a:endParaRPr lang="en-US" dirty="0">
              <a:solidFill>
                <a:schemeClr val="bg1"/>
              </a:solidFill>
            </a:endParaRPr>
          </a:p>
          <a:p>
            <a:endParaRPr lang="en-US" sz="2400" dirty="0">
              <a:solidFill>
                <a:schemeClr val="bg1"/>
              </a:solidFill>
            </a:endParaRPr>
          </a:p>
        </p:txBody>
      </p:sp>
    </p:spTree>
    <p:extLst>
      <p:ext uri="{BB962C8B-B14F-4D97-AF65-F5344CB8AC3E}">
        <p14:creationId xmlns:p14="http://schemas.microsoft.com/office/powerpoint/2010/main" val="1423417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649C1-9D8F-F419-2B0F-72E061AAC7A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5217ACD-A9FF-3226-8F65-2F9DE47B4C31}"/>
              </a:ext>
            </a:extLst>
          </p:cNvPr>
          <p:cNvSpPr txBox="1"/>
          <p:nvPr/>
        </p:nvSpPr>
        <p:spPr>
          <a:xfrm>
            <a:off x="177631" y="590239"/>
            <a:ext cx="7342842" cy="461665"/>
          </a:xfrm>
          <a:prstGeom prst="rect">
            <a:avLst/>
          </a:prstGeom>
          <a:noFill/>
        </p:spPr>
        <p:txBody>
          <a:bodyPr wrap="square" rtlCol="0">
            <a:spAutoFit/>
          </a:bodyPr>
          <a:lstStyle/>
          <a:p>
            <a:r>
              <a:rPr lang="en-ID" sz="2400" dirty="0">
                <a:solidFill>
                  <a:schemeClr val="bg1"/>
                </a:solidFill>
                <a:latin typeface="Arial Black" panose="020B0A04020102020204" pitchFamily="34" charset="0"/>
              </a:rPr>
              <a:t>Deployment Models</a:t>
            </a:r>
          </a:p>
        </p:txBody>
      </p:sp>
      <p:sp>
        <p:nvSpPr>
          <p:cNvPr id="6" name="TextBox 5">
            <a:extLst>
              <a:ext uri="{FF2B5EF4-FFF2-40B4-BE49-F238E27FC236}">
                <a16:creationId xmlns:a16="http://schemas.microsoft.com/office/drawing/2014/main" id="{CC7EC9E8-769C-256B-5534-27215B27ED42}"/>
              </a:ext>
            </a:extLst>
          </p:cNvPr>
          <p:cNvSpPr txBox="1"/>
          <p:nvPr/>
        </p:nvSpPr>
        <p:spPr>
          <a:xfrm>
            <a:off x="177631" y="1173824"/>
            <a:ext cx="11831489" cy="6740307"/>
          </a:xfrm>
          <a:prstGeom prst="rect">
            <a:avLst/>
          </a:prstGeom>
          <a:noFill/>
        </p:spPr>
        <p:txBody>
          <a:bodyPr wrap="square" rtlCol="0">
            <a:spAutoFit/>
          </a:bodyPr>
          <a:lstStyle/>
          <a:p>
            <a:r>
              <a:rPr lang="en-US" sz="2400" b="1" dirty="0">
                <a:solidFill>
                  <a:schemeClr val="bg1"/>
                </a:solidFill>
                <a:effectLst/>
              </a:rPr>
              <a:t>Hybrid Cloud Model</a:t>
            </a:r>
            <a:br>
              <a:rPr lang="en-US" sz="2400" b="1" dirty="0">
                <a:solidFill>
                  <a:schemeClr val="bg1"/>
                </a:solidFill>
                <a:effectLst/>
              </a:rPr>
            </a:br>
            <a:endParaRPr lang="en-US" sz="2400" b="1" dirty="0">
              <a:solidFill>
                <a:schemeClr val="bg1"/>
              </a:solidFill>
              <a:effectLst/>
            </a:endParaRPr>
          </a:p>
          <a:p>
            <a:r>
              <a:rPr lang="en-US" dirty="0">
                <a:solidFill>
                  <a:schemeClr val="bg1"/>
                </a:solidFill>
              </a:rPr>
              <a:t>The hybrid model </a:t>
            </a:r>
            <a:r>
              <a:rPr lang="en-US" b="1" dirty="0">
                <a:solidFill>
                  <a:schemeClr val="bg1"/>
                </a:solidFill>
              </a:rPr>
              <a:t>combines both public and private cloud deployment models</a:t>
            </a:r>
            <a:r>
              <a:rPr lang="en-US" dirty="0">
                <a:solidFill>
                  <a:schemeClr val="bg1"/>
                </a:solidFill>
              </a:rPr>
              <a:t> giving a single cloud infrastructure that is aimed at increasing flexibility and deployment options for the business.</a:t>
            </a:r>
          </a:p>
          <a:p>
            <a:r>
              <a:rPr lang="en-US" dirty="0">
                <a:solidFill>
                  <a:schemeClr val="bg1"/>
                </a:solidFill>
              </a:rPr>
              <a:t>For example, applications with strict governance and data security requirements may be hosted in the business private cloud, whereas applications without these concerns, which need to be scaled on demand, could be hosted in the public cloud.</a:t>
            </a:r>
          </a:p>
          <a:p>
            <a:r>
              <a:rPr lang="en-US" dirty="0">
                <a:solidFill>
                  <a:schemeClr val="bg1"/>
                </a:solidFill>
              </a:rPr>
              <a:t>Examples: Using a private cloud for sensitive data and a public cloud for other operations.</a:t>
            </a:r>
            <a:br>
              <a:rPr lang="en-US" dirty="0">
                <a:solidFill>
                  <a:schemeClr val="bg1"/>
                </a:solidFill>
              </a:rPr>
            </a:br>
            <a:br>
              <a:rPr lang="en-US" dirty="0">
                <a:solidFill>
                  <a:schemeClr val="bg1"/>
                </a:solidFill>
              </a:rPr>
            </a:br>
            <a:r>
              <a:rPr lang="en-US" b="1" dirty="0">
                <a:solidFill>
                  <a:srgbClr val="FFA93A"/>
                </a:solidFill>
              </a:rPr>
              <a:t>Advantages of the Hybrid Cloud</a:t>
            </a:r>
          </a:p>
          <a:p>
            <a:r>
              <a:rPr lang="en-US" dirty="0">
                <a:solidFill>
                  <a:schemeClr val="bg1"/>
                </a:solidFill>
              </a:rPr>
              <a:t>Improved scalability</a:t>
            </a:r>
          </a:p>
          <a:p>
            <a:r>
              <a:rPr lang="en-US" dirty="0">
                <a:solidFill>
                  <a:schemeClr val="bg1"/>
                </a:solidFill>
              </a:rPr>
              <a:t>High control</a:t>
            </a:r>
          </a:p>
          <a:p>
            <a:r>
              <a:rPr lang="en-US" dirty="0">
                <a:solidFill>
                  <a:schemeClr val="bg1"/>
                </a:solidFill>
              </a:rPr>
              <a:t>Highly scalable</a:t>
            </a:r>
          </a:p>
          <a:p>
            <a:r>
              <a:rPr lang="en-US" dirty="0">
                <a:solidFill>
                  <a:schemeClr val="bg1"/>
                </a:solidFill>
              </a:rPr>
              <a:t>High fault tolerance</a:t>
            </a:r>
          </a:p>
          <a:p>
            <a:r>
              <a:rPr lang="en-US" dirty="0">
                <a:solidFill>
                  <a:schemeClr val="bg1"/>
                </a:solidFill>
              </a:rPr>
              <a:t>Cost-effective</a:t>
            </a:r>
          </a:p>
          <a:p>
            <a:r>
              <a:rPr lang="en-US" b="1" dirty="0">
                <a:solidFill>
                  <a:srgbClr val="FFA93A"/>
                </a:solidFill>
              </a:rPr>
              <a:t>Disadvantages of the Hybrid Cloud</a:t>
            </a:r>
          </a:p>
          <a:p>
            <a:r>
              <a:rPr lang="en-US" dirty="0">
                <a:solidFill>
                  <a:schemeClr val="bg1"/>
                </a:solidFill>
              </a:rPr>
              <a:t>Setup challenges</a:t>
            </a:r>
          </a:p>
          <a:p>
            <a:r>
              <a:rPr lang="en-US" dirty="0">
                <a:solidFill>
                  <a:schemeClr val="bg1"/>
                </a:solidFill>
              </a:rPr>
              <a:t>High management overhead</a:t>
            </a:r>
          </a:p>
          <a:p>
            <a:br>
              <a:rPr lang="en-US" dirty="0">
                <a:solidFill>
                  <a:schemeClr val="bg1"/>
                </a:solidFill>
              </a:rPr>
            </a:br>
            <a:endParaRPr lang="en-US" dirty="0">
              <a:solidFill>
                <a:schemeClr val="bg1"/>
              </a:solidFill>
            </a:endParaRPr>
          </a:p>
          <a:p>
            <a:br>
              <a:rPr lang="en-US" dirty="0">
                <a:solidFill>
                  <a:schemeClr val="bg1"/>
                </a:solidFill>
              </a:rPr>
            </a:br>
            <a:endParaRPr lang="en-US" dirty="0">
              <a:solidFill>
                <a:schemeClr val="bg1"/>
              </a:solidFill>
            </a:endParaRPr>
          </a:p>
          <a:p>
            <a:endParaRPr lang="en-US" sz="2400" dirty="0">
              <a:solidFill>
                <a:schemeClr val="bg1"/>
              </a:solidFill>
            </a:endParaRPr>
          </a:p>
        </p:txBody>
      </p:sp>
    </p:spTree>
    <p:extLst>
      <p:ext uri="{BB962C8B-B14F-4D97-AF65-F5344CB8AC3E}">
        <p14:creationId xmlns:p14="http://schemas.microsoft.com/office/powerpoint/2010/main" val="3313303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C947C-4632-6F11-9FF7-5544526AE66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7368988-E316-4815-3A42-46CB8AA492E9}"/>
              </a:ext>
            </a:extLst>
          </p:cNvPr>
          <p:cNvSpPr txBox="1"/>
          <p:nvPr/>
        </p:nvSpPr>
        <p:spPr>
          <a:xfrm>
            <a:off x="177631" y="590239"/>
            <a:ext cx="7342842" cy="461665"/>
          </a:xfrm>
          <a:prstGeom prst="rect">
            <a:avLst/>
          </a:prstGeom>
          <a:noFill/>
        </p:spPr>
        <p:txBody>
          <a:bodyPr wrap="square" rtlCol="0">
            <a:spAutoFit/>
          </a:bodyPr>
          <a:lstStyle/>
          <a:p>
            <a:r>
              <a:rPr lang="en-ID" sz="2400" dirty="0">
                <a:solidFill>
                  <a:schemeClr val="bg1"/>
                </a:solidFill>
                <a:latin typeface="Arial Black" panose="020B0A04020102020204" pitchFamily="34" charset="0"/>
              </a:rPr>
              <a:t>Deployment Models</a:t>
            </a:r>
          </a:p>
        </p:txBody>
      </p:sp>
      <p:sp>
        <p:nvSpPr>
          <p:cNvPr id="6" name="TextBox 5">
            <a:extLst>
              <a:ext uri="{FF2B5EF4-FFF2-40B4-BE49-F238E27FC236}">
                <a16:creationId xmlns:a16="http://schemas.microsoft.com/office/drawing/2014/main" id="{AF016E19-C83F-A5DB-A218-82CA5CEA9CCB}"/>
              </a:ext>
            </a:extLst>
          </p:cNvPr>
          <p:cNvSpPr txBox="1"/>
          <p:nvPr/>
        </p:nvSpPr>
        <p:spPr>
          <a:xfrm>
            <a:off x="177631" y="1173824"/>
            <a:ext cx="11831489" cy="4647426"/>
          </a:xfrm>
          <a:prstGeom prst="rect">
            <a:avLst/>
          </a:prstGeom>
          <a:noFill/>
        </p:spPr>
        <p:txBody>
          <a:bodyPr wrap="square" rtlCol="0">
            <a:spAutoFit/>
          </a:bodyPr>
          <a:lstStyle/>
          <a:p>
            <a:r>
              <a:rPr lang="en-US" sz="2400" b="1" dirty="0">
                <a:solidFill>
                  <a:schemeClr val="bg1"/>
                </a:solidFill>
                <a:effectLst/>
              </a:rPr>
              <a:t>Multi-Cloud Model</a:t>
            </a:r>
            <a:br>
              <a:rPr lang="en-US" sz="2400" b="1" dirty="0">
                <a:solidFill>
                  <a:schemeClr val="bg1"/>
                </a:solidFill>
                <a:effectLst/>
              </a:rPr>
            </a:br>
            <a:endParaRPr lang="en-US" sz="2400" b="1" dirty="0">
              <a:solidFill>
                <a:schemeClr val="bg1"/>
              </a:solidFill>
              <a:effectLst/>
            </a:endParaRPr>
          </a:p>
          <a:p>
            <a:r>
              <a:rPr lang="en-US" sz="2800" dirty="0">
                <a:solidFill>
                  <a:schemeClr val="bg1"/>
                </a:solidFill>
              </a:rPr>
              <a:t>nearly 90% of companies are now considered multi-cloud, meaning they combine cloud services from at least two different cloud service providers, whether public or private. Adopting a multi-cloud approach gives you greater flexibility to choose the solutions that best suit your specific business needs, and also reduces the risk of vendor lock-in. </a:t>
            </a:r>
            <a:br>
              <a:rPr lang="en-US" sz="2800" dirty="0">
                <a:solidFill>
                  <a:schemeClr val="bg1"/>
                </a:solidFill>
              </a:rPr>
            </a:br>
            <a:endParaRPr lang="en-US" sz="2800" dirty="0">
              <a:solidFill>
                <a:schemeClr val="bg1"/>
              </a:solidFill>
            </a:endParaRPr>
          </a:p>
          <a:p>
            <a:br>
              <a:rPr lang="en-US" sz="2800" dirty="0">
                <a:solidFill>
                  <a:schemeClr val="bg1"/>
                </a:solidFill>
              </a:rPr>
            </a:br>
            <a:endParaRPr lang="en-US" sz="2800" dirty="0">
              <a:solidFill>
                <a:schemeClr val="bg1"/>
              </a:solidFill>
            </a:endParaRPr>
          </a:p>
          <a:p>
            <a:endParaRPr lang="en-US" sz="2400" dirty="0">
              <a:solidFill>
                <a:schemeClr val="bg1"/>
              </a:solidFill>
            </a:endParaRPr>
          </a:p>
        </p:txBody>
      </p:sp>
    </p:spTree>
    <p:extLst>
      <p:ext uri="{BB962C8B-B14F-4D97-AF65-F5344CB8AC3E}">
        <p14:creationId xmlns:p14="http://schemas.microsoft.com/office/powerpoint/2010/main" val="3045991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B5130-C4B0-1536-7CDE-C7A13FBE0EB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B01DEB1-356F-3602-59CB-3D855CBAE94A}"/>
              </a:ext>
            </a:extLst>
          </p:cNvPr>
          <p:cNvSpPr txBox="1"/>
          <p:nvPr/>
        </p:nvSpPr>
        <p:spPr>
          <a:xfrm>
            <a:off x="177631" y="590239"/>
            <a:ext cx="7342842" cy="461665"/>
          </a:xfrm>
          <a:prstGeom prst="rect">
            <a:avLst/>
          </a:prstGeom>
          <a:noFill/>
        </p:spPr>
        <p:txBody>
          <a:bodyPr wrap="square" rtlCol="0">
            <a:spAutoFit/>
          </a:bodyPr>
          <a:lstStyle/>
          <a:p>
            <a:r>
              <a:rPr lang="en-ID" sz="2400" dirty="0">
                <a:solidFill>
                  <a:schemeClr val="bg1"/>
                </a:solidFill>
                <a:latin typeface="Arial Black" panose="020B0A04020102020204" pitchFamily="34" charset="0"/>
              </a:rPr>
              <a:t>Service Models</a:t>
            </a:r>
          </a:p>
        </p:txBody>
      </p:sp>
      <p:sp>
        <p:nvSpPr>
          <p:cNvPr id="6" name="TextBox 5">
            <a:extLst>
              <a:ext uri="{FF2B5EF4-FFF2-40B4-BE49-F238E27FC236}">
                <a16:creationId xmlns:a16="http://schemas.microsoft.com/office/drawing/2014/main" id="{3C843353-572F-700A-A464-1A7D16AF48D3}"/>
              </a:ext>
            </a:extLst>
          </p:cNvPr>
          <p:cNvSpPr txBox="1"/>
          <p:nvPr/>
        </p:nvSpPr>
        <p:spPr>
          <a:xfrm>
            <a:off x="177632" y="1173824"/>
            <a:ext cx="10142026" cy="5601533"/>
          </a:xfrm>
          <a:prstGeom prst="rect">
            <a:avLst/>
          </a:prstGeom>
          <a:noFill/>
        </p:spPr>
        <p:txBody>
          <a:bodyPr wrap="square" rtlCol="0">
            <a:spAutoFit/>
          </a:bodyPr>
          <a:lstStyle/>
          <a:p>
            <a:r>
              <a:rPr lang="en-US" sz="2400" b="1" dirty="0">
                <a:solidFill>
                  <a:schemeClr val="bg1"/>
                </a:solidFill>
              </a:rPr>
              <a:t>Infrastructure as a Service (IaaS)</a:t>
            </a:r>
            <a:br>
              <a:rPr lang="en-US" sz="2400" b="1" dirty="0">
                <a:solidFill>
                  <a:schemeClr val="bg1"/>
                </a:solidFill>
                <a:effectLst/>
              </a:rPr>
            </a:br>
            <a:endParaRPr lang="en-US" sz="2400" b="1" dirty="0">
              <a:solidFill>
                <a:schemeClr val="bg1"/>
              </a:solidFill>
              <a:effectLst/>
            </a:endParaRPr>
          </a:p>
          <a:p>
            <a:r>
              <a:rPr lang="en-US" sz="2000" b="1" dirty="0">
                <a:solidFill>
                  <a:srgbClr val="EE3030"/>
                </a:solidFill>
              </a:rPr>
              <a:t>What It Offers:</a:t>
            </a:r>
            <a:endParaRPr lang="en-US" sz="2000" dirty="0">
              <a:solidFill>
                <a:srgbClr val="EE3030"/>
              </a:solidFill>
            </a:endParaRPr>
          </a:p>
          <a:p>
            <a:r>
              <a:rPr lang="en-US" sz="2000" dirty="0">
                <a:solidFill>
                  <a:schemeClr val="bg1"/>
                </a:solidFill>
              </a:rPr>
              <a:t>Virtualized computing resources like virtual machines (VMs), storage, and networks.</a:t>
            </a:r>
          </a:p>
          <a:p>
            <a:pPr>
              <a:spcAft>
                <a:spcPts val="1200"/>
              </a:spcAft>
            </a:pPr>
            <a:r>
              <a:rPr lang="en-US" sz="2000" dirty="0">
                <a:solidFill>
                  <a:schemeClr val="bg1"/>
                </a:solidFill>
              </a:rPr>
              <a:t>Users control the operating system and applications.</a:t>
            </a:r>
          </a:p>
          <a:p>
            <a:r>
              <a:rPr lang="en-US" sz="2000" b="1" dirty="0">
                <a:solidFill>
                  <a:srgbClr val="EE3030"/>
                </a:solidFill>
              </a:rPr>
              <a:t>Features:</a:t>
            </a:r>
            <a:endParaRPr lang="en-US" sz="2000" dirty="0">
              <a:solidFill>
                <a:srgbClr val="EE3030"/>
              </a:solidFill>
            </a:endParaRPr>
          </a:p>
          <a:p>
            <a:r>
              <a:rPr lang="en-US" sz="2000" dirty="0">
                <a:solidFill>
                  <a:schemeClr val="bg1"/>
                </a:solidFill>
              </a:rPr>
              <a:t>Full control over the operating system and runtime.</a:t>
            </a:r>
          </a:p>
          <a:p>
            <a:r>
              <a:rPr lang="en-US" sz="2000" dirty="0">
                <a:solidFill>
                  <a:schemeClr val="bg1"/>
                </a:solidFill>
              </a:rPr>
              <a:t>Ideal for businesses needing customizable environments.</a:t>
            </a:r>
          </a:p>
          <a:p>
            <a:pPr>
              <a:spcAft>
                <a:spcPts val="1200"/>
              </a:spcAft>
            </a:pPr>
            <a:r>
              <a:rPr lang="en-US" sz="2000" dirty="0">
                <a:solidFill>
                  <a:schemeClr val="bg1"/>
                </a:solidFill>
              </a:rPr>
              <a:t>Requires technical expertise to manage.</a:t>
            </a:r>
          </a:p>
          <a:p>
            <a:r>
              <a:rPr lang="en-US" sz="2000" b="1" dirty="0">
                <a:solidFill>
                  <a:srgbClr val="EE3030"/>
                </a:solidFill>
              </a:rPr>
              <a:t>Examples:</a:t>
            </a:r>
            <a:endParaRPr lang="en-US" sz="2000" dirty="0">
              <a:solidFill>
                <a:srgbClr val="EE3030"/>
              </a:solidFill>
            </a:endParaRPr>
          </a:p>
          <a:p>
            <a:r>
              <a:rPr lang="en-US" sz="2000" b="1" dirty="0">
                <a:solidFill>
                  <a:schemeClr val="bg1"/>
                </a:solidFill>
              </a:rPr>
              <a:t>AWS EC2</a:t>
            </a:r>
            <a:r>
              <a:rPr lang="en-US" sz="2000" dirty="0">
                <a:solidFill>
                  <a:schemeClr val="bg1"/>
                </a:solidFill>
              </a:rPr>
              <a:t> (Elastic Compute Cloud)</a:t>
            </a:r>
          </a:p>
          <a:p>
            <a:r>
              <a:rPr lang="en-US" sz="2000" b="1" dirty="0">
                <a:solidFill>
                  <a:schemeClr val="bg1"/>
                </a:solidFill>
              </a:rPr>
              <a:t>Google Compute Engine</a:t>
            </a:r>
            <a:endParaRPr lang="en-US" sz="2000" dirty="0">
              <a:solidFill>
                <a:schemeClr val="bg1"/>
              </a:solidFill>
            </a:endParaRPr>
          </a:p>
          <a:p>
            <a:pPr>
              <a:spcAft>
                <a:spcPts val="1200"/>
              </a:spcAft>
            </a:pPr>
            <a:r>
              <a:rPr lang="en-US" sz="2000" b="1" dirty="0">
                <a:solidFill>
                  <a:schemeClr val="bg1"/>
                </a:solidFill>
              </a:rPr>
              <a:t>Azure Virtual Machines</a:t>
            </a:r>
            <a:endParaRPr lang="en-US" sz="2000" dirty="0">
              <a:solidFill>
                <a:schemeClr val="bg1"/>
              </a:solidFill>
            </a:endParaRPr>
          </a:p>
          <a:p>
            <a:r>
              <a:rPr lang="en-US" sz="2000" b="1" dirty="0">
                <a:solidFill>
                  <a:srgbClr val="EE3030"/>
                </a:solidFill>
              </a:rPr>
              <a:t>Use Cases:</a:t>
            </a:r>
            <a:endParaRPr lang="en-US" sz="2000" dirty="0">
              <a:solidFill>
                <a:srgbClr val="EE3030"/>
              </a:solidFill>
            </a:endParaRPr>
          </a:p>
          <a:p>
            <a:r>
              <a:rPr lang="en-US" sz="2000" dirty="0">
                <a:solidFill>
                  <a:schemeClr val="bg1"/>
                </a:solidFill>
              </a:rPr>
              <a:t>Hosting a website or application with custom configurations.</a:t>
            </a:r>
          </a:p>
          <a:p>
            <a:r>
              <a:rPr lang="en-US" sz="2000" dirty="0">
                <a:solidFill>
                  <a:schemeClr val="bg1"/>
                </a:solidFill>
              </a:rPr>
              <a:t>Disaster recovery and backup solutions.</a:t>
            </a:r>
          </a:p>
        </p:txBody>
      </p:sp>
      <p:pic>
        <p:nvPicPr>
          <p:cNvPr id="5" name="Graphic 4">
            <a:extLst>
              <a:ext uri="{FF2B5EF4-FFF2-40B4-BE49-F238E27FC236}">
                <a16:creationId xmlns:a16="http://schemas.microsoft.com/office/drawing/2014/main" id="{31AFCA6D-B33D-738D-E8E7-BC4C15227B2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9579301" y="446361"/>
            <a:ext cx="2260526" cy="5965277"/>
          </a:xfrm>
          <a:prstGeom prst="rect">
            <a:avLst/>
          </a:prstGeom>
        </p:spPr>
      </p:pic>
    </p:spTree>
    <p:extLst>
      <p:ext uri="{BB962C8B-B14F-4D97-AF65-F5344CB8AC3E}">
        <p14:creationId xmlns:p14="http://schemas.microsoft.com/office/powerpoint/2010/main" val="2451224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0-#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1+#ppt_w/2"/>
                                          </p:val>
                                        </p:tav>
                                        <p:tav tm="100000">
                                          <p:val>
                                            <p:strVal val="#ppt_x"/>
                                          </p:val>
                                        </p:tav>
                                      </p:tavLst>
                                    </p:anim>
                                    <p:anim calcmode="lin" valueType="num">
                                      <p:cBhvr additive="base">
                                        <p:cTn id="1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773A8-B05F-1AA2-F26E-0A41401BCD93}"/>
            </a:ext>
          </a:extLst>
        </p:cNvPr>
        <p:cNvGrpSpPr/>
        <p:nvPr/>
      </p:nvGrpSpPr>
      <p:grpSpPr>
        <a:xfrm>
          <a:off x="0" y="0"/>
          <a:ext cx="0" cy="0"/>
          <a:chOff x="0" y="0"/>
          <a:chExt cx="0" cy="0"/>
        </a:xfrm>
      </p:grpSpPr>
      <p:pic>
        <p:nvPicPr>
          <p:cNvPr id="4" name="Graphic 3">
            <a:extLst>
              <a:ext uri="{FF2B5EF4-FFF2-40B4-BE49-F238E27FC236}">
                <a16:creationId xmlns:a16="http://schemas.microsoft.com/office/drawing/2014/main" id="{AF596160-E499-C38B-9276-C10DF82C6F1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40822" y="2664888"/>
            <a:ext cx="4847504" cy="3602873"/>
          </a:xfrm>
          <a:prstGeom prst="rect">
            <a:avLst/>
          </a:prstGeom>
        </p:spPr>
      </p:pic>
      <p:sp>
        <p:nvSpPr>
          <p:cNvPr id="2" name="TextBox 1">
            <a:extLst>
              <a:ext uri="{FF2B5EF4-FFF2-40B4-BE49-F238E27FC236}">
                <a16:creationId xmlns:a16="http://schemas.microsoft.com/office/drawing/2014/main" id="{DFB35F45-1A0C-C628-69B8-C252AC76A01D}"/>
              </a:ext>
            </a:extLst>
          </p:cNvPr>
          <p:cNvSpPr txBox="1"/>
          <p:nvPr/>
        </p:nvSpPr>
        <p:spPr>
          <a:xfrm>
            <a:off x="177631" y="590239"/>
            <a:ext cx="7342842" cy="461665"/>
          </a:xfrm>
          <a:prstGeom prst="rect">
            <a:avLst/>
          </a:prstGeom>
          <a:noFill/>
        </p:spPr>
        <p:txBody>
          <a:bodyPr wrap="square" rtlCol="0">
            <a:spAutoFit/>
          </a:bodyPr>
          <a:lstStyle/>
          <a:p>
            <a:r>
              <a:rPr lang="en-ID" sz="2400" dirty="0">
                <a:solidFill>
                  <a:schemeClr val="bg1"/>
                </a:solidFill>
                <a:latin typeface="Arial Black" panose="020B0A04020102020204" pitchFamily="34" charset="0"/>
              </a:rPr>
              <a:t>Service Models</a:t>
            </a:r>
          </a:p>
        </p:txBody>
      </p:sp>
      <p:sp>
        <p:nvSpPr>
          <p:cNvPr id="6" name="TextBox 5">
            <a:extLst>
              <a:ext uri="{FF2B5EF4-FFF2-40B4-BE49-F238E27FC236}">
                <a16:creationId xmlns:a16="http://schemas.microsoft.com/office/drawing/2014/main" id="{C2C55097-B9D8-F512-4D55-742BE7512895}"/>
              </a:ext>
            </a:extLst>
          </p:cNvPr>
          <p:cNvSpPr txBox="1"/>
          <p:nvPr/>
        </p:nvSpPr>
        <p:spPr>
          <a:xfrm>
            <a:off x="177632" y="1173824"/>
            <a:ext cx="10651478" cy="5601533"/>
          </a:xfrm>
          <a:prstGeom prst="rect">
            <a:avLst/>
          </a:prstGeom>
          <a:noFill/>
        </p:spPr>
        <p:txBody>
          <a:bodyPr wrap="square" rtlCol="0">
            <a:spAutoFit/>
          </a:bodyPr>
          <a:lstStyle/>
          <a:p>
            <a:r>
              <a:rPr lang="en-US" sz="2400" b="1" dirty="0">
                <a:solidFill>
                  <a:schemeClr val="bg1"/>
                </a:solidFill>
              </a:rPr>
              <a:t>Platform as a Service (PaaS)</a:t>
            </a:r>
            <a:br>
              <a:rPr lang="en-US" sz="2400" b="1" dirty="0">
                <a:solidFill>
                  <a:schemeClr val="bg1"/>
                </a:solidFill>
                <a:effectLst/>
              </a:rPr>
            </a:br>
            <a:endParaRPr lang="en-US" sz="2400" b="1" dirty="0">
              <a:solidFill>
                <a:schemeClr val="bg1"/>
              </a:solidFill>
              <a:effectLst/>
            </a:endParaRPr>
          </a:p>
          <a:p>
            <a:r>
              <a:rPr lang="en-US" sz="2000" b="1" dirty="0">
                <a:solidFill>
                  <a:srgbClr val="EE3030"/>
                </a:solidFill>
              </a:rPr>
              <a:t>What It Offers:</a:t>
            </a:r>
            <a:endParaRPr lang="en-US" sz="2000" dirty="0">
              <a:solidFill>
                <a:srgbClr val="EE3030"/>
              </a:solidFill>
            </a:endParaRPr>
          </a:p>
          <a:p>
            <a:pPr>
              <a:spcAft>
                <a:spcPts val="1200"/>
              </a:spcAft>
            </a:pPr>
            <a:r>
              <a:rPr lang="en-US" sz="2000" dirty="0">
                <a:solidFill>
                  <a:schemeClr val="bg1"/>
                </a:solidFill>
              </a:rPr>
              <a:t>A complete development and deployment environment, abstracting infrastructure complexities.</a:t>
            </a:r>
            <a:br>
              <a:rPr lang="en-US" sz="2000" dirty="0">
                <a:solidFill>
                  <a:schemeClr val="bg1"/>
                </a:solidFill>
              </a:rPr>
            </a:br>
            <a:r>
              <a:rPr lang="en-US" sz="2000" dirty="0">
                <a:solidFill>
                  <a:schemeClr val="bg1"/>
                </a:solidFill>
              </a:rPr>
              <a:t>Provides tools, libraries, and frameworks for developers..</a:t>
            </a:r>
          </a:p>
          <a:p>
            <a:r>
              <a:rPr lang="en-US" sz="2000" b="1" dirty="0">
                <a:solidFill>
                  <a:srgbClr val="EE3030"/>
                </a:solidFill>
              </a:rPr>
              <a:t>Features:</a:t>
            </a:r>
            <a:endParaRPr lang="en-US" sz="2000" dirty="0">
              <a:solidFill>
                <a:srgbClr val="EE3030"/>
              </a:solidFill>
            </a:endParaRPr>
          </a:p>
          <a:p>
            <a:r>
              <a:rPr lang="en-US" sz="2000" dirty="0">
                <a:solidFill>
                  <a:schemeClr val="bg1"/>
                </a:solidFill>
              </a:rPr>
              <a:t>Developers focus only on coding and deploying applications.</a:t>
            </a:r>
            <a:br>
              <a:rPr lang="en-US" sz="2000" dirty="0">
                <a:solidFill>
                  <a:schemeClr val="bg1"/>
                </a:solidFill>
              </a:rPr>
            </a:br>
            <a:r>
              <a:rPr lang="en-US" sz="2000" dirty="0">
                <a:solidFill>
                  <a:schemeClr val="bg1"/>
                </a:solidFill>
              </a:rPr>
              <a:t>Middleware and runtime are preconfigured.</a:t>
            </a:r>
          </a:p>
          <a:p>
            <a:pPr>
              <a:spcAft>
                <a:spcPts val="1200"/>
              </a:spcAft>
            </a:pPr>
            <a:r>
              <a:rPr lang="en-US" sz="2000" dirty="0">
                <a:solidFill>
                  <a:schemeClr val="bg1"/>
                </a:solidFill>
              </a:rPr>
              <a:t>Lower operational overhead compared to IaaS. </a:t>
            </a:r>
          </a:p>
          <a:p>
            <a:r>
              <a:rPr lang="en-US" sz="2000" b="1" dirty="0">
                <a:solidFill>
                  <a:srgbClr val="EE3030"/>
                </a:solidFill>
              </a:rPr>
              <a:t>Examples:</a:t>
            </a:r>
            <a:endParaRPr lang="en-US" sz="2000" dirty="0">
              <a:solidFill>
                <a:srgbClr val="EE3030"/>
              </a:solidFill>
            </a:endParaRPr>
          </a:p>
          <a:p>
            <a:pPr>
              <a:spcAft>
                <a:spcPts val="1200"/>
              </a:spcAft>
            </a:pPr>
            <a:r>
              <a:rPr lang="en-US" sz="2000" b="1" dirty="0">
                <a:solidFill>
                  <a:schemeClr val="bg1"/>
                </a:solidFill>
              </a:rPr>
              <a:t>AWS Elastic Beanstalk</a:t>
            </a:r>
            <a:br>
              <a:rPr lang="en-US" sz="2000" dirty="0">
                <a:solidFill>
                  <a:schemeClr val="bg1"/>
                </a:solidFill>
              </a:rPr>
            </a:br>
            <a:r>
              <a:rPr lang="en-US" sz="2000" b="1" dirty="0">
                <a:solidFill>
                  <a:schemeClr val="bg1"/>
                </a:solidFill>
              </a:rPr>
              <a:t>Google App Engine</a:t>
            </a:r>
            <a:br>
              <a:rPr lang="en-US" sz="2000" dirty="0">
                <a:solidFill>
                  <a:schemeClr val="bg1"/>
                </a:solidFill>
              </a:rPr>
            </a:br>
            <a:r>
              <a:rPr lang="en-US" sz="2000" b="1" dirty="0">
                <a:solidFill>
                  <a:schemeClr val="bg1"/>
                </a:solidFill>
              </a:rPr>
              <a:t>Microsoft Azure App Service</a:t>
            </a:r>
            <a:r>
              <a:rPr lang="en-US" sz="2000" dirty="0">
                <a:solidFill>
                  <a:schemeClr val="bg1"/>
                </a:solidFill>
              </a:rPr>
              <a:t>.</a:t>
            </a:r>
          </a:p>
          <a:p>
            <a:r>
              <a:rPr lang="en-US" sz="2000" b="1" dirty="0">
                <a:solidFill>
                  <a:srgbClr val="EE3030"/>
                </a:solidFill>
              </a:rPr>
              <a:t>Use Cases:</a:t>
            </a:r>
            <a:endParaRPr lang="en-US" sz="2000" dirty="0">
              <a:solidFill>
                <a:srgbClr val="EE3030"/>
              </a:solidFill>
            </a:endParaRPr>
          </a:p>
          <a:p>
            <a:r>
              <a:rPr lang="en-US" sz="2000" dirty="0">
                <a:solidFill>
                  <a:schemeClr val="bg1"/>
                </a:solidFill>
              </a:rPr>
              <a:t>Developing mobile apps quickly.</a:t>
            </a:r>
            <a:br>
              <a:rPr lang="en-US" sz="2000" dirty="0">
                <a:solidFill>
                  <a:schemeClr val="bg1"/>
                </a:solidFill>
              </a:rPr>
            </a:br>
            <a:r>
              <a:rPr lang="en-US" sz="2000" dirty="0">
                <a:solidFill>
                  <a:schemeClr val="bg1"/>
                </a:solidFill>
              </a:rPr>
              <a:t>Building e-commerce platforms.</a:t>
            </a:r>
          </a:p>
        </p:txBody>
      </p:sp>
    </p:spTree>
    <p:extLst>
      <p:ext uri="{BB962C8B-B14F-4D97-AF65-F5344CB8AC3E}">
        <p14:creationId xmlns:p14="http://schemas.microsoft.com/office/powerpoint/2010/main" val="3081439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1+#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F23D6-69DC-15DC-D80C-0E14DA039E9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76A0FBF-AA3A-DCEC-3538-93A5F9351042}"/>
              </a:ext>
            </a:extLst>
          </p:cNvPr>
          <p:cNvSpPr txBox="1"/>
          <p:nvPr/>
        </p:nvSpPr>
        <p:spPr>
          <a:xfrm>
            <a:off x="177631" y="590239"/>
            <a:ext cx="7342842" cy="461665"/>
          </a:xfrm>
          <a:prstGeom prst="rect">
            <a:avLst/>
          </a:prstGeom>
          <a:noFill/>
        </p:spPr>
        <p:txBody>
          <a:bodyPr wrap="square" rtlCol="0">
            <a:spAutoFit/>
          </a:bodyPr>
          <a:lstStyle/>
          <a:p>
            <a:r>
              <a:rPr lang="en-ID" sz="2400" dirty="0">
                <a:solidFill>
                  <a:schemeClr val="bg1"/>
                </a:solidFill>
                <a:latin typeface="Arial Black" panose="020B0A04020102020204" pitchFamily="34" charset="0"/>
              </a:rPr>
              <a:t>Service Models</a:t>
            </a:r>
          </a:p>
        </p:txBody>
      </p:sp>
      <p:sp>
        <p:nvSpPr>
          <p:cNvPr id="6" name="TextBox 5">
            <a:extLst>
              <a:ext uri="{FF2B5EF4-FFF2-40B4-BE49-F238E27FC236}">
                <a16:creationId xmlns:a16="http://schemas.microsoft.com/office/drawing/2014/main" id="{41DBCA48-9F44-0E27-8A3E-80844AE92255}"/>
              </a:ext>
            </a:extLst>
          </p:cNvPr>
          <p:cNvSpPr txBox="1"/>
          <p:nvPr/>
        </p:nvSpPr>
        <p:spPr>
          <a:xfrm>
            <a:off x="177631" y="1173824"/>
            <a:ext cx="11831489" cy="5293757"/>
          </a:xfrm>
          <a:prstGeom prst="rect">
            <a:avLst/>
          </a:prstGeom>
          <a:noFill/>
        </p:spPr>
        <p:txBody>
          <a:bodyPr wrap="square" rtlCol="0">
            <a:spAutoFit/>
          </a:bodyPr>
          <a:lstStyle/>
          <a:p>
            <a:r>
              <a:rPr lang="en-US" sz="2400" b="1" dirty="0">
                <a:solidFill>
                  <a:schemeClr val="bg1"/>
                </a:solidFill>
              </a:rPr>
              <a:t>Software as a Service (SaaS)</a:t>
            </a:r>
            <a:br>
              <a:rPr lang="en-US" sz="2400" b="1" dirty="0">
                <a:solidFill>
                  <a:schemeClr val="bg1"/>
                </a:solidFill>
                <a:effectLst/>
              </a:rPr>
            </a:br>
            <a:endParaRPr lang="en-US" sz="2400" b="1" dirty="0">
              <a:solidFill>
                <a:schemeClr val="bg1"/>
              </a:solidFill>
              <a:effectLst/>
            </a:endParaRPr>
          </a:p>
          <a:p>
            <a:r>
              <a:rPr lang="en-US" sz="2000" b="1" dirty="0">
                <a:solidFill>
                  <a:srgbClr val="EE3030"/>
                </a:solidFill>
              </a:rPr>
              <a:t>What It Offers:</a:t>
            </a:r>
            <a:endParaRPr lang="en-US" sz="2000" dirty="0">
              <a:solidFill>
                <a:srgbClr val="EE3030"/>
              </a:solidFill>
            </a:endParaRPr>
          </a:p>
          <a:p>
            <a:pPr>
              <a:spcAft>
                <a:spcPts val="1200"/>
              </a:spcAft>
            </a:pPr>
            <a:r>
              <a:rPr lang="en-US" sz="2000" dirty="0">
                <a:solidFill>
                  <a:schemeClr val="bg1"/>
                </a:solidFill>
              </a:rPr>
              <a:t>Ready-to-use software applications accessible over the internet.</a:t>
            </a:r>
            <a:br>
              <a:rPr lang="en-US" sz="2000" dirty="0">
                <a:solidFill>
                  <a:schemeClr val="bg1"/>
                </a:solidFill>
              </a:rPr>
            </a:br>
            <a:r>
              <a:rPr lang="en-US" sz="2000" dirty="0">
                <a:solidFill>
                  <a:schemeClr val="bg1"/>
                </a:solidFill>
              </a:rPr>
              <a:t>No installation or management of underlying infrastructure.</a:t>
            </a:r>
          </a:p>
          <a:p>
            <a:r>
              <a:rPr lang="en-US" sz="2000" b="1" dirty="0">
                <a:solidFill>
                  <a:srgbClr val="EE3030"/>
                </a:solidFill>
              </a:rPr>
              <a:t>Features:</a:t>
            </a:r>
            <a:endParaRPr lang="en-US" sz="2000" dirty="0">
              <a:solidFill>
                <a:srgbClr val="EE3030"/>
              </a:solidFill>
            </a:endParaRPr>
          </a:p>
          <a:p>
            <a:pPr>
              <a:spcAft>
                <a:spcPts val="1200"/>
              </a:spcAft>
            </a:pPr>
            <a:r>
              <a:rPr lang="en-US" sz="2000" dirty="0">
                <a:solidFill>
                  <a:schemeClr val="bg1"/>
                </a:solidFill>
              </a:rPr>
              <a:t>Fully managed by the service provider.</a:t>
            </a:r>
            <a:br>
              <a:rPr lang="en-US" sz="2000" dirty="0">
                <a:solidFill>
                  <a:schemeClr val="bg1"/>
                </a:solidFill>
              </a:rPr>
            </a:br>
            <a:r>
              <a:rPr lang="en-US" sz="2000" dirty="0">
                <a:solidFill>
                  <a:schemeClr val="bg1"/>
                </a:solidFill>
              </a:rPr>
              <a:t>Accessible through web browsers or lightweight client software.</a:t>
            </a:r>
            <a:br>
              <a:rPr lang="en-US" sz="2000" dirty="0">
                <a:solidFill>
                  <a:schemeClr val="bg1"/>
                </a:solidFill>
              </a:rPr>
            </a:br>
            <a:r>
              <a:rPr lang="en-US" sz="2000" dirty="0">
                <a:solidFill>
                  <a:schemeClr val="bg1"/>
                </a:solidFill>
              </a:rPr>
              <a:t>Subscription-based pricing models. </a:t>
            </a:r>
          </a:p>
          <a:p>
            <a:r>
              <a:rPr lang="en-US" sz="2000" b="1" dirty="0">
                <a:solidFill>
                  <a:srgbClr val="EE3030"/>
                </a:solidFill>
              </a:rPr>
              <a:t>Examples:</a:t>
            </a:r>
            <a:endParaRPr lang="en-US" sz="2000" dirty="0">
              <a:solidFill>
                <a:srgbClr val="EE3030"/>
              </a:solidFill>
            </a:endParaRPr>
          </a:p>
          <a:p>
            <a:pPr>
              <a:spcAft>
                <a:spcPts val="1200"/>
              </a:spcAft>
            </a:pPr>
            <a:r>
              <a:rPr lang="en-US" sz="2000" b="1" dirty="0">
                <a:solidFill>
                  <a:schemeClr val="bg1"/>
                </a:solidFill>
              </a:rPr>
              <a:t>Google Workspace (formerly G Suite):</a:t>
            </a:r>
            <a:r>
              <a:rPr lang="en-US" sz="2000" dirty="0">
                <a:solidFill>
                  <a:schemeClr val="bg1"/>
                </a:solidFill>
              </a:rPr>
              <a:t> Gmail, Google Docs, Sheets, etc.</a:t>
            </a:r>
            <a:br>
              <a:rPr lang="en-US" sz="2000" dirty="0">
                <a:solidFill>
                  <a:schemeClr val="bg1"/>
                </a:solidFill>
              </a:rPr>
            </a:br>
            <a:r>
              <a:rPr lang="en-US" sz="2000" b="1" dirty="0">
                <a:solidFill>
                  <a:schemeClr val="bg1"/>
                </a:solidFill>
              </a:rPr>
              <a:t>Microsoft Office 365:</a:t>
            </a:r>
            <a:r>
              <a:rPr lang="en-US" sz="2000" dirty="0">
                <a:solidFill>
                  <a:schemeClr val="bg1"/>
                </a:solidFill>
              </a:rPr>
              <a:t> Cloud-based Word, Excel, PowerPoint.</a:t>
            </a:r>
          </a:p>
          <a:p>
            <a:r>
              <a:rPr lang="en-US" sz="2000" b="1" dirty="0">
                <a:solidFill>
                  <a:srgbClr val="EE3030"/>
                </a:solidFill>
              </a:rPr>
              <a:t>Use Cases:</a:t>
            </a:r>
            <a:endParaRPr lang="en-US" sz="2000" dirty="0">
              <a:solidFill>
                <a:srgbClr val="EE3030"/>
              </a:solidFill>
            </a:endParaRPr>
          </a:p>
          <a:p>
            <a:r>
              <a:rPr lang="en-US" sz="2000" dirty="0">
                <a:solidFill>
                  <a:schemeClr val="bg1"/>
                </a:solidFill>
              </a:rPr>
              <a:t>Collaborative work (e.g., Google Docs).</a:t>
            </a:r>
            <a:br>
              <a:rPr lang="en-US" sz="2000" dirty="0">
                <a:solidFill>
                  <a:schemeClr val="bg1"/>
                </a:solidFill>
              </a:rPr>
            </a:br>
            <a:r>
              <a:rPr lang="en-US" sz="2000" dirty="0">
                <a:solidFill>
                  <a:schemeClr val="bg1"/>
                </a:solidFill>
              </a:rPr>
              <a:t>Communication (e.g., Zoom, Slack).</a:t>
            </a:r>
          </a:p>
        </p:txBody>
      </p:sp>
      <p:pic>
        <p:nvPicPr>
          <p:cNvPr id="4" name="Graphic 3">
            <a:extLst>
              <a:ext uri="{FF2B5EF4-FFF2-40B4-BE49-F238E27FC236}">
                <a16:creationId xmlns:a16="http://schemas.microsoft.com/office/drawing/2014/main" id="{B3A10485-6EE0-5D07-7665-6A5D84EF3FA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751781">
            <a:off x="7467810" y="2660628"/>
            <a:ext cx="5809176" cy="3722782"/>
          </a:xfrm>
          <a:prstGeom prst="rect">
            <a:avLst/>
          </a:prstGeom>
        </p:spPr>
      </p:pic>
    </p:spTree>
    <p:extLst>
      <p:ext uri="{BB962C8B-B14F-4D97-AF65-F5344CB8AC3E}">
        <p14:creationId xmlns:p14="http://schemas.microsoft.com/office/powerpoint/2010/main" val="952520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1+#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E4A55-72C1-5BA7-1066-CCDFCF27710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B2005BE-A088-38EE-D312-C0D13B009A41}"/>
              </a:ext>
            </a:extLst>
          </p:cNvPr>
          <p:cNvSpPr txBox="1"/>
          <p:nvPr/>
        </p:nvSpPr>
        <p:spPr>
          <a:xfrm>
            <a:off x="177631" y="590239"/>
            <a:ext cx="7342842" cy="461665"/>
          </a:xfrm>
          <a:prstGeom prst="rect">
            <a:avLst/>
          </a:prstGeom>
          <a:noFill/>
        </p:spPr>
        <p:txBody>
          <a:bodyPr wrap="square" rtlCol="0">
            <a:spAutoFit/>
          </a:bodyPr>
          <a:lstStyle/>
          <a:p>
            <a:r>
              <a:rPr lang="en-ID" sz="2400" dirty="0">
                <a:solidFill>
                  <a:schemeClr val="bg1"/>
                </a:solidFill>
                <a:latin typeface="Arial Black" panose="020B0A04020102020204" pitchFamily="34" charset="0"/>
              </a:rPr>
              <a:t>Service Models</a:t>
            </a:r>
          </a:p>
        </p:txBody>
      </p:sp>
      <p:sp>
        <p:nvSpPr>
          <p:cNvPr id="6" name="TextBox 5">
            <a:extLst>
              <a:ext uri="{FF2B5EF4-FFF2-40B4-BE49-F238E27FC236}">
                <a16:creationId xmlns:a16="http://schemas.microsoft.com/office/drawing/2014/main" id="{2DB26A87-6B91-5A42-8155-EA3123A1E4B5}"/>
              </a:ext>
            </a:extLst>
          </p:cNvPr>
          <p:cNvSpPr txBox="1"/>
          <p:nvPr/>
        </p:nvSpPr>
        <p:spPr>
          <a:xfrm>
            <a:off x="177631" y="1173824"/>
            <a:ext cx="11831489" cy="400110"/>
          </a:xfrm>
          <a:prstGeom prst="rect">
            <a:avLst/>
          </a:prstGeom>
          <a:noFill/>
        </p:spPr>
        <p:txBody>
          <a:bodyPr wrap="square" rtlCol="0">
            <a:spAutoFit/>
          </a:bodyPr>
          <a:lstStyle/>
          <a:p>
            <a:endParaRPr lang="en-US" sz="2000" dirty="0">
              <a:solidFill>
                <a:schemeClr val="bg1"/>
              </a:solidFill>
            </a:endParaRPr>
          </a:p>
        </p:txBody>
      </p:sp>
      <p:sp>
        <p:nvSpPr>
          <p:cNvPr id="9" name="TextBox 8">
            <a:extLst>
              <a:ext uri="{FF2B5EF4-FFF2-40B4-BE49-F238E27FC236}">
                <a16:creationId xmlns:a16="http://schemas.microsoft.com/office/drawing/2014/main" id="{F90E68F8-0E00-9A18-EB4D-4A8AA80BDA82}"/>
              </a:ext>
            </a:extLst>
          </p:cNvPr>
          <p:cNvSpPr txBox="1"/>
          <p:nvPr/>
        </p:nvSpPr>
        <p:spPr>
          <a:xfrm>
            <a:off x="177631" y="1188022"/>
            <a:ext cx="11719560" cy="5324535"/>
          </a:xfrm>
          <a:prstGeom prst="rect">
            <a:avLst/>
          </a:prstGeom>
          <a:noFill/>
        </p:spPr>
        <p:txBody>
          <a:bodyPr wrap="square" rtlCol="0">
            <a:spAutoFit/>
          </a:bodyPr>
          <a:lstStyle/>
          <a:p>
            <a:pPr algn="l">
              <a:spcBef>
                <a:spcPts val="1200"/>
              </a:spcBef>
              <a:spcAft>
                <a:spcPts val="1200"/>
              </a:spcAft>
            </a:pPr>
            <a:r>
              <a:rPr lang="en-US" sz="2000" dirty="0">
                <a:solidFill>
                  <a:schemeClr val="bg1"/>
                </a:solidFill>
              </a:rPr>
              <a:t>A simple analogy to help remember the difference between IaaS, PaaS, SaaS, and serverless is to think of the models like eating a cake. You could make your own from scratch (on-premises data center), where you buy all the basic ingredients to make everything like the flour and milk. </a:t>
            </a:r>
            <a:br>
              <a:rPr lang="en-US" sz="2000" dirty="0">
                <a:solidFill>
                  <a:schemeClr val="bg1"/>
                </a:solidFill>
              </a:rPr>
            </a:br>
            <a:r>
              <a:rPr lang="en-US" sz="2000" dirty="0">
                <a:solidFill>
                  <a:schemeClr val="bg1"/>
                </a:solidFill>
              </a:rPr>
              <a:t>However, most of us generally don’t have enough time or don’t want to spend so much time and effort to eat a cake. </a:t>
            </a:r>
            <a:br>
              <a:rPr lang="en-US" sz="2000" dirty="0">
                <a:solidFill>
                  <a:schemeClr val="bg1"/>
                </a:solidFill>
              </a:rPr>
            </a:br>
            <a:br>
              <a:rPr lang="en-US" sz="2000" dirty="0">
                <a:solidFill>
                  <a:schemeClr val="bg1"/>
                </a:solidFill>
              </a:rPr>
            </a:br>
            <a:r>
              <a:rPr lang="en-US" sz="2000" dirty="0">
                <a:solidFill>
                  <a:schemeClr val="bg1"/>
                </a:solidFill>
              </a:rPr>
              <a:t>Instead, you might choose from the following options instead: </a:t>
            </a:r>
            <a:br>
              <a:rPr lang="en-US" sz="2000" dirty="0">
                <a:solidFill>
                  <a:schemeClr val="bg1"/>
                </a:solidFill>
              </a:rPr>
            </a:br>
            <a:br>
              <a:rPr lang="en-US" sz="2000" dirty="0">
                <a:solidFill>
                  <a:schemeClr val="bg1"/>
                </a:solidFill>
              </a:rPr>
            </a:br>
            <a:r>
              <a:rPr lang="en-US" sz="2000" dirty="0">
                <a:solidFill>
                  <a:schemeClr val="bg1"/>
                </a:solidFill>
              </a:rPr>
              <a:t>IaaS: Buying pre-packed ingredients like fresh milk and flour made by someone else that you use to cook at home. </a:t>
            </a:r>
          </a:p>
          <a:p>
            <a:pPr>
              <a:spcBef>
                <a:spcPts val="1200"/>
              </a:spcBef>
              <a:spcAft>
                <a:spcPts val="1200"/>
              </a:spcAft>
            </a:pPr>
            <a:r>
              <a:rPr lang="en-US" sz="2000" dirty="0">
                <a:solidFill>
                  <a:schemeClr val="bg1"/>
                </a:solidFill>
              </a:rPr>
              <a:t>PaaS: Order takeout or delivery where your cake is prepared for you and you don’t have to worry about the ingredients or how you’ll bake it, but you have to worry about the final look of the cake in terms of garnishing and customizing the final look,</a:t>
            </a:r>
          </a:p>
          <a:p>
            <a:pPr algn="l">
              <a:spcBef>
                <a:spcPts val="1200"/>
              </a:spcBef>
              <a:spcAft>
                <a:spcPts val="1200"/>
              </a:spcAft>
            </a:pPr>
            <a:r>
              <a:rPr lang="en-US" sz="2000" dirty="0">
                <a:solidFill>
                  <a:schemeClr val="bg1"/>
                </a:solidFill>
              </a:rPr>
              <a:t>SaaS: Call ahead to the bakery and order the exact cake you want. They prepare everything ahead of time for you so that all you have to do is show up and eat.</a:t>
            </a:r>
          </a:p>
        </p:txBody>
      </p:sp>
    </p:spTree>
    <p:extLst>
      <p:ext uri="{BB962C8B-B14F-4D97-AF65-F5344CB8AC3E}">
        <p14:creationId xmlns:p14="http://schemas.microsoft.com/office/powerpoint/2010/main" val="1343313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A8E37-4955-C86C-47EA-C40661BD024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7037DA1-8C6E-BAF6-8456-604442771206}"/>
              </a:ext>
            </a:extLst>
          </p:cNvPr>
          <p:cNvSpPr txBox="1"/>
          <p:nvPr/>
        </p:nvSpPr>
        <p:spPr>
          <a:xfrm>
            <a:off x="177631" y="1173824"/>
            <a:ext cx="11831489" cy="400110"/>
          </a:xfrm>
          <a:prstGeom prst="rect">
            <a:avLst/>
          </a:prstGeom>
          <a:noFill/>
        </p:spPr>
        <p:txBody>
          <a:bodyPr wrap="square" rtlCol="0">
            <a:spAutoFit/>
          </a:bodyPr>
          <a:lstStyle/>
          <a:p>
            <a:endParaRPr lang="en-US" sz="2000" dirty="0">
              <a:solidFill>
                <a:schemeClr val="bg1"/>
              </a:solidFill>
            </a:endParaRPr>
          </a:p>
        </p:txBody>
      </p:sp>
      <p:pic>
        <p:nvPicPr>
          <p:cNvPr id="4" name="Picture 3" descr="A screenshot of a computer&#10;&#10;Description automatically generated">
            <a:extLst>
              <a:ext uri="{FF2B5EF4-FFF2-40B4-BE49-F238E27FC236}">
                <a16:creationId xmlns:a16="http://schemas.microsoft.com/office/drawing/2014/main" id="{EDD1F7D5-13BA-EB2D-5174-4321A5B99E82}"/>
              </a:ext>
            </a:extLst>
          </p:cNvPr>
          <p:cNvPicPr>
            <a:picLocks noChangeAspect="1"/>
          </p:cNvPicPr>
          <p:nvPr/>
        </p:nvPicPr>
        <p:blipFill>
          <a:blip r:embed="rId2"/>
          <a:srcRect t="8215" b="13133"/>
          <a:stretch/>
        </p:blipFill>
        <p:spPr>
          <a:xfrm>
            <a:off x="566250" y="803851"/>
            <a:ext cx="11054249" cy="5862698"/>
          </a:xfrm>
          <a:prstGeom prst="rect">
            <a:avLst/>
          </a:prstGeom>
        </p:spPr>
      </p:pic>
      <p:sp>
        <p:nvSpPr>
          <p:cNvPr id="5" name="TextBox 4">
            <a:extLst>
              <a:ext uri="{FF2B5EF4-FFF2-40B4-BE49-F238E27FC236}">
                <a16:creationId xmlns:a16="http://schemas.microsoft.com/office/drawing/2014/main" id="{D81DADF1-6227-43D5-B81A-818CF39B2798}"/>
              </a:ext>
            </a:extLst>
          </p:cNvPr>
          <p:cNvSpPr txBox="1"/>
          <p:nvPr/>
        </p:nvSpPr>
        <p:spPr>
          <a:xfrm>
            <a:off x="2519231" y="342186"/>
            <a:ext cx="1765804" cy="461665"/>
          </a:xfrm>
          <a:prstGeom prst="rect">
            <a:avLst/>
          </a:prstGeom>
          <a:noFill/>
        </p:spPr>
        <p:txBody>
          <a:bodyPr wrap="none" rtlCol="0">
            <a:spAutoFit/>
          </a:bodyPr>
          <a:lstStyle/>
          <a:p>
            <a:r>
              <a:rPr lang="en-EG" sz="2400" dirty="0">
                <a:solidFill>
                  <a:schemeClr val="bg1"/>
                </a:solidFill>
              </a:rPr>
              <a:t>On-premise</a:t>
            </a:r>
          </a:p>
        </p:txBody>
      </p:sp>
      <p:sp>
        <p:nvSpPr>
          <p:cNvPr id="7" name="TextBox 6">
            <a:extLst>
              <a:ext uri="{FF2B5EF4-FFF2-40B4-BE49-F238E27FC236}">
                <a16:creationId xmlns:a16="http://schemas.microsoft.com/office/drawing/2014/main" id="{8F17C483-736D-2FAE-AA2A-18B83E14E4B8}"/>
              </a:ext>
            </a:extLst>
          </p:cNvPr>
          <p:cNvSpPr txBox="1"/>
          <p:nvPr/>
        </p:nvSpPr>
        <p:spPr>
          <a:xfrm>
            <a:off x="4763522" y="342186"/>
            <a:ext cx="766557" cy="461665"/>
          </a:xfrm>
          <a:prstGeom prst="rect">
            <a:avLst/>
          </a:prstGeom>
          <a:noFill/>
        </p:spPr>
        <p:txBody>
          <a:bodyPr wrap="none" rtlCol="0">
            <a:spAutoFit/>
          </a:bodyPr>
          <a:lstStyle/>
          <a:p>
            <a:r>
              <a:rPr lang="en-EG" sz="2400" dirty="0">
                <a:solidFill>
                  <a:schemeClr val="bg1"/>
                </a:solidFill>
              </a:rPr>
              <a:t>IaaS</a:t>
            </a:r>
          </a:p>
        </p:txBody>
      </p:sp>
      <p:sp>
        <p:nvSpPr>
          <p:cNvPr id="8" name="TextBox 7">
            <a:extLst>
              <a:ext uri="{FF2B5EF4-FFF2-40B4-BE49-F238E27FC236}">
                <a16:creationId xmlns:a16="http://schemas.microsoft.com/office/drawing/2014/main" id="{953A6538-721F-A6DE-F746-4C2215565733}"/>
              </a:ext>
            </a:extLst>
          </p:cNvPr>
          <p:cNvSpPr txBox="1"/>
          <p:nvPr/>
        </p:nvSpPr>
        <p:spPr>
          <a:xfrm>
            <a:off x="6661922" y="342186"/>
            <a:ext cx="853952" cy="461665"/>
          </a:xfrm>
          <a:prstGeom prst="rect">
            <a:avLst/>
          </a:prstGeom>
          <a:noFill/>
        </p:spPr>
        <p:txBody>
          <a:bodyPr wrap="none" rtlCol="0">
            <a:spAutoFit/>
          </a:bodyPr>
          <a:lstStyle/>
          <a:p>
            <a:r>
              <a:rPr lang="en-EG" sz="2400" dirty="0">
                <a:solidFill>
                  <a:schemeClr val="bg1"/>
                </a:solidFill>
              </a:rPr>
              <a:t>PaaS</a:t>
            </a:r>
          </a:p>
        </p:txBody>
      </p:sp>
      <p:sp>
        <p:nvSpPr>
          <p:cNvPr id="10" name="TextBox 9">
            <a:extLst>
              <a:ext uri="{FF2B5EF4-FFF2-40B4-BE49-F238E27FC236}">
                <a16:creationId xmlns:a16="http://schemas.microsoft.com/office/drawing/2014/main" id="{54323EE2-2F50-2221-A3EE-A95CDC6648F0}"/>
              </a:ext>
            </a:extLst>
          </p:cNvPr>
          <p:cNvSpPr txBox="1"/>
          <p:nvPr/>
        </p:nvSpPr>
        <p:spPr>
          <a:xfrm>
            <a:off x="8321040" y="342186"/>
            <a:ext cx="861133" cy="461665"/>
          </a:xfrm>
          <a:prstGeom prst="rect">
            <a:avLst/>
          </a:prstGeom>
          <a:noFill/>
        </p:spPr>
        <p:txBody>
          <a:bodyPr wrap="none" rtlCol="0">
            <a:spAutoFit/>
          </a:bodyPr>
          <a:lstStyle/>
          <a:p>
            <a:r>
              <a:rPr lang="en-EG" sz="2400" dirty="0">
                <a:solidFill>
                  <a:schemeClr val="bg1"/>
                </a:solidFill>
              </a:rPr>
              <a:t>SaaS</a:t>
            </a:r>
          </a:p>
        </p:txBody>
      </p:sp>
      <p:grpSp>
        <p:nvGrpSpPr>
          <p:cNvPr id="17" name="Group 16">
            <a:extLst>
              <a:ext uri="{FF2B5EF4-FFF2-40B4-BE49-F238E27FC236}">
                <a16:creationId xmlns:a16="http://schemas.microsoft.com/office/drawing/2014/main" id="{E3EFD332-7DA9-C8E8-46E6-408606954213}"/>
              </a:ext>
            </a:extLst>
          </p:cNvPr>
          <p:cNvGrpSpPr/>
          <p:nvPr/>
        </p:nvGrpSpPr>
        <p:grpSpPr>
          <a:xfrm>
            <a:off x="432900" y="2741226"/>
            <a:ext cx="1629098" cy="687774"/>
            <a:chOff x="566250" y="2062748"/>
            <a:chExt cx="1629098" cy="687774"/>
          </a:xfrm>
        </p:grpSpPr>
        <p:sp>
          <p:nvSpPr>
            <p:cNvPr id="13" name="Rounded Rectangle 12">
              <a:extLst>
                <a:ext uri="{FF2B5EF4-FFF2-40B4-BE49-F238E27FC236}">
                  <a16:creationId xmlns:a16="http://schemas.microsoft.com/office/drawing/2014/main" id="{F70DADFA-3BA1-506D-B8FB-EB10F0D2ABBE}"/>
                </a:ext>
              </a:extLst>
            </p:cNvPr>
            <p:cNvSpPr/>
            <p:nvPr/>
          </p:nvSpPr>
          <p:spPr>
            <a:xfrm>
              <a:off x="566250" y="2133600"/>
              <a:ext cx="214800" cy="196850"/>
            </a:xfrm>
            <a:prstGeom prst="roundRect">
              <a:avLst/>
            </a:prstGeom>
            <a:solidFill>
              <a:srgbClr val="009FA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G"/>
            </a:p>
          </p:txBody>
        </p:sp>
        <p:sp>
          <p:nvSpPr>
            <p:cNvPr id="14" name="Rounded Rectangle 13">
              <a:extLst>
                <a:ext uri="{FF2B5EF4-FFF2-40B4-BE49-F238E27FC236}">
                  <a16:creationId xmlns:a16="http://schemas.microsoft.com/office/drawing/2014/main" id="{BBDFFBAF-D24B-8434-278F-27266ADE5260}"/>
                </a:ext>
              </a:extLst>
            </p:cNvPr>
            <p:cNvSpPr/>
            <p:nvPr/>
          </p:nvSpPr>
          <p:spPr>
            <a:xfrm>
              <a:off x="566250" y="2482820"/>
              <a:ext cx="214800" cy="196850"/>
            </a:xfrm>
            <a:prstGeom prst="roundRect">
              <a:avLst/>
            </a:prstGeom>
            <a:solidFill>
              <a:srgbClr val="EE000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G"/>
            </a:p>
          </p:txBody>
        </p:sp>
        <p:sp>
          <p:nvSpPr>
            <p:cNvPr id="15" name="TextBox 14">
              <a:extLst>
                <a:ext uri="{FF2B5EF4-FFF2-40B4-BE49-F238E27FC236}">
                  <a16:creationId xmlns:a16="http://schemas.microsoft.com/office/drawing/2014/main" id="{9923D8FB-8BC0-7813-F2DA-EEB8ED10FD81}"/>
                </a:ext>
              </a:extLst>
            </p:cNvPr>
            <p:cNvSpPr txBox="1"/>
            <p:nvPr/>
          </p:nvSpPr>
          <p:spPr>
            <a:xfrm>
              <a:off x="781050" y="2062748"/>
              <a:ext cx="1263744" cy="338554"/>
            </a:xfrm>
            <a:prstGeom prst="rect">
              <a:avLst/>
            </a:prstGeom>
            <a:noFill/>
          </p:spPr>
          <p:txBody>
            <a:bodyPr wrap="none" rtlCol="0">
              <a:spAutoFit/>
            </a:bodyPr>
            <a:lstStyle/>
            <a:p>
              <a:r>
                <a:rPr lang="en-EG" sz="1600" dirty="0">
                  <a:solidFill>
                    <a:schemeClr val="bg1"/>
                  </a:solidFill>
                </a:rPr>
                <a:t>You manage</a:t>
              </a:r>
            </a:p>
          </p:txBody>
        </p:sp>
        <p:sp>
          <p:nvSpPr>
            <p:cNvPr id="16" name="TextBox 15">
              <a:extLst>
                <a:ext uri="{FF2B5EF4-FFF2-40B4-BE49-F238E27FC236}">
                  <a16:creationId xmlns:a16="http://schemas.microsoft.com/office/drawing/2014/main" id="{E581BE5E-9474-8932-5427-1D097D5CAFA7}"/>
                </a:ext>
              </a:extLst>
            </p:cNvPr>
            <p:cNvSpPr txBox="1"/>
            <p:nvPr/>
          </p:nvSpPr>
          <p:spPr>
            <a:xfrm>
              <a:off x="781050" y="2411968"/>
              <a:ext cx="1414298" cy="338554"/>
            </a:xfrm>
            <a:prstGeom prst="rect">
              <a:avLst/>
            </a:prstGeom>
            <a:noFill/>
          </p:spPr>
          <p:txBody>
            <a:bodyPr wrap="none" rtlCol="0">
              <a:spAutoFit/>
            </a:bodyPr>
            <a:lstStyle/>
            <a:p>
              <a:r>
                <a:rPr lang="en-EG" sz="1600" dirty="0">
                  <a:solidFill>
                    <a:schemeClr val="bg1"/>
                  </a:solidFill>
                </a:rPr>
                <a:t>CSP manages</a:t>
              </a:r>
            </a:p>
          </p:txBody>
        </p:sp>
      </p:grpSp>
    </p:spTree>
    <p:extLst>
      <p:ext uri="{BB962C8B-B14F-4D97-AF65-F5344CB8AC3E}">
        <p14:creationId xmlns:p14="http://schemas.microsoft.com/office/powerpoint/2010/main" val="2831694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par>
                          <p:cTn id="13" fill="hold">
                            <p:stCondLst>
                              <p:cond delay="1000"/>
                            </p:stCondLst>
                            <p:childTnLst>
                              <p:par>
                                <p:cTn id="14" presetID="10" presetClass="entr" presetSubtype="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par>
                          <p:cTn id="17" fill="hold">
                            <p:stCondLst>
                              <p:cond delay="1500"/>
                            </p:stCondLst>
                            <p:childTnLst>
                              <p:par>
                                <p:cTn id="18" presetID="10" presetClass="entr" presetSubtype="0"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par>
                          <p:cTn id="21" fill="hold">
                            <p:stCondLst>
                              <p:cond delay="200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par>
                          <p:cTn id="25" fill="hold">
                            <p:stCondLst>
                              <p:cond delay="2500"/>
                            </p:stCondLst>
                            <p:childTnLst>
                              <p:par>
                                <p:cTn id="26" presetID="22" presetClass="entr" presetSubtype="4" fill="hold" nodeType="after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dow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1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E6FC3-6180-04FA-7588-5250C09AD11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ECAD390-274B-A678-5754-BABB903B8CF2}"/>
              </a:ext>
            </a:extLst>
          </p:cNvPr>
          <p:cNvSpPr txBox="1"/>
          <p:nvPr/>
        </p:nvSpPr>
        <p:spPr>
          <a:xfrm>
            <a:off x="177631" y="590239"/>
            <a:ext cx="7342842"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Middleware</a:t>
            </a:r>
          </a:p>
        </p:txBody>
      </p:sp>
      <p:sp>
        <p:nvSpPr>
          <p:cNvPr id="6" name="TextBox 5">
            <a:extLst>
              <a:ext uri="{FF2B5EF4-FFF2-40B4-BE49-F238E27FC236}">
                <a16:creationId xmlns:a16="http://schemas.microsoft.com/office/drawing/2014/main" id="{441A5F27-A83E-DA02-5DC6-D7D31E4F04FD}"/>
              </a:ext>
            </a:extLst>
          </p:cNvPr>
          <p:cNvSpPr txBox="1"/>
          <p:nvPr/>
        </p:nvSpPr>
        <p:spPr>
          <a:xfrm>
            <a:off x="177631" y="1173824"/>
            <a:ext cx="11831489" cy="400110"/>
          </a:xfrm>
          <a:prstGeom prst="rect">
            <a:avLst/>
          </a:prstGeom>
          <a:noFill/>
        </p:spPr>
        <p:txBody>
          <a:bodyPr wrap="square" rtlCol="0">
            <a:spAutoFit/>
          </a:bodyPr>
          <a:lstStyle/>
          <a:p>
            <a:endParaRPr lang="en-US" sz="2000" dirty="0">
              <a:solidFill>
                <a:schemeClr val="bg1"/>
              </a:solidFill>
            </a:endParaRPr>
          </a:p>
        </p:txBody>
      </p:sp>
      <p:sp>
        <p:nvSpPr>
          <p:cNvPr id="9" name="TextBox 8">
            <a:extLst>
              <a:ext uri="{FF2B5EF4-FFF2-40B4-BE49-F238E27FC236}">
                <a16:creationId xmlns:a16="http://schemas.microsoft.com/office/drawing/2014/main" id="{78C223B1-FE48-2142-0E6A-809BBE6E44AA}"/>
              </a:ext>
            </a:extLst>
          </p:cNvPr>
          <p:cNvSpPr txBox="1"/>
          <p:nvPr/>
        </p:nvSpPr>
        <p:spPr>
          <a:xfrm>
            <a:off x="177631" y="1171991"/>
            <a:ext cx="11719560" cy="5509200"/>
          </a:xfrm>
          <a:prstGeom prst="rect">
            <a:avLst/>
          </a:prstGeom>
          <a:noFill/>
        </p:spPr>
        <p:txBody>
          <a:bodyPr wrap="square" rtlCol="0">
            <a:spAutoFit/>
          </a:bodyPr>
          <a:lstStyle/>
          <a:p>
            <a:pPr>
              <a:spcAft>
                <a:spcPts val="600"/>
              </a:spcAft>
            </a:pPr>
            <a:r>
              <a:rPr lang="en-US" dirty="0">
                <a:solidFill>
                  <a:schemeClr val="bg1"/>
                </a:solidFill>
              </a:rPr>
              <a:t>Middleware is software that acts as a bridge between different applications, systems, or components. It enables communication, data exchange, and functionality between separate or incompatible systems.</a:t>
            </a:r>
          </a:p>
          <a:p>
            <a:r>
              <a:rPr lang="en-US" b="1" dirty="0">
                <a:solidFill>
                  <a:srgbClr val="FFA93A"/>
                </a:solidFill>
              </a:rPr>
              <a:t>Role of Middleware</a:t>
            </a:r>
          </a:p>
          <a:p>
            <a:pPr>
              <a:spcAft>
                <a:spcPts val="600"/>
              </a:spcAft>
            </a:pPr>
            <a:r>
              <a:rPr lang="en-US" dirty="0">
                <a:solidFill>
                  <a:schemeClr val="bg1"/>
                </a:solidFill>
              </a:rPr>
              <a:t>Middleware typically sits between the operating system and the application. It provides services such as messaging, authentication, and database access that are not provided by the operating system itself.</a:t>
            </a:r>
          </a:p>
          <a:p>
            <a:r>
              <a:rPr lang="en-US" b="1" dirty="0">
                <a:solidFill>
                  <a:srgbClr val="FFA93A"/>
                </a:solidFill>
              </a:rPr>
              <a:t>Examples of Middleware</a:t>
            </a:r>
          </a:p>
          <a:p>
            <a:pPr>
              <a:buFont typeface="+mj-lt"/>
              <a:buAutoNum type="arabicPeriod"/>
            </a:pPr>
            <a:r>
              <a:rPr lang="en-US" b="1" dirty="0">
                <a:solidFill>
                  <a:schemeClr val="bg1"/>
                </a:solidFill>
              </a:rPr>
              <a:t>Database Middleware:</a:t>
            </a:r>
            <a:endParaRPr lang="en-US" dirty="0">
              <a:solidFill>
                <a:schemeClr val="bg1"/>
              </a:solidFill>
            </a:endParaRPr>
          </a:p>
          <a:p>
            <a:pPr marL="742950" lvl="1" indent="-285750">
              <a:buFont typeface="+mj-lt"/>
              <a:buAutoNum type="arabicPeriod"/>
            </a:pPr>
            <a:r>
              <a:rPr lang="en-US" dirty="0">
                <a:solidFill>
                  <a:schemeClr val="bg1"/>
                </a:solidFill>
              </a:rPr>
              <a:t>Connects applications to databases.</a:t>
            </a:r>
          </a:p>
          <a:p>
            <a:pPr marL="742950" lvl="1" indent="-285750">
              <a:buFont typeface="+mj-lt"/>
              <a:buAutoNum type="arabicPeriod"/>
            </a:pPr>
            <a:r>
              <a:rPr lang="en-US" dirty="0">
                <a:solidFill>
                  <a:schemeClr val="bg1"/>
                </a:solidFill>
              </a:rPr>
              <a:t>Example: JDBC (Java Database Connectivity) for Java applications to interact with databases like MySQL or PostgreSQL.</a:t>
            </a:r>
          </a:p>
          <a:p>
            <a:pPr>
              <a:buFont typeface="+mj-lt"/>
              <a:buAutoNum type="arabicPeriod"/>
            </a:pPr>
            <a:r>
              <a:rPr lang="en-US" b="1" dirty="0">
                <a:solidFill>
                  <a:schemeClr val="bg1"/>
                </a:solidFill>
              </a:rPr>
              <a:t>Message-Oriented Middleware (MOM):</a:t>
            </a:r>
            <a:endParaRPr lang="en-US" dirty="0">
              <a:solidFill>
                <a:schemeClr val="bg1"/>
              </a:solidFill>
            </a:endParaRPr>
          </a:p>
          <a:p>
            <a:pPr marL="742950" lvl="1" indent="-285750">
              <a:buFont typeface="+mj-lt"/>
              <a:buAutoNum type="arabicPeriod"/>
            </a:pPr>
            <a:r>
              <a:rPr lang="en-US" dirty="0">
                <a:solidFill>
                  <a:schemeClr val="bg1"/>
                </a:solidFill>
              </a:rPr>
              <a:t>Enables asynchronous communication between distributed systems.</a:t>
            </a:r>
          </a:p>
          <a:p>
            <a:pPr marL="742950" lvl="1" indent="-285750">
              <a:buFont typeface="+mj-lt"/>
              <a:buAutoNum type="arabicPeriod"/>
            </a:pPr>
            <a:r>
              <a:rPr lang="en-US" dirty="0">
                <a:solidFill>
                  <a:schemeClr val="bg1"/>
                </a:solidFill>
              </a:rPr>
              <a:t>Example: Apache Kafka, RabbitMQ.</a:t>
            </a:r>
          </a:p>
          <a:p>
            <a:pPr>
              <a:buFont typeface="+mj-lt"/>
              <a:buAutoNum type="arabicPeriod"/>
            </a:pPr>
            <a:r>
              <a:rPr lang="en-US" b="1" dirty="0">
                <a:solidFill>
                  <a:schemeClr val="bg1"/>
                </a:solidFill>
              </a:rPr>
              <a:t>API Gateways:</a:t>
            </a:r>
            <a:endParaRPr lang="en-US" dirty="0">
              <a:solidFill>
                <a:schemeClr val="bg1"/>
              </a:solidFill>
            </a:endParaRPr>
          </a:p>
          <a:p>
            <a:pPr marL="742950" lvl="1" indent="-285750">
              <a:buFont typeface="+mj-lt"/>
              <a:buAutoNum type="arabicPeriod"/>
            </a:pPr>
            <a:r>
              <a:rPr lang="en-US" dirty="0">
                <a:solidFill>
                  <a:schemeClr val="bg1"/>
                </a:solidFill>
              </a:rPr>
              <a:t>Manage API requests and responses in a scalable and secure manner.</a:t>
            </a:r>
          </a:p>
          <a:p>
            <a:pPr marL="742950" lvl="1" indent="-285750">
              <a:buFont typeface="+mj-lt"/>
              <a:buAutoNum type="arabicPeriod"/>
            </a:pPr>
            <a:r>
              <a:rPr lang="en-US" dirty="0">
                <a:solidFill>
                  <a:schemeClr val="bg1"/>
                </a:solidFill>
              </a:rPr>
              <a:t>Example: AWS API Gateway.</a:t>
            </a:r>
          </a:p>
          <a:p>
            <a:pPr>
              <a:buFont typeface="+mj-lt"/>
              <a:buAutoNum type="arabicPeriod"/>
            </a:pPr>
            <a:r>
              <a:rPr lang="en-US" b="1" dirty="0">
                <a:solidFill>
                  <a:schemeClr val="bg1"/>
                </a:solidFill>
              </a:rPr>
              <a:t>Web Servers:</a:t>
            </a:r>
            <a:endParaRPr lang="en-US" dirty="0">
              <a:solidFill>
                <a:schemeClr val="bg1"/>
              </a:solidFill>
            </a:endParaRPr>
          </a:p>
          <a:p>
            <a:pPr marL="742950" lvl="1" indent="-285750">
              <a:buFont typeface="+mj-lt"/>
              <a:buAutoNum type="arabicPeriod"/>
            </a:pPr>
            <a:r>
              <a:rPr lang="en-US" dirty="0">
                <a:solidFill>
                  <a:schemeClr val="bg1"/>
                </a:solidFill>
              </a:rPr>
              <a:t>Act as middleware between client-side requests (via browsers) and the backend.</a:t>
            </a:r>
          </a:p>
          <a:p>
            <a:pPr marL="742950" lvl="1" indent="-285750">
              <a:buFont typeface="+mj-lt"/>
              <a:buAutoNum type="arabicPeriod"/>
            </a:pPr>
            <a:r>
              <a:rPr lang="en-US" dirty="0">
                <a:solidFill>
                  <a:schemeClr val="bg1"/>
                </a:solidFill>
              </a:rPr>
              <a:t>Example: Apache HTTP Server, Nginx.</a:t>
            </a:r>
          </a:p>
        </p:txBody>
      </p:sp>
    </p:spTree>
    <p:extLst>
      <p:ext uri="{BB962C8B-B14F-4D97-AF65-F5344CB8AC3E}">
        <p14:creationId xmlns:p14="http://schemas.microsoft.com/office/powerpoint/2010/main" val="415047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958FE-D8D4-4310-8AB6-4D9515C6F593}"/>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D44B3F72-004D-004A-EEC0-EF4C4D9B601A}"/>
              </a:ext>
            </a:extLst>
          </p:cNvPr>
          <p:cNvSpPr txBox="1"/>
          <p:nvPr/>
        </p:nvSpPr>
        <p:spPr>
          <a:xfrm>
            <a:off x="177631" y="590239"/>
            <a:ext cx="7342842"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Cloud Service Providers (CSPs)</a:t>
            </a:r>
            <a:endParaRPr lang="en-ID" sz="2400" dirty="0">
              <a:solidFill>
                <a:schemeClr val="bg1"/>
              </a:solidFill>
              <a:latin typeface="Arial Black" panose="020B0A04020102020204" pitchFamily="34" charset="0"/>
            </a:endParaRPr>
          </a:p>
        </p:txBody>
      </p:sp>
      <p:pic>
        <p:nvPicPr>
          <p:cNvPr id="14" name="Picture 13" descr="A black and white logo with a smile&#10;&#10;Description automatically generated">
            <a:extLst>
              <a:ext uri="{FF2B5EF4-FFF2-40B4-BE49-F238E27FC236}">
                <a16:creationId xmlns:a16="http://schemas.microsoft.com/office/drawing/2014/main" id="{A5942FA1-EAF2-4B8E-12A9-21379878A305}"/>
              </a:ext>
            </a:extLst>
          </p:cNvPr>
          <p:cNvPicPr>
            <a:picLocks noChangeAspect="1"/>
          </p:cNvPicPr>
          <p:nvPr/>
        </p:nvPicPr>
        <p:blipFill>
          <a:blip r:embed="rId2"/>
          <a:stretch>
            <a:fillRect/>
          </a:stretch>
        </p:blipFill>
        <p:spPr>
          <a:xfrm>
            <a:off x="468356" y="1920095"/>
            <a:ext cx="3558415" cy="2127956"/>
          </a:xfrm>
          <a:prstGeom prst="rect">
            <a:avLst/>
          </a:prstGeom>
        </p:spPr>
      </p:pic>
      <p:grpSp>
        <p:nvGrpSpPr>
          <p:cNvPr id="19" name="Group 18">
            <a:extLst>
              <a:ext uri="{FF2B5EF4-FFF2-40B4-BE49-F238E27FC236}">
                <a16:creationId xmlns:a16="http://schemas.microsoft.com/office/drawing/2014/main" id="{29116AB9-4206-AF4C-C40B-D2D2319EF272}"/>
              </a:ext>
            </a:extLst>
          </p:cNvPr>
          <p:cNvGrpSpPr>
            <a:grpSpLocks noChangeAspect="1"/>
          </p:cNvGrpSpPr>
          <p:nvPr/>
        </p:nvGrpSpPr>
        <p:grpSpPr>
          <a:xfrm>
            <a:off x="4793642" y="930900"/>
            <a:ext cx="3254224" cy="3117151"/>
            <a:chOff x="6135706" y="-36280"/>
            <a:chExt cx="4756179" cy="4555844"/>
          </a:xfrm>
        </p:grpSpPr>
        <p:pic>
          <p:nvPicPr>
            <p:cNvPr id="17" name="Picture 16" descr="A hexagon shaped logo with white circle in center&#10;&#10;Description automatically generated">
              <a:extLst>
                <a:ext uri="{FF2B5EF4-FFF2-40B4-BE49-F238E27FC236}">
                  <a16:creationId xmlns:a16="http://schemas.microsoft.com/office/drawing/2014/main" id="{69DD2D85-7B18-1C73-798C-BE3ECCA95742}"/>
                </a:ext>
              </a:extLst>
            </p:cNvPr>
            <p:cNvPicPr>
              <a:picLocks noChangeAspect="1"/>
            </p:cNvPicPr>
            <p:nvPr/>
          </p:nvPicPr>
          <p:blipFill>
            <a:blip r:embed="rId3"/>
            <a:srcRect l="25484" r="25009" b="30497"/>
            <a:stretch/>
          </p:blipFill>
          <p:spPr>
            <a:xfrm>
              <a:off x="6602446" y="-36280"/>
              <a:ext cx="3822701" cy="3751438"/>
            </a:xfrm>
            <a:prstGeom prst="rect">
              <a:avLst/>
            </a:prstGeom>
          </p:spPr>
        </p:pic>
        <p:sp>
          <p:nvSpPr>
            <p:cNvPr id="18" name="TextBox 17">
              <a:extLst>
                <a:ext uri="{FF2B5EF4-FFF2-40B4-BE49-F238E27FC236}">
                  <a16:creationId xmlns:a16="http://schemas.microsoft.com/office/drawing/2014/main" id="{E23D1090-A707-D360-4ABF-7C330B342299}"/>
                </a:ext>
              </a:extLst>
            </p:cNvPr>
            <p:cNvSpPr txBox="1"/>
            <p:nvPr/>
          </p:nvSpPr>
          <p:spPr>
            <a:xfrm>
              <a:off x="6135706" y="3844822"/>
              <a:ext cx="4756179" cy="674742"/>
            </a:xfrm>
            <a:prstGeom prst="rect">
              <a:avLst/>
            </a:prstGeom>
            <a:noFill/>
          </p:spPr>
          <p:txBody>
            <a:bodyPr wrap="none" rtlCol="0">
              <a:spAutoFit/>
            </a:bodyPr>
            <a:lstStyle/>
            <a:p>
              <a:r>
                <a:rPr lang="en-EG" sz="2400" b="1" dirty="0">
                  <a:solidFill>
                    <a:schemeClr val="bg1"/>
                  </a:solidFill>
                </a:rPr>
                <a:t>Google</a:t>
              </a:r>
              <a:r>
                <a:rPr lang="en-EG" sz="2400" dirty="0">
                  <a:solidFill>
                    <a:schemeClr val="bg1"/>
                  </a:solidFill>
                </a:rPr>
                <a:t> Cloud Platform</a:t>
              </a:r>
            </a:p>
          </p:txBody>
        </p:sp>
      </p:grpSp>
      <p:pic>
        <p:nvPicPr>
          <p:cNvPr id="29" name="Picture 28" descr="A red and white cloud logo&#10;&#10;Description automatically generated">
            <a:extLst>
              <a:ext uri="{FF2B5EF4-FFF2-40B4-BE49-F238E27FC236}">
                <a16:creationId xmlns:a16="http://schemas.microsoft.com/office/drawing/2014/main" id="{C2E4D1F1-3EA7-5657-F456-424253605584}"/>
              </a:ext>
            </a:extLst>
          </p:cNvPr>
          <p:cNvPicPr>
            <a:picLocks noChangeAspect="1"/>
          </p:cNvPicPr>
          <p:nvPr/>
        </p:nvPicPr>
        <p:blipFill>
          <a:blip r:embed="rId4"/>
          <a:stretch>
            <a:fillRect/>
          </a:stretch>
        </p:blipFill>
        <p:spPr>
          <a:xfrm>
            <a:off x="4424906" y="4343850"/>
            <a:ext cx="3847765" cy="2164368"/>
          </a:xfrm>
          <a:prstGeom prst="rect">
            <a:avLst/>
          </a:prstGeom>
        </p:spPr>
      </p:pic>
      <p:grpSp>
        <p:nvGrpSpPr>
          <p:cNvPr id="31" name="Group 30">
            <a:extLst>
              <a:ext uri="{FF2B5EF4-FFF2-40B4-BE49-F238E27FC236}">
                <a16:creationId xmlns:a16="http://schemas.microsoft.com/office/drawing/2014/main" id="{9B307164-7A53-7263-7BD2-D025AFB18A8E}"/>
              </a:ext>
            </a:extLst>
          </p:cNvPr>
          <p:cNvGrpSpPr/>
          <p:nvPr/>
        </p:nvGrpSpPr>
        <p:grpSpPr>
          <a:xfrm>
            <a:off x="8814737" y="1488309"/>
            <a:ext cx="2451707" cy="2559742"/>
            <a:chOff x="8814737" y="1488309"/>
            <a:chExt cx="2451707" cy="2559742"/>
          </a:xfrm>
        </p:grpSpPr>
        <p:pic>
          <p:nvPicPr>
            <p:cNvPr id="21" name="Picture 20" descr="A blue triangle with text&#10;&#10;Description automatically generated">
              <a:extLst>
                <a:ext uri="{FF2B5EF4-FFF2-40B4-BE49-F238E27FC236}">
                  <a16:creationId xmlns:a16="http://schemas.microsoft.com/office/drawing/2014/main" id="{A86D7F26-955F-4A3A-BAD5-8C13266D12E3}"/>
                </a:ext>
              </a:extLst>
            </p:cNvPr>
            <p:cNvPicPr>
              <a:picLocks noChangeAspect="1"/>
            </p:cNvPicPr>
            <p:nvPr/>
          </p:nvPicPr>
          <p:blipFill>
            <a:blip r:embed="rId5"/>
            <a:srcRect b="42204"/>
            <a:stretch/>
          </p:blipFill>
          <p:spPr>
            <a:xfrm>
              <a:off x="8814737" y="1488309"/>
              <a:ext cx="2451707" cy="1483491"/>
            </a:xfrm>
            <a:prstGeom prst="rect">
              <a:avLst/>
            </a:prstGeom>
          </p:spPr>
        </p:pic>
        <p:sp>
          <p:nvSpPr>
            <p:cNvPr id="30" name="TextBox 29">
              <a:extLst>
                <a:ext uri="{FF2B5EF4-FFF2-40B4-BE49-F238E27FC236}">
                  <a16:creationId xmlns:a16="http://schemas.microsoft.com/office/drawing/2014/main" id="{52DE8CEF-ABE9-F67F-675B-5D36AC45F6D7}"/>
                </a:ext>
              </a:extLst>
            </p:cNvPr>
            <p:cNvSpPr txBox="1"/>
            <p:nvPr/>
          </p:nvSpPr>
          <p:spPr>
            <a:xfrm>
              <a:off x="9059392" y="2970833"/>
              <a:ext cx="1962397" cy="1077218"/>
            </a:xfrm>
            <a:prstGeom prst="rect">
              <a:avLst/>
            </a:prstGeom>
            <a:noFill/>
          </p:spPr>
          <p:txBody>
            <a:bodyPr wrap="none" rtlCol="0">
              <a:spAutoFit/>
            </a:bodyPr>
            <a:lstStyle/>
            <a:p>
              <a:r>
                <a:rPr lang="en-EG" sz="3200" b="1" i="1" dirty="0">
                  <a:solidFill>
                    <a:schemeClr val="bg1"/>
                  </a:solidFill>
                </a:rPr>
                <a:t>Microsoft</a:t>
              </a:r>
              <a:br>
                <a:rPr lang="en-EG" sz="3200" b="1" dirty="0">
                  <a:solidFill>
                    <a:schemeClr val="bg1"/>
                  </a:solidFill>
                </a:rPr>
              </a:br>
              <a:r>
                <a:rPr lang="en-EG" sz="3200" dirty="0">
                  <a:solidFill>
                    <a:schemeClr val="bg1"/>
                  </a:solidFill>
                </a:rPr>
                <a:t>Azure</a:t>
              </a:r>
            </a:p>
          </p:txBody>
        </p:sp>
      </p:grpSp>
      <p:pic>
        <p:nvPicPr>
          <p:cNvPr id="32" name="Picture 31">
            <a:extLst>
              <a:ext uri="{FF2B5EF4-FFF2-40B4-BE49-F238E27FC236}">
                <a16:creationId xmlns:a16="http://schemas.microsoft.com/office/drawing/2014/main" id="{4AD568A7-E5AF-2CC8-9300-75AE3C99ED30}"/>
              </a:ext>
            </a:extLst>
          </p:cNvPr>
          <p:cNvPicPr>
            <a:picLocks noChangeAspect="1"/>
          </p:cNvPicPr>
          <p:nvPr/>
        </p:nvPicPr>
        <p:blipFill>
          <a:blip r:embed="rId6"/>
          <a:stretch>
            <a:fillRect/>
          </a:stretch>
        </p:blipFill>
        <p:spPr>
          <a:xfrm>
            <a:off x="478634" y="4263248"/>
            <a:ext cx="3746500" cy="2235200"/>
          </a:xfrm>
          <a:prstGeom prst="rect">
            <a:avLst/>
          </a:prstGeom>
        </p:spPr>
      </p:pic>
      <p:pic>
        <p:nvPicPr>
          <p:cNvPr id="34" name="Picture 33">
            <a:extLst>
              <a:ext uri="{FF2B5EF4-FFF2-40B4-BE49-F238E27FC236}">
                <a16:creationId xmlns:a16="http://schemas.microsoft.com/office/drawing/2014/main" id="{90B9E4A7-C2EC-3AB7-FFA7-476A85CB7740}"/>
              </a:ext>
            </a:extLst>
          </p:cNvPr>
          <p:cNvPicPr>
            <a:picLocks noChangeAspect="1"/>
          </p:cNvPicPr>
          <p:nvPr/>
        </p:nvPicPr>
        <p:blipFill>
          <a:blip r:embed="rId7"/>
          <a:stretch>
            <a:fillRect/>
          </a:stretch>
        </p:blipFill>
        <p:spPr>
          <a:xfrm>
            <a:off x="8472444" y="3817218"/>
            <a:ext cx="3251200" cy="3251200"/>
          </a:xfrm>
          <a:prstGeom prst="rect">
            <a:avLst/>
          </a:prstGeom>
        </p:spPr>
      </p:pic>
    </p:spTree>
    <p:extLst>
      <p:ext uri="{BB962C8B-B14F-4D97-AF65-F5344CB8AC3E}">
        <p14:creationId xmlns:p14="http://schemas.microsoft.com/office/powerpoint/2010/main" val="2986834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0-#ppt_w/2"/>
                                          </p:val>
                                        </p:tav>
                                        <p:tav tm="100000">
                                          <p:val>
                                            <p:strVal val="#ppt_x"/>
                                          </p:val>
                                        </p:tav>
                                      </p:tavLst>
                                    </p:anim>
                                    <p:anim calcmode="lin" valueType="num">
                                      <p:cBhvr additive="base">
                                        <p:cTn id="14"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500" fill="hold"/>
                                        <p:tgtEl>
                                          <p:spTgt spid="19"/>
                                        </p:tgtEl>
                                        <p:attrNameLst>
                                          <p:attrName>ppt_x</p:attrName>
                                        </p:attrNameLst>
                                      </p:cBhvr>
                                      <p:tavLst>
                                        <p:tav tm="0">
                                          <p:val>
                                            <p:strVal val="#ppt_x"/>
                                          </p:val>
                                        </p:tav>
                                        <p:tav tm="100000">
                                          <p:val>
                                            <p:strVal val="#ppt_x"/>
                                          </p:val>
                                        </p:tav>
                                      </p:tavLst>
                                    </p:anim>
                                    <p:anim calcmode="lin" valueType="num">
                                      <p:cBhvr additive="base">
                                        <p:cTn id="20" dur="500" fill="hold"/>
                                        <p:tgtEl>
                                          <p:spTgt spid="19"/>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31"/>
                                        </p:tgtEl>
                                        <p:attrNameLst>
                                          <p:attrName>style.visibility</p:attrName>
                                        </p:attrNameLst>
                                      </p:cBhvr>
                                      <p:to>
                                        <p:strVal val="visible"/>
                                      </p:to>
                                    </p:set>
                                    <p:anim calcmode="lin" valueType="num">
                                      <p:cBhvr additive="base">
                                        <p:cTn id="25" dur="500" fill="hold"/>
                                        <p:tgtEl>
                                          <p:spTgt spid="31"/>
                                        </p:tgtEl>
                                        <p:attrNameLst>
                                          <p:attrName>ppt_x</p:attrName>
                                        </p:attrNameLst>
                                      </p:cBhvr>
                                      <p:tavLst>
                                        <p:tav tm="0">
                                          <p:val>
                                            <p:strVal val="1+#ppt_w/2"/>
                                          </p:val>
                                        </p:tav>
                                        <p:tav tm="100000">
                                          <p:val>
                                            <p:strVal val="#ppt_x"/>
                                          </p:val>
                                        </p:tav>
                                      </p:tavLst>
                                    </p:anim>
                                    <p:anim calcmode="lin" valueType="num">
                                      <p:cBhvr additive="base">
                                        <p:cTn id="26"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 calcmode="lin" valueType="num">
                                      <p:cBhvr additive="base">
                                        <p:cTn id="31" dur="500" fill="hold"/>
                                        <p:tgtEl>
                                          <p:spTgt spid="29"/>
                                        </p:tgtEl>
                                        <p:attrNameLst>
                                          <p:attrName>ppt_x</p:attrName>
                                        </p:attrNameLst>
                                      </p:cBhvr>
                                      <p:tavLst>
                                        <p:tav tm="0">
                                          <p:val>
                                            <p:strVal val="#ppt_x"/>
                                          </p:val>
                                        </p:tav>
                                        <p:tav tm="100000">
                                          <p:val>
                                            <p:strVal val="#ppt_x"/>
                                          </p:val>
                                        </p:tav>
                                      </p:tavLst>
                                    </p:anim>
                                    <p:anim calcmode="lin" valueType="num">
                                      <p:cBhvr additive="base">
                                        <p:cTn id="32"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500" fill="hold"/>
                                        <p:tgtEl>
                                          <p:spTgt spid="32"/>
                                        </p:tgtEl>
                                        <p:attrNameLst>
                                          <p:attrName>ppt_x</p:attrName>
                                        </p:attrNameLst>
                                      </p:cBhvr>
                                      <p:tavLst>
                                        <p:tav tm="0">
                                          <p:val>
                                            <p:strVal val="0-#ppt_w/2"/>
                                          </p:val>
                                        </p:tav>
                                        <p:tav tm="100000">
                                          <p:val>
                                            <p:strVal val="#ppt_x"/>
                                          </p:val>
                                        </p:tav>
                                      </p:tavLst>
                                    </p:anim>
                                    <p:anim calcmode="lin" valueType="num">
                                      <p:cBhvr additive="base">
                                        <p:cTn id="38" dur="500" fill="hold"/>
                                        <p:tgtEl>
                                          <p:spTgt spid="32"/>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nodeType="clickEffect">
                                  <p:stCondLst>
                                    <p:cond delay="0"/>
                                  </p:stCondLst>
                                  <p:childTnLst>
                                    <p:set>
                                      <p:cBhvr>
                                        <p:cTn id="42" dur="1" fill="hold">
                                          <p:stCondLst>
                                            <p:cond delay="0"/>
                                          </p:stCondLst>
                                        </p:cTn>
                                        <p:tgtEl>
                                          <p:spTgt spid="34"/>
                                        </p:tgtEl>
                                        <p:attrNameLst>
                                          <p:attrName>style.visibility</p:attrName>
                                        </p:attrNameLst>
                                      </p:cBhvr>
                                      <p:to>
                                        <p:strVal val="visible"/>
                                      </p:to>
                                    </p:set>
                                    <p:anim calcmode="lin" valueType="num">
                                      <p:cBhvr additive="base">
                                        <p:cTn id="43" dur="500" fill="hold"/>
                                        <p:tgtEl>
                                          <p:spTgt spid="34"/>
                                        </p:tgtEl>
                                        <p:attrNameLst>
                                          <p:attrName>ppt_x</p:attrName>
                                        </p:attrNameLst>
                                      </p:cBhvr>
                                      <p:tavLst>
                                        <p:tav tm="0">
                                          <p:val>
                                            <p:strVal val="1+#ppt_w/2"/>
                                          </p:val>
                                        </p:tav>
                                        <p:tav tm="100000">
                                          <p:val>
                                            <p:strVal val="#ppt_x"/>
                                          </p:val>
                                        </p:tav>
                                      </p:tavLst>
                                    </p:anim>
                                    <p:anim calcmode="lin" valueType="num">
                                      <p:cBhvr additive="base">
                                        <p:cTn id="44" dur="500" fill="hold"/>
                                        <p:tgtEl>
                                          <p:spTgt spid="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52D1C-3BDA-DF9C-BC6C-A89E540D3D84}"/>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A96C60D8-7353-C3A1-32E9-B47427991E16}"/>
              </a:ext>
            </a:extLst>
          </p:cNvPr>
          <p:cNvGrpSpPr/>
          <p:nvPr/>
        </p:nvGrpSpPr>
        <p:grpSpPr>
          <a:xfrm>
            <a:off x="88816" y="636808"/>
            <a:ext cx="12014369" cy="6221192"/>
            <a:chOff x="88816" y="636808"/>
            <a:chExt cx="12014369" cy="6221192"/>
          </a:xfrm>
        </p:grpSpPr>
        <p:pic>
          <p:nvPicPr>
            <p:cNvPr id="11" name="Picture 10">
              <a:extLst>
                <a:ext uri="{FF2B5EF4-FFF2-40B4-BE49-F238E27FC236}">
                  <a16:creationId xmlns:a16="http://schemas.microsoft.com/office/drawing/2014/main" id="{AEC1DD18-DB78-EF72-85A7-08403CB6CADD}"/>
                </a:ext>
              </a:extLst>
            </p:cNvPr>
            <p:cNvPicPr>
              <a:picLocks noChangeAspect="1"/>
            </p:cNvPicPr>
            <p:nvPr/>
          </p:nvPicPr>
          <p:blipFill>
            <a:blip r:embed="rId2"/>
            <a:stretch>
              <a:fillRect/>
            </a:stretch>
          </p:blipFill>
          <p:spPr>
            <a:xfrm>
              <a:off x="88816" y="636808"/>
              <a:ext cx="12014369" cy="6221192"/>
            </a:xfrm>
            <a:prstGeom prst="rect">
              <a:avLst/>
            </a:prstGeom>
          </p:spPr>
        </p:pic>
        <p:pic>
          <p:nvPicPr>
            <p:cNvPr id="4" name="Picture 3">
              <a:extLst>
                <a:ext uri="{FF2B5EF4-FFF2-40B4-BE49-F238E27FC236}">
                  <a16:creationId xmlns:a16="http://schemas.microsoft.com/office/drawing/2014/main" id="{8E01954E-5963-24DA-7884-CF6414B3F639}"/>
                </a:ext>
              </a:extLst>
            </p:cNvPr>
            <p:cNvPicPr>
              <a:picLocks noChangeAspect="1"/>
            </p:cNvPicPr>
            <p:nvPr/>
          </p:nvPicPr>
          <p:blipFill>
            <a:blip r:embed="rId3"/>
            <a:stretch>
              <a:fillRect/>
            </a:stretch>
          </p:blipFill>
          <p:spPr>
            <a:xfrm>
              <a:off x="5245100" y="6400371"/>
              <a:ext cx="2159000" cy="282486"/>
            </a:xfrm>
            <a:prstGeom prst="rect">
              <a:avLst/>
            </a:prstGeom>
          </p:spPr>
        </p:pic>
      </p:grpSp>
      <p:sp>
        <p:nvSpPr>
          <p:cNvPr id="6" name="TextBox 5">
            <a:extLst>
              <a:ext uri="{FF2B5EF4-FFF2-40B4-BE49-F238E27FC236}">
                <a16:creationId xmlns:a16="http://schemas.microsoft.com/office/drawing/2014/main" id="{02C2227C-530B-8DBB-FE1A-82E950BCCBB2}"/>
              </a:ext>
            </a:extLst>
          </p:cNvPr>
          <p:cNvSpPr txBox="1"/>
          <p:nvPr/>
        </p:nvSpPr>
        <p:spPr>
          <a:xfrm>
            <a:off x="177631" y="1173824"/>
            <a:ext cx="11831489" cy="400110"/>
          </a:xfrm>
          <a:prstGeom prst="rect">
            <a:avLst/>
          </a:prstGeom>
          <a:noFill/>
        </p:spPr>
        <p:txBody>
          <a:bodyPr wrap="square" rtlCol="0">
            <a:spAutoFit/>
          </a:bodyPr>
          <a:lstStyle/>
          <a:p>
            <a:endParaRPr lang="en-US" sz="2000" dirty="0">
              <a:solidFill>
                <a:schemeClr val="bg1"/>
              </a:solidFill>
            </a:endParaRPr>
          </a:p>
        </p:txBody>
      </p:sp>
      <p:sp>
        <p:nvSpPr>
          <p:cNvPr id="2" name="TextBox 1">
            <a:extLst>
              <a:ext uri="{FF2B5EF4-FFF2-40B4-BE49-F238E27FC236}">
                <a16:creationId xmlns:a16="http://schemas.microsoft.com/office/drawing/2014/main" id="{86F5F2FA-C14A-8ACB-E9AB-AD267B1D6A5D}"/>
              </a:ext>
            </a:extLst>
          </p:cNvPr>
          <p:cNvSpPr txBox="1"/>
          <p:nvPr/>
        </p:nvSpPr>
        <p:spPr>
          <a:xfrm>
            <a:off x="414698" y="175143"/>
            <a:ext cx="7342842"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AWS</a:t>
            </a:r>
            <a:endParaRPr lang="en-ID" sz="2400" dirty="0">
              <a:solidFill>
                <a:schemeClr val="bg1"/>
              </a:solidFill>
              <a:latin typeface="Arial Black" panose="020B0A04020102020204" pitchFamily="34" charset="0"/>
            </a:endParaRPr>
          </a:p>
        </p:txBody>
      </p:sp>
      <p:pic>
        <p:nvPicPr>
          <p:cNvPr id="3" name="Picture 2" descr="A black and white logo with a smile&#10;&#10;Description automatically generated">
            <a:extLst>
              <a:ext uri="{FF2B5EF4-FFF2-40B4-BE49-F238E27FC236}">
                <a16:creationId xmlns:a16="http://schemas.microsoft.com/office/drawing/2014/main" id="{BC7178D6-CD11-1B5F-5D80-7F76C257B19A}"/>
              </a:ext>
            </a:extLst>
          </p:cNvPr>
          <p:cNvPicPr>
            <a:picLocks noChangeAspect="1"/>
          </p:cNvPicPr>
          <p:nvPr/>
        </p:nvPicPr>
        <p:blipFill>
          <a:blip r:embed="rId4"/>
          <a:stretch>
            <a:fillRect/>
          </a:stretch>
        </p:blipFill>
        <p:spPr>
          <a:xfrm>
            <a:off x="10097778" y="1400056"/>
            <a:ext cx="1462045" cy="874313"/>
          </a:xfrm>
          <a:prstGeom prst="rect">
            <a:avLst/>
          </a:prstGeom>
        </p:spPr>
      </p:pic>
    </p:spTree>
    <p:extLst>
      <p:ext uri="{BB962C8B-B14F-4D97-AF65-F5344CB8AC3E}">
        <p14:creationId xmlns:p14="http://schemas.microsoft.com/office/powerpoint/2010/main" val="2884860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2"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1+#ppt_w/2"/>
                                          </p:val>
                                        </p:tav>
                                        <p:tav tm="100000">
                                          <p:val>
                                            <p:strVal val="#ppt_x"/>
                                          </p:val>
                                        </p:tav>
                                      </p:tavLst>
                                    </p:anim>
                                    <p:anim calcmode="lin" valueType="num">
                                      <p:cBhvr additive="base">
                                        <p:cTn id="1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67EC3-A220-7950-C0E0-F807DF847BC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1A44A65-12CE-96E0-5CC6-77E48D0057DD}"/>
              </a:ext>
            </a:extLst>
          </p:cNvPr>
          <p:cNvSpPr txBox="1"/>
          <p:nvPr/>
        </p:nvSpPr>
        <p:spPr>
          <a:xfrm>
            <a:off x="177631" y="1173824"/>
            <a:ext cx="11831489" cy="400110"/>
          </a:xfrm>
          <a:prstGeom prst="rect">
            <a:avLst/>
          </a:prstGeom>
          <a:noFill/>
        </p:spPr>
        <p:txBody>
          <a:bodyPr wrap="square" rtlCol="0">
            <a:spAutoFit/>
          </a:bodyPr>
          <a:lstStyle/>
          <a:p>
            <a:endParaRPr lang="en-US" sz="2000" dirty="0">
              <a:solidFill>
                <a:schemeClr val="bg1"/>
              </a:solidFill>
            </a:endParaRPr>
          </a:p>
        </p:txBody>
      </p:sp>
      <p:sp>
        <p:nvSpPr>
          <p:cNvPr id="7" name="TextBox 6">
            <a:extLst>
              <a:ext uri="{FF2B5EF4-FFF2-40B4-BE49-F238E27FC236}">
                <a16:creationId xmlns:a16="http://schemas.microsoft.com/office/drawing/2014/main" id="{84426DD3-1FBB-DB7F-D43B-9969177D4DEF}"/>
              </a:ext>
            </a:extLst>
          </p:cNvPr>
          <p:cNvSpPr txBox="1"/>
          <p:nvPr/>
        </p:nvSpPr>
        <p:spPr>
          <a:xfrm>
            <a:off x="177631" y="590239"/>
            <a:ext cx="7342842"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AWS Infrastructure</a:t>
            </a:r>
          </a:p>
        </p:txBody>
      </p:sp>
      <p:pic>
        <p:nvPicPr>
          <p:cNvPr id="8" name="Picture 7">
            <a:extLst>
              <a:ext uri="{FF2B5EF4-FFF2-40B4-BE49-F238E27FC236}">
                <a16:creationId xmlns:a16="http://schemas.microsoft.com/office/drawing/2014/main" id="{E1B479AD-C0EA-9278-F555-E89711C01E92}"/>
              </a:ext>
            </a:extLst>
          </p:cNvPr>
          <p:cNvPicPr>
            <a:picLocks noChangeAspect="1"/>
          </p:cNvPicPr>
          <p:nvPr/>
        </p:nvPicPr>
        <p:blipFill>
          <a:blip r:embed="rId2"/>
          <a:stretch>
            <a:fillRect/>
          </a:stretch>
        </p:blipFill>
        <p:spPr>
          <a:xfrm>
            <a:off x="6797058" y="821071"/>
            <a:ext cx="4982191" cy="5448300"/>
          </a:xfrm>
          <a:prstGeom prst="rect">
            <a:avLst/>
          </a:prstGeom>
        </p:spPr>
      </p:pic>
      <p:sp>
        <p:nvSpPr>
          <p:cNvPr id="9" name="TextBox 8">
            <a:extLst>
              <a:ext uri="{FF2B5EF4-FFF2-40B4-BE49-F238E27FC236}">
                <a16:creationId xmlns:a16="http://schemas.microsoft.com/office/drawing/2014/main" id="{8BA5A115-55F9-0D4E-40DA-D7BA01F119DC}"/>
              </a:ext>
            </a:extLst>
          </p:cNvPr>
          <p:cNvSpPr txBox="1"/>
          <p:nvPr/>
        </p:nvSpPr>
        <p:spPr>
          <a:xfrm>
            <a:off x="269937" y="1173824"/>
            <a:ext cx="6218228" cy="5632311"/>
          </a:xfrm>
          <a:prstGeom prst="rect">
            <a:avLst/>
          </a:prstGeom>
          <a:noFill/>
        </p:spPr>
        <p:txBody>
          <a:bodyPr wrap="square" rtlCol="0">
            <a:spAutoFit/>
          </a:bodyPr>
          <a:lstStyle/>
          <a:p>
            <a:r>
              <a:rPr lang="en-US" b="1" dirty="0">
                <a:solidFill>
                  <a:schemeClr val="bg1"/>
                </a:solidFill>
              </a:rPr>
              <a:t>AWS Regions</a:t>
            </a:r>
          </a:p>
          <a:p>
            <a:endParaRPr lang="en-US" b="1" dirty="0">
              <a:solidFill>
                <a:schemeClr val="bg1"/>
              </a:solidFill>
            </a:endParaRPr>
          </a:p>
          <a:p>
            <a:r>
              <a:rPr lang="en-US" dirty="0">
                <a:solidFill>
                  <a:schemeClr val="bg1"/>
                </a:solidFill>
              </a:rPr>
              <a:t>A region is a geographically isolated location where AWS has data centers. Each region is independent and consists of multiple Availability Zones.</a:t>
            </a:r>
            <a:br>
              <a:rPr lang="en-US" dirty="0">
                <a:solidFill>
                  <a:schemeClr val="bg1"/>
                </a:solidFill>
              </a:rPr>
            </a:br>
            <a:endParaRPr lang="en-US" dirty="0">
              <a:solidFill>
                <a:schemeClr val="bg1"/>
              </a:solidFill>
            </a:endParaRPr>
          </a:p>
          <a:p>
            <a:r>
              <a:rPr lang="en-US" b="1" dirty="0">
                <a:solidFill>
                  <a:schemeClr val="bg1"/>
                </a:solidFill>
              </a:rPr>
              <a:t>Why Regions Exist</a:t>
            </a:r>
            <a:r>
              <a:rPr lang="en-US" dirty="0">
                <a:solidFill>
                  <a:schemeClr val="bg1"/>
                </a:solidFill>
              </a:rPr>
              <a:t>:</a:t>
            </a:r>
          </a:p>
          <a:p>
            <a:pPr marL="742950" lvl="1" indent="-285750">
              <a:buFont typeface="Arial" panose="020B0604020202020204" pitchFamily="34" charset="0"/>
              <a:buChar char="•"/>
            </a:pPr>
            <a:r>
              <a:rPr lang="en-US" b="1" dirty="0">
                <a:solidFill>
                  <a:schemeClr val="bg1"/>
                </a:solidFill>
              </a:rPr>
              <a:t>Proximity to Customers</a:t>
            </a:r>
            <a:r>
              <a:rPr lang="en-US" dirty="0">
                <a:solidFill>
                  <a:schemeClr val="bg1"/>
                </a:solidFill>
              </a:rPr>
              <a:t>: Regions allow you to run applications closer to your users, reducing latency.</a:t>
            </a:r>
          </a:p>
          <a:p>
            <a:pPr marL="742950" lvl="1" indent="-285750">
              <a:buFont typeface="Arial" panose="020B0604020202020204" pitchFamily="34" charset="0"/>
              <a:buChar char="•"/>
            </a:pPr>
            <a:r>
              <a:rPr lang="en-US" b="1" dirty="0">
                <a:solidFill>
                  <a:schemeClr val="bg1"/>
                </a:solidFill>
              </a:rPr>
              <a:t>Compliance</a:t>
            </a:r>
            <a:r>
              <a:rPr lang="en-US" dirty="0">
                <a:solidFill>
                  <a:schemeClr val="bg1"/>
                </a:solidFill>
              </a:rPr>
              <a:t>: Some regions meet specific legal or regulatory requirements for data residency.</a:t>
            </a:r>
          </a:p>
          <a:p>
            <a:pPr marL="742950" lvl="1" indent="-285750">
              <a:buFont typeface="Arial" panose="020B0604020202020204" pitchFamily="34" charset="0"/>
              <a:buChar char="•"/>
            </a:pPr>
            <a:r>
              <a:rPr lang="en-US" b="1" dirty="0">
                <a:solidFill>
                  <a:schemeClr val="bg1"/>
                </a:solidFill>
              </a:rPr>
              <a:t>Disaster Recovery</a:t>
            </a:r>
            <a:r>
              <a:rPr lang="en-US" dirty="0">
                <a:solidFill>
                  <a:schemeClr val="bg1"/>
                </a:solidFill>
              </a:rPr>
              <a:t>: By spreading workloads across regions, businesses can recover faster in case of a region-wide outage.</a:t>
            </a:r>
          </a:p>
          <a:p>
            <a:pPr marL="742950" lvl="1" indent="-285750">
              <a:buFont typeface="Arial" panose="020B0604020202020204" pitchFamily="34" charset="0"/>
              <a:buChar char="•"/>
            </a:pPr>
            <a:endParaRPr lang="en-US" dirty="0">
              <a:solidFill>
                <a:schemeClr val="bg1"/>
              </a:solidFill>
            </a:endParaRPr>
          </a:p>
          <a:p>
            <a:r>
              <a:rPr lang="en-US" b="1" dirty="0">
                <a:solidFill>
                  <a:schemeClr val="bg1"/>
                </a:solidFill>
              </a:rPr>
              <a:t>Examples of Regions</a:t>
            </a:r>
            <a:r>
              <a:rPr lang="en-US" dirty="0">
                <a:solidFill>
                  <a:schemeClr val="bg1"/>
                </a:solidFill>
              </a:rPr>
              <a:t>:</a:t>
            </a:r>
          </a:p>
          <a:p>
            <a:pPr marL="742950" lvl="1" indent="-285750">
              <a:buFont typeface="Arial" panose="020B0604020202020204" pitchFamily="34" charset="0"/>
              <a:buChar char="•"/>
            </a:pPr>
            <a:r>
              <a:rPr lang="en-US" b="1" dirty="0">
                <a:solidFill>
                  <a:schemeClr val="bg1"/>
                </a:solidFill>
              </a:rPr>
              <a:t>us-east-1</a:t>
            </a:r>
            <a:r>
              <a:rPr lang="en-US" dirty="0">
                <a:solidFill>
                  <a:schemeClr val="bg1"/>
                </a:solidFill>
              </a:rPr>
              <a:t> (North Virginia, USA)</a:t>
            </a:r>
          </a:p>
          <a:p>
            <a:pPr marL="742950" lvl="1" indent="-285750">
              <a:buFont typeface="Arial" panose="020B0604020202020204" pitchFamily="34" charset="0"/>
              <a:buChar char="•"/>
            </a:pPr>
            <a:r>
              <a:rPr lang="en-US" b="1" dirty="0">
                <a:solidFill>
                  <a:schemeClr val="bg1"/>
                </a:solidFill>
              </a:rPr>
              <a:t>eu-west-1</a:t>
            </a:r>
            <a:r>
              <a:rPr lang="en-US" dirty="0">
                <a:solidFill>
                  <a:schemeClr val="bg1"/>
                </a:solidFill>
              </a:rPr>
              <a:t> (Ireland)</a:t>
            </a:r>
          </a:p>
          <a:p>
            <a:pPr marL="742950" lvl="1" indent="-285750">
              <a:buFont typeface="Arial" panose="020B0604020202020204" pitchFamily="34" charset="0"/>
              <a:buChar char="•"/>
            </a:pPr>
            <a:r>
              <a:rPr lang="en-US" b="1" dirty="0">
                <a:solidFill>
                  <a:schemeClr val="bg1"/>
                </a:solidFill>
              </a:rPr>
              <a:t>ap-southeast-1</a:t>
            </a:r>
            <a:r>
              <a:rPr lang="en-US" dirty="0">
                <a:solidFill>
                  <a:schemeClr val="bg1"/>
                </a:solidFill>
              </a:rPr>
              <a:t> (Singapore)</a:t>
            </a:r>
          </a:p>
          <a:p>
            <a:endParaRPr lang="en-EG" dirty="0">
              <a:solidFill>
                <a:schemeClr val="bg1"/>
              </a:solidFill>
            </a:endParaRPr>
          </a:p>
        </p:txBody>
      </p:sp>
    </p:spTree>
    <p:extLst>
      <p:ext uri="{BB962C8B-B14F-4D97-AF65-F5344CB8AC3E}">
        <p14:creationId xmlns:p14="http://schemas.microsoft.com/office/powerpoint/2010/main" val="3537191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1+#ppt_w/2"/>
                                          </p:val>
                                        </p:tav>
                                        <p:tav tm="100000">
                                          <p:val>
                                            <p:strVal val="#ppt_x"/>
                                          </p:val>
                                        </p:tav>
                                      </p:tavLst>
                                    </p:anim>
                                    <p:anim calcmode="lin" valueType="num">
                                      <p:cBhvr additive="base">
                                        <p:cTn id="13"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49451-107E-58B9-3D03-A2284920C51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7C97539-2EF2-389D-381A-B8D9C309AAED}"/>
              </a:ext>
            </a:extLst>
          </p:cNvPr>
          <p:cNvSpPr txBox="1"/>
          <p:nvPr/>
        </p:nvSpPr>
        <p:spPr>
          <a:xfrm>
            <a:off x="177631" y="1173824"/>
            <a:ext cx="11831489" cy="400110"/>
          </a:xfrm>
          <a:prstGeom prst="rect">
            <a:avLst/>
          </a:prstGeom>
          <a:noFill/>
        </p:spPr>
        <p:txBody>
          <a:bodyPr wrap="square" rtlCol="0">
            <a:spAutoFit/>
          </a:bodyPr>
          <a:lstStyle/>
          <a:p>
            <a:endParaRPr lang="en-US" sz="2000" dirty="0">
              <a:solidFill>
                <a:schemeClr val="bg1"/>
              </a:solidFill>
            </a:endParaRPr>
          </a:p>
        </p:txBody>
      </p:sp>
      <p:sp>
        <p:nvSpPr>
          <p:cNvPr id="7" name="TextBox 6">
            <a:extLst>
              <a:ext uri="{FF2B5EF4-FFF2-40B4-BE49-F238E27FC236}">
                <a16:creationId xmlns:a16="http://schemas.microsoft.com/office/drawing/2014/main" id="{BF633463-2516-F749-0D7A-843106B24B09}"/>
              </a:ext>
            </a:extLst>
          </p:cNvPr>
          <p:cNvSpPr txBox="1"/>
          <p:nvPr/>
        </p:nvSpPr>
        <p:spPr>
          <a:xfrm>
            <a:off x="177631" y="590239"/>
            <a:ext cx="7342842"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AWS Infrastructure</a:t>
            </a:r>
          </a:p>
        </p:txBody>
      </p:sp>
      <p:pic>
        <p:nvPicPr>
          <p:cNvPr id="8" name="Picture 7">
            <a:extLst>
              <a:ext uri="{FF2B5EF4-FFF2-40B4-BE49-F238E27FC236}">
                <a16:creationId xmlns:a16="http://schemas.microsoft.com/office/drawing/2014/main" id="{E96C2DF1-62E4-C012-8623-0FCE0541ABED}"/>
              </a:ext>
            </a:extLst>
          </p:cNvPr>
          <p:cNvPicPr>
            <a:picLocks noChangeAspect="1"/>
          </p:cNvPicPr>
          <p:nvPr/>
        </p:nvPicPr>
        <p:blipFill>
          <a:blip r:embed="rId2"/>
          <a:stretch>
            <a:fillRect/>
          </a:stretch>
        </p:blipFill>
        <p:spPr>
          <a:xfrm>
            <a:off x="6797058" y="821071"/>
            <a:ext cx="4982191" cy="5448300"/>
          </a:xfrm>
          <a:prstGeom prst="rect">
            <a:avLst/>
          </a:prstGeom>
        </p:spPr>
      </p:pic>
      <p:sp>
        <p:nvSpPr>
          <p:cNvPr id="9" name="TextBox 8">
            <a:extLst>
              <a:ext uri="{FF2B5EF4-FFF2-40B4-BE49-F238E27FC236}">
                <a16:creationId xmlns:a16="http://schemas.microsoft.com/office/drawing/2014/main" id="{849548CA-E018-B3A4-1F1B-6F7B567D2792}"/>
              </a:ext>
            </a:extLst>
          </p:cNvPr>
          <p:cNvSpPr txBox="1"/>
          <p:nvPr/>
        </p:nvSpPr>
        <p:spPr>
          <a:xfrm>
            <a:off x="269937" y="1173824"/>
            <a:ext cx="6218228" cy="5632311"/>
          </a:xfrm>
          <a:prstGeom prst="rect">
            <a:avLst/>
          </a:prstGeom>
          <a:noFill/>
        </p:spPr>
        <p:txBody>
          <a:bodyPr wrap="square" rtlCol="0">
            <a:spAutoFit/>
          </a:bodyPr>
          <a:lstStyle/>
          <a:p>
            <a:r>
              <a:rPr lang="en-US" b="1" dirty="0">
                <a:solidFill>
                  <a:schemeClr val="bg1"/>
                </a:solidFill>
              </a:rPr>
              <a:t>Availability Zones (AZs)</a:t>
            </a:r>
          </a:p>
          <a:p>
            <a:r>
              <a:rPr lang="en-US" dirty="0">
                <a:solidFill>
                  <a:schemeClr val="bg1"/>
                </a:solidFill>
              </a:rPr>
              <a:t>An Availability Zone is a distinct physical location within a region. Each AZ has its own power, cooling, and networking to ensure independence. Each region has at least 2 AZs</a:t>
            </a:r>
          </a:p>
          <a:p>
            <a:endParaRPr lang="en-US" dirty="0">
              <a:solidFill>
                <a:schemeClr val="bg1"/>
              </a:solidFill>
            </a:endParaRPr>
          </a:p>
          <a:p>
            <a:r>
              <a:rPr lang="en-US" b="1" dirty="0">
                <a:solidFill>
                  <a:schemeClr val="bg1"/>
                </a:solidFill>
              </a:rPr>
              <a:t>Why Multiple AZs Exist</a:t>
            </a:r>
            <a:r>
              <a:rPr lang="en-US" dirty="0">
                <a:solidFill>
                  <a:schemeClr val="bg1"/>
                </a:solidFill>
              </a:rPr>
              <a:t>:</a:t>
            </a:r>
          </a:p>
          <a:p>
            <a:pPr marL="742950" lvl="1" indent="-285750">
              <a:buFont typeface="Arial" panose="020B0604020202020204" pitchFamily="34" charset="0"/>
              <a:buChar char="•"/>
            </a:pPr>
            <a:r>
              <a:rPr lang="en-US" b="1" dirty="0">
                <a:solidFill>
                  <a:schemeClr val="bg1"/>
                </a:solidFill>
              </a:rPr>
              <a:t>High Availability</a:t>
            </a:r>
            <a:r>
              <a:rPr lang="en-US" dirty="0">
                <a:solidFill>
                  <a:schemeClr val="bg1"/>
                </a:solidFill>
              </a:rPr>
              <a:t>: Distributing workloads across multiple AZs ensures that even if one AZ fails (e.g., due to a natural disaster), others remain operational.</a:t>
            </a:r>
          </a:p>
          <a:p>
            <a:pPr marL="742950" lvl="1" indent="-285750">
              <a:buFont typeface="Arial" panose="020B0604020202020204" pitchFamily="34" charset="0"/>
              <a:buChar char="•"/>
            </a:pPr>
            <a:r>
              <a:rPr lang="en-US" b="1" dirty="0">
                <a:solidFill>
                  <a:schemeClr val="bg1"/>
                </a:solidFill>
              </a:rPr>
              <a:t>Fault Tolerance</a:t>
            </a:r>
            <a:r>
              <a:rPr lang="en-US" dirty="0">
                <a:solidFill>
                  <a:schemeClr val="bg1"/>
                </a:solidFill>
              </a:rPr>
              <a:t>: AZs are isolated from failures in other AZs but are connected through low-latency links for high-speed communication.</a:t>
            </a:r>
          </a:p>
          <a:p>
            <a:pPr marL="742950" lvl="1" indent="-285750">
              <a:buFont typeface="Arial" panose="020B0604020202020204" pitchFamily="34" charset="0"/>
              <a:buChar char="•"/>
            </a:pPr>
            <a:endParaRPr lang="en-US" dirty="0">
              <a:solidFill>
                <a:schemeClr val="bg1"/>
              </a:solidFill>
            </a:endParaRPr>
          </a:p>
          <a:p>
            <a:r>
              <a:rPr lang="en-US" b="1" dirty="0">
                <a:solidFill>
                  <a:schemeClr val="bg1"/>
                </a:solidFill>
              </a:rPr>
              <a:t>Key Properties of AZs</a:t>
            </a:r>
            <a:r>
              <a:rPr lang="en-US" dirty="0">
                <a:solidFill>
                  <a:schemeClr val="bg1"/>
                </a:solidFill>
              </a:rPr>
              <a:t>:</a:t>
            </a:r>
          </a:p>
          <a:p>
            <a:pPr marL="742950" lvl="1" indent="-285750">
              <a:buFont typeface="Arial" panose="020B0604020202020204" pitchFamily="34" charset="0"/>
              <a:buChar char="•"/>
            </a:pPr>
            <a:r>
              <a:rPr lang="en-US" dirty="0">
                <a:solidFill>
                  <a:schemeClr val="bg1"/>
                </a:solidFill>
              </a:rPr>
              <a:t>At least </a:t>
            </a:r>
            <a:r>
              <a:rPr lang="en-US" b="1" dirty="0">
                <a:solidFill>
                  <a:schemeClr val="bg1"/>
                </a:solidFill>
              </a:rPr>
              <a:t>two AZs</a:t>
            </a:r>
            <a:r>
              <a:rPr lang="en-US" dirty="0">
                <a:solidFill>
                  <a:schemeClr val="bg1"/>
                </a:solidFill>
              </a:rPr>
              <a:t> exist in every AWS region.</a:t>
            </a:r>
          </a:p>
          <a:p>
            <a:pPr marL="742950" lvl="1" indent="-285750">
              <a:buFont typeface="Arial" panose="020B0604020202020204" pitchFamily="34" charset="0"/>
              <a:buChar char="•"/>
            </a:pPr>
            <a:r>
              <a:rPr lang="en-US" dirty="0">
                <a:solidFill>
                  <a:schemeClr val="bg1"/>
                </a:solidFill>
              </a:rPr>
              <a:t>They are connected using high-speed, fiber-optic networking.</a:t>
            </a:r>
          </a:p>
          <a:p>
            <a:pPr marL="742950" lvl="1" indent="-285750">
              <a:buFont typeface="Arial" panose="020B0604020202020204" pitchFamily="34" charset="0"/>
              <a:buChar char="•"/>
            </a:pPr>
            <a:r>
              <a:rPr lang="en-US" dirty="0">
                <a:solidFill>
                  <a:schemeClr val="bg1"/>
                </a:solidFill>
              </a:rPr>
              <a:t>Examples: A region like </a:t>
            </a:r>
            <a:r>
              <a:rPr lang="en-US" b="1" dirty="0">
                <a:solidFill>
                  <a:schemeClr val="bg1"/>
                </a:solidFill>
              </a:rPr>
              <a:t>us-east-1</a:t>
            </a:r>
            <a:r>
              <a:rPr lang="en-US" dirty="0">
                <a:solidFill>
                  <a:schemeClr val="bg1"/>
                </a:solidFill>
              </a:rPr>
              <a:t> may have AZs named </a:t>
            </a:r>
            <a:r>
              <a:rPr lang="en-US" b="1" dirty="0">
                <a:solidFill>
                  <a:schemeClr val="bg1"/>
                </a:solidFill>
              </a:rPr>
              <a:t>us-east-1a, us-east-1b, us-east-1c</a:t>
            </a:r>
            <a:r>
              <a:rPr lang="en-US" dirty="0">
                <a:solidFill>
                  <a:schemeClr val="bg1"/>
                </a:solidFill>
              </a:rPr>
              <a:t>, and so on.</a:t>
            </a:r>
          </a:p>
        </p:txBody>
      </p:sp>
    </p:spTree>
    <p:extLst>
      <p:ext uri="{BB962C8B-B14F-4D97-AF65-F5344CB8AC3E}">
        <p14:creationId xmlns:p14="http://schemas.microsoft.com/office/powerpoint/2010/main" val="1338006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1+#ppt_w/2"/>
                                          </p:val>
                                        </p:tav>
                                        <p:tav tm="100000">
                                          <p:val>
                                            <p:strVal val="#ppt_x"/>
                                          </p:val>
                                        </p:tav>
                                      </p:tavLst>
                                    </p:anim>
                                    <p:anim calcmode="lin" valueType="num">
                                      <p:cBhvr additive="base">
                                        <p:cTn id="13"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66498-AE54-A734-0C46-16625727E11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183EB84-BF33-1D9A-A291-F73DFCC14E68}"/>
              </a:ext>
            </a:extLst>
          </p:cNvPr>
          <p:cNvSpPr txBox="1"/>
          <p:nvPr/>
        </p:nvSpPr>
        <p:spPr>
          <a:xfrm>
            <a:off x="177631" y="1173824"/>
            <a:ext cx="11831489" cy="400110"/>
          </a:xfrm>
          <a:prstGeom prst="rect">
            <a:avLst/>
          </a:prstGeom>
          <a:noFill/>
        </p:spPr>
        <p:txBody>
          <a:bodyPr wrap="square" rtlCol="0">
            <a:spAutoFit/>
          </a:bodyPr>
          <a:lstStyle/>
          <a:p>
            <a:endParaRPr lang="en-US" sz="2000" dirty="0">
              <a:solidFill>
                <a:schemeClr val="bg1"/>
              </a:solidFill>
            </a:endParaRPr>
          </a:p>
        </p:txBody>
      </p:sp>
      <p:sp>
        <p:nvSpPr>
          <p:cNvPr id="7" name="TextBox 6">
            <a:extLst>
              <a:ext uri="{FF2B5EF4-FFF2-40B4-BE49-F238E27FC236}">
                <a16:creationId xmlns:a16="http://schemas.microsoft.com/office/drawing/2014/main" id="{87EEB39E-D541-09AC-8C79-32079699981A}"/>
              </a:ext>
            </a:extLst>
          </p:cNvPr>
          <p:cNvSpPr txBox="1"/>
          <p:nvPr/>
        </p:nvSpPr>
        <p:spPr>
          <a:xfrm>
            <a:off x="177631" y="590239"/>
            <a:ext cx="7342842"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AWS Key concepts</a:t>
            </a:r>
          </a:p>
        </p:txBody>
      </p:sp>
      <p:sp>
        <p:nvSpPr>
          <p:cNvPr id="9" name="TextBox 8">
            <a:extLst>
              <a:ext uri="{FF2B5EF4-FFF2-40B4-BE49-F238E27FC236}">
                <a16:creationId xmlns:a16="http://schemas.microsoft.com/office/drawing/2014/main" id="{AAB59B24-64E9-2861-7AA7-3B0B1F18BE0E}"/>
              </a:ext>
            </a:extLst>
          </p:cNvPr>
          <p:cNvSpPr txBox="1"/>
          <p:nvPr/>
        </p:nvSpPr>
        <p:spPr>
          <a:xfrm>
            <a:off x="269937" y="1173824"/>
            <a:ext cx="6218228" cy="461665"/>
          </a:xfrm>
          <a:prstGeom prst="rect">
            <a:avLst/>
          </a:prstGeom>
          <a:noFill/>
        </p:spPr>
        <p:txBody>
          <a:bodyPr wrap="square" rtlCol="0">
            <a:spAutoFit/>
          </a:bodyPr>
          <a:lstStyle/>
          <a:p>
            <a:r>
              <a:rPr lang="en-US" sz="2400" b="1" dirty="0">
                <a:solidFill>
                  <a:schemeClr val="bg1"/>
                </a:solidFill>
              </a:rPr>
              <a:t>High Availability (HA)</a:t>
            </a:r>
            <a:endParaRPr lang="en-US" sz="2400" dirty="0">
              <a:solidFill>
                <a:schemeClr val="bg1"/>
              </a:solidFill>
            </a:endParaRPr>
          </a:p>
        </p:txBody>
      </p:sp>
      <p:sp>
        <p:nvSpPr>
          <p:cNvPr id="2" name="TextBox 1">
            <a:extLst>
              <a:ext uri="{FF2B5EF4-FFF2-40B4-BE49-F238E27FC236}">
                <a16:creationId xmlns:a16="http://schemas.microsoft.com/office/drawing/2014/main" id="{6915CFD9-320C-C4D7-17DD-A736A4B42623}"/>
              </a:ext>
            </a:extLst>
          </p:cNvPr>
          <p:cNvSpPr txBox="1"/>
          <p:nvPr/>
        </p:nvSpPr>
        <p:spPr>
          <a:xfrm>
            <a:off x="177631" y="3528920"/>
            <a:ext cx="6218228" cy="461665"/>
          </a:xfrm>
          <a:prstGeom prst="rect">
            <a:avLst/>
          </a:prstGeom>
          <a:noFill/>
        </p:spPr>
        <p:txBody>
          <a:bodyPr wrap="square" rtlCol="0">
            <a:spAutoFit/>
          </a:bodyPr>
          <a:lstStyle/>
          <a:p>
            <a:r>
              <a:rPr lang="en-US" sz="2400" b="1" dirty="0">
                <a:solidFill>
                  <a:schemeClr val="bg1"/>
                </a:solidFill>
              </a:rPr>
              <a:t>Fault Tolerance (FT)</a:t>
            </a:r>
            <a:endParaRPr lang="en-US" sz="2400" dirty="0">
              <a:solidFill>
                <a:schemeClr val="bg1"/>
              </a:solidFill>
            </a:endParaRPr>
          </a:p>
        </p:txBody>
      </p:sp>
      <p:sp>
        <p:nvSpPr>
          <p:cNvPr id="5" name="TextBox 4">
            <a:extLst>
              <a:ext uri="{FF2B5EF4-FFF2-40B4-BE49-F238E27FC236}">
                <a16:creationId xmlns:a16="http://schemas.microsoft.com/office/drawing/2014/main" id="{73DD462F-8DD9-AFA0-D241-CC9476BBE215}"/>
              </a:ext>
            </a:extLst>
          </p:cNvPr>
          <p:cNvSpPr txBox="1"/>
          <p:nvPr/>
        </p:nvSpPr>
        <p:spPr>
          <a:xfrm>
            <a:off x="177631" y="5222511"/>
            <a:ext cx="6218228" cy="461665"/>
          </a:xfrm>
          <a:prstGeom prst="rect">
            <a:avLst/>
          </a:prstGeom>
          <a:noFill/>
        </p:spPr>
        <p:txBody>
          <a:bodyPr wrap="square" rtlCol="0">
            <a:spAutoFit/>
          </a:bodyPr>
          <a:lstStyle/>
          <a:p>
            <a:r>
              <a:rPr lang="en-US" sz="2400" b="1" dirty="0">
                <a:solidFill>
                  <a:schemeClr val="bg1"/>
                </a:solidFill>
              </a:rPr>
              <a:t>Disaster Recovery (DR)</a:t>
            </a:r>
            <a:endParaRPr lang="en-US" sz="2400" dirty="0">
              <a:solidFill>
                <a:schemeClr val="bg1"/>
              </a:solidFill>
            </a:endParaRPr>
          </a:p>
        </p:txBody>
      </p:sp>
    </p:spTree>
    <p:extLst>
      <p:ext uri="{BB962C8B-B14F-4D97-AF65-F5344CB8AC3E}">
        <p14:creationId xmlns:p14="http://schemas.microsoft.com/office/powerpoint/2010/main" val="3215021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0-#ppt_w/2"/>
                                          </p:val>
                                        </p:tav>
                                        <p:tav tm="100000">
                                          <p:val>
                                            <p:strVal val="#ppt_x"/>
                                          </p:val>
                                        </p:tav>
                                      </p:tavLst>
                                    </p:anim>
                                    <p:anim calcmode="lin" valueType="num">
                                      <p:cBhvr additive="base">
                                        <p:cTn id="14"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0-#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0-#ppt_w/2"/>
                                          </p:val>
                                        </p:tav>
                                        <p:tav tm="100000">
                                          <p:val>
                                            <p:strVal val="#ppt_x"/>
                                          </p:val>
                                        </p:tav>
                                      </p:tavLst>
                                    </p:anim>
                                    <p:anim calcmode="lin" valueType="num">
                                      <p:cBhvr additive="base">
                                        <p:cTn id="26"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2" grpId="0"/>
      <p:bldP spid="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65B69-0866-31CB-EFAF-78A59433EC3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207D2FE-AA4A-EBD4-8A76-CCF0A9956FF2}"/>
              </a:ext>
            </a:extLst>
          </p:cNvPr>
          <p:cNvSpPr txBox="1"/>
          <p:nvPr/>
        </p:nvSpPr>
        <p:spPr>
          <a:xfrm>
            <a:off x="177631" y="1173824"/>
            <a:ext cx="11831489" cy="400110"/>
          </a:xfrm>
          <a:prstGeom prst="rect">
            <a:avLst/>
          </a:prstGeom>
          <a:noFill/>
        </p:spPr>
        <p:txBody>
          <a:bodyPr wrap="square" rtlCol="0">
            <a:spAutoFit/>
          </a:bodyPr>
          <a:lstStyle/>
          <a:p>
            <a:endParaRPr lang="en-US" sz="2000" dirty="0">
              <a:solidFill>
                <a:schemeClr val="bg1"/>
              </a:solidFill>
            </a:endParaRPr>
          </a:p>
        </p:txBody>
      </p:sp>
      <p:sp>
        <p:nvSpPr>
          <p:cNvPr id="7" name="TextBox 6">
            <a:extLst>
              <a:ext uri="{FF2B5EF4-FFF2-40B4-BE49-F238E27FC236}">
                <a16:creationId xmlns:a16="http://schemas.microsoft.com/office/drawing/2014/main" id="{960BD4ED-58F1-21E4-2E05-50ED2DA2367D}"/>
              </a:ext>
            </a:extLst>
          </p:cNvPr>
          <p:cNvSpPr txBox="1"/>
          <p:nvPr/>
        </p:nvSpPr>
        <p:spPr>
          <a:xfrm>
            <a:off x="177631" y="590239"/>
            <a:ext cx="7342842"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AWS Key concepts</a:t>
            </a:r>
          </a:p>
        </p:txBody>
      </p:sp>
      <p:sp>
        <p:nvSpPr>
          <p:cNvPr id="9" name="TextBox 8">
            <a:extLst>
              <a:ext uri="{FF2B5EF4-FFF2-40B4-BE49-F238E27FC236}">
                <a16:creationId xmlns:a16="http://schemas.microsoft.com/office/drawing/2014/main" id="{C451DE6E-C331-DF09-745E-F5D1EB855B3C}"/>
              </a:ext>
            </a:extLst>
          </p:cNvPr>
          <p:cNvSpPr txBox="1"/>
          <p:nvPr/>
        </p:nvSpPr>
        <p:spPr>
          <a:xfrm>
            <a:off x="269937" y="1173824"/>
            <a:ext cx="6218228" cy="461665"/>
          </a:xfrm>
          <a:prstGeom prst="rect">
            <a:avLst/>
          </a:prstGeom>
          <a:noFill/>
        </p:spPr>
        <p:txBody>
          <a:bodyPr wrap="square" rtlCol="0">
            <a:spAutoFit/>
          </a:bodyPr>
          <a:lstStyle/>
          <a:p>
            <a:r>
              <a:rPr lang="en-US" sz="2400" b="1" dirty="0">
                <a:solidFill>
                  <a:schemeClr val="bg1"/>
                </a:solidFill>
              </a:rPr>
              <a:t>High Availability (HA)</a:t>
            </a:r>
            <a:endParaRPr lang="en-US" sz="2400" dirty="0">
              <a:solidFill>
                <a:schemeClr val="bg1"/>
              </a:solidFill>
            </a:endParaRPr>
          </a:p>
        </p:txBody>
      </p:sp>
      <p:sp>
        <p:nvSpPr>
          <p:cNvPr id="2" name="TextBox 1">
            <a:extLst>
              <a:ext uri="{FF2B5EF4-FFF2-40B4-BE49-F238E27FC236}">
                <a16:creationId xmlns:a16="http://schemas.microsoft.com/office/drawing/2014/main" id="{1B62FCA5-FD35-F2A6-F8EA-DB5472F3AAF3}"/>
              </a:ext>
            </a:extLst>
          </p:cNvPr>
          <p:cNvSpPr txBox="1"/>
          <p:nvPr/>
        </p:nvSpPr>
        <p:spPr>
          <a:xfrm>
            <a:off x="177631" y="3528920"/>
            <a:ext cx="6218228" cy="461665"/>
          </a:xfrm>
          <a:prstGeom prst="rect">
            <a:avLst/>
          </a:prstGeom>
          <a:noFill/>
        </p:spPr>
        <p:txBody>
          <a:bodyPr wrap="square" rtlCol="0">
            <a:spAutoFit/>
          </a:bodyPr>
          <a:lstStyle/>
          <a:p>
            <a:r>
              <a:rPr lang="en-US" sz="2400" b="1" dirty="0">
                <a:solidFill>
                  <a:schemeClr val="bg1"/>
                </a:solidFill>
              </a:rPr>
              <a:t>Fault Tolerance (FT)</a:t>
            </a:r>
            <a:endParaRPr lang="en-US" sz="2400" dirty="0">
              <a:solidFill>
                <a:schemeClr val="bg1"/>
              </a:solidFill>
            </a:endParaRPr>
          </a:p>
        </p:txBody>
      </p:sp>
      <p:sp>
        <p:nvSpPr>
          <p:cNvPr id="5" name="TextBox 4">
            <a:extLst>
              <a:ext uri="{FF2B5EF4-FFF2-40B4-BE49-F238E27FC236}">
                <a16:creationId xmlns:a16="http://schemas.microsoft.com/office/drawing/2014/main" id="{CCBB29FC-8183-E4E8-3A2E-63591740DD7A}"/>
              </a:ext>
            </a:extLst>
          </p:cNvPr>
          <p:cNvSpPr txBox="1"/>
          <p:nvPr/>
        </p:nvSpPr>
        <p:spPr>
          <a:xfrm>
            <a:off x="177631" y="5222511"/>
            <a:ext cx="6218228" cy="461665"/>
          </a:xfrm>
          <a:prstGeom prst="rect">
            <a:avLst/>
          </a:prstGeom>
          <a:noFill/>
        </p:spPr>
        <p:txBody>
          <a:bodyPr wrap="square" rtlCol="0">
            <a:spAutoFit/>
          </a:bodyPr>
          <a:lstStyle/>
          <a:p>
            <a:r>
              <a:rPr lang="en-US" sz="2400" b="1" dirty="0">
                <a:solidFill>
                  <a:schemeClr val="bg1"/>
                </a:solidFill>
              </a:rPr>
              <a:t>Disaster Recovery (DR)</a:t>
            </a:r>
            <a:endParaRPr lang="en-US" sz="2400" dirty="0">
              <a:solidFill>
                <a:schemeClr val="bg1"/>
              </a:solidFill>
            </a:endParaRPr>
          </a:p>
        </p:txBody>
      </p:sp>
      <p:sp>
        <p:nvSpPr>
          <p:cNvPr id="3" name="TextBox 2">
            <a:extLst>
              <a:ext uri="{FF2B5EF4-FFF2-40B4-BE49-F238E27FC236}">
                <a16:creationId xmlns:a16="http://schemas.microsoft.com/office/drawing/2014/main" id="{1A6CEFD4-00FB-45B8-FE7E-01BA86FAE52A}"/>
              </a:ext>
            </a:extLst>
          </p:cNvPr>
          <p:cNvSpPr txBox="1"/>
          <p:nvPr/>
        </p:nvSpPr>
        <p:spPr>
          <a:xfrm>
            <a:off x="248501" y="1674674"/>
            <a:ext cx="6261100" cy="1754326"/>
          </a:xfrm>
          <a:prstGeom prst="rect">
            <a:avLst/>
          </a:prstGeom>
          <a:noFill/>
        </p:spPr>
        <p:txBody>
          <a:bodyPr wrap="square">
            <a:spAutoFit/>
          </a:bodyPr>
          <a:lstStyle/>
          <a:p>
            <a:r>
              <a:rPr lang="en-US" dirty="0">
                <a:solidFill>
                  <a:schemeClr val="bg1"/>
                </a:solidFill>
              </a:rPr>
              <a:t>High Availability refers to a system's ability to remain operational and accessible for a very high percentage of time. It aims to minimize downtime, ensuring services are continuously available to users.</a:t>
            </a:r>
          </a:p>
          <a:p>
            <a:r>
              <a:rPr lang="en-US" dirty="0">
                <a:solidFill>
                  <a:schemeClr val="bg1"/>
                </a:solidFill>
              </a:rPr>
              <a:t>Measured as a percentage of uptime (e.g., </a:t>
            </a:r>
            <a:r>
              <a:rPr lang="en-US" b="1" dirty="0">
                <a:solidFill>
                  <a:schemeClr val="bg1"/>
                </a:solidFill>
              </a:rPr>
              <a:t>99.9% availability</a:t>
            </a:r>
            <a:r>
              <a:rPr lang="en-US" dirty="0">
                <a:solidFill>
                  <a:schemeClr val="bg1"/>
                </a:solidFill>
              </a:rPr>
              <a:t> translates to ~8.76 hours of downtime annually).</a:t>
            </a:r>
            <a:endParaRPr lang="en-EG" dirty="0"/>
          </a:p>
        </p:txBody>
      </p:sp>
      <p:pic>
        <p:nvPicPr>
          <p:cNvPr id="10" name="Picture 9" descr="A blue clock with arrows&#10;&#10;Description automatically generated">
            <a:extLst>
              <a:ext uri="{FF2B5EF4-FFF2-40B4-BE49-F238E27FC236}">
                <a16:creationId xmlns:a16="http://schemas.microsoft.com/office/drawing/2014/main" id="{8E6CD632-21C1-07CF-3DD9-E3EC58883BE7}"/>
              </a:ext>
            </a:extLst>
          </p:cNvPr>
          <p:cNvPicPr>
            <a:picLocks noChangeAspect="1"/>
          </p:cNvPicPr>
          <p:nvPr/>
        </p:nvPicPr>
        <p:blipFill>
          <a:blip r:embed="rId2"/>
          <a:stretch>
            <a:fillRect/>
          </a:stretch>
        </p:blipFill>
        <p:spPr>
          <a:xfrm>
            <a:off x="7045263" y="990600"/>
            <a:ext cx="4876800" cy="4876800"/>
          </a:xfrm>
          <a:prstGeom prst="rect">
            <a:avLst/>
          </a:prstGeom>
        </p:spPr>
      </p:pic>
      <p:pic>
        <p:nvPicPr>
          <p:cNvPr id="11" name="Picture 10">
            <a:extLst>
              <a:ext uri="{FF2B5EF4-FFF2-40B4-BE49-F238E27FC236}">
                <a16:creationId xmlns:a16="http://schemas.microsoft.com/office/drawing/2014/main" id="{DCDE2E4A-D2C2-354B-0E83-6F1869781918}"/>
              </a:ext>
            </a:extLst>
          </p:cNvPr>
          <p:cNvPicPr>
            <a:picLocks noChangeAspect="1"/>
          </p:cNvPicPr>
          <p:nvPr/>
        </p:nvPicPr>
        <p:blipFill>
          <a:blip r:embed="rId3"/>
          <a:srcRect/>
          <a:stretch/>
        </p:blipFill>
        <p:spPr>
          <a:xfrm>
            <a:off x="12658524" y="1143000"/>
            <a:ext cx="4876800" cy="4876800"/>
          </a:xfrm>
          <a:prstGeom prst="rect">
            <a:avLst/>
          </a:prstGeom>
        </p:spPr>
      </p:pic>
    </p:spTree>
    <p:extLst>
      <p:ext uri="{BB962C8B-B14F-4D97-AF65-F5344CB8AC3E}">
        <p14:creationId xmlns:p14="http://schemas.microsoft.com/office/powerpoint/2010/main" val="3033099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1+#ppt_w/2"/>
                                          </p:val>
                                        </p:tav>
                                        <p:tav tm="100000">
                                          <p:val>
                                            <p:strVal val="#ppt_x"/>
                                          </p:val>
                                        </p:tav>
                                      </p:tavLst>
                                    </p:anim>
                                    <p:anim calcmode="lin" valueType="num">
                                      <p:cBhvr additive="base">
                                        <p:cTn id="13"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FC58C-3027-A859-B604-654A9EFE5EE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9875848-C42C-0C4C-5157-20CB36FECBC2}"/>
              </a:ext>
            </a:extLst>
          </p:cNvPr>
          <p:cNvSpPr txBox="1"/>
          <p:nvPr/>
        </p:nvSpPr>
        <p:spPr>
          <a:xfrm>
            <a:off x="177631" y="1173824"/>
            <a:ext cx="11831489" cy="400110"/>
          </a:xfrm>
          <a:prstGeom prst="rect">
            <a:avLst/>
          </a:prstGeom>
          <a:noFill/>
        </p:spPr>
        <p:txBody>
          <a:bodyPr wrap="square" rtlCol="0">
            <a:spAutoFit/>
          </a:bodyPr>
          <a:lstStyle/>
          <a:p>
            <a:endParaRPr lang="en-US" sz="2000" dirty="0">
              <a:solidFill>
                <a:schemeClr val="bg1"/>
              </a:solidFill>
            </a:endParaRPr>
          </a:p>
        </p:txBody>
      </p:sp>
      <p:sp>
        <p:nvSpPr>
          <p:cNvPr id="7" name="TextBox 6">
            <a:extLst>
              <a:ext uri="{FF2B5EF4-FFF2-40B4-BE49-F238E27FC236}">
                <a16:creationId xmlns:a16="http://schemas.microsoft.com/office/drawing/2014/main" id="{AAA47927-A655-9C42-A111-6AE63261B3A5}"/>
              </a:ext>
            </a:extLst>
          </p:cNvPr>
          <p:cNvSpPr txBox="1"/>
          <p:nvPr/>
        </p:nvSpPr>
        <p:spPr>
          <a:xfrm>
            <a:off x="177631" y="590239"/>
            <a:ext cx="7342842"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AWS Key concepts</a:t>
            </a:r>
          </a:p>
        </p:txBody>
      </p:sp>
      <p:sp>
        <p:nvSpPr>
          <p:cNvPr id="9" name="TextBox 8">
            <a:extLst>
              <a:ext uri="{FF2B5EF4-FFF2-40B4-BE49-F238E27FC236}">
                <a16:creationId xmlns:a16="http://schemas.microsoft.com/office/drawing/2014/main" id="{EB4E5C10-F8A5-64F8-F1BA-5632D85F4318}"/>
              </a:ext>
            </a:extLst>
          </p:cNvPr>
          <p:cNvSpPr txBox="1"/>
          <p:nvPr/>
        </p:nvSpPr>
        <p:spPr>
          <a:xfrm>
            <a:off x="269937" y="1173824"/>
            <a:ext cx="6218228" cy="461665"/>
          </a:xfrm>
          <a:prstGeom prst="rect">
            <a:avLst/>
          </a:prstGeom>
          <a:noFill/>
        </p:spPr>
        <p:txBody>
          <a:bodyPr wrap="square" rtlCol="0">
            <a:spAutoFit/>
          </a:bodyPr>
          <a:lstStyle/>
          <a:p>
            <a:r>
              <a:rPr lang="en-US" sz="2400" b="1" dirty="0">
                <a:solidFill>
                  <a:schemeClr val="bg1"/>
                </a:solidFill>
              </a:rPr>
              <a:t>High Availability (HA)</a:t>
            </a:r>
            <a:endParaRPr lang="en-US" sz="2400" dirty="0">
              <a:solidFill>
                <a:schemeClr val="bg1"/>
              </a:solidFill>
            </a:endParaRPr>
          </a:p>
        </p:txBody>
      </p:sp>
      <p:sp>
        <p:nvSpPr>
          <p:cNvPr id="2" name="TextBox 1">
            <a:extLst>
              <a:ext uri="{FF2B5EF4-FFF2-40B4-BE49-F238E27FC236}">
                <a16:creationId xmlns:a16="http://schemas.microsoft.com/office/drawing/2014/main" id="{D4D4F4ED-F27F-7FE8-9E50-94D4F2E52903}"/>
              </a:ext>
            </a:extLst>
          </p:cNvPr>
          <p:cNvSpPr txBox="1"/>
          <p:nvPr/>
        </p:nvSpPr>
        <p:spPr>
          <a:xfrm>
            <a:off x="177631" y="3528920"/>
            <a:ext cx="6218228" cy="461665"/>
          </a:xfrm>
          <a:prstGeom prst="rect">
            <a:avLst/>
          </a:prstGeom>
          <a:noFill/>
        </p:spPr>
        <p:txBody>
          <a:bodyPr wrap="square" rtlCol="0">
            <a:spAutoFit/>
          </a:bodyPr>
          <a:lstStyle/>
          <a:p>
            <a:r>
              <a:rPr lang="en-US" sz="2400" b="1" dirty="0">
                <a:solidFill>
                  <a:schemeClr val="bg1"/>
                </a:solidFill>
              </a:rPr>
              <a:t>Fault Tolerance (FT)</a:t>
            </a:r>
            <a:endParaRPr lang="en-US" sz="2400" dirty="0">
              <a:solidFill>
                <a:schemeClr val="bg1"/>
              </a:solidFill>
            </a:endParaRPr>
          </a:p>
        </p:txBody>
      </p:sp>
      <p:sp>
        <p:nvSpPr>
          <p:cNvPr id="5" name="TextBox 4">
            <a:extLst>
              <a:ext uri="{FF2B5EF4-FFF2-40B4-BE49-F238E27FC236}">
                <a16:creationId xmlns:a16="http://schemas.microsoft.com/office/drawing/2014/main" id="{C1E83CE9-3578-F727-3182-1EC971D31043}"/>
              </a:ext>
            </a:extLst>
          </p:cNvPr>
          <p:cNvSpPr txBox="1"/>
          <p:nvPr/>
        </p:nvSpPr>
        <p:spPr>
          <a:xfrm>
            <a:off x="177631" y="5222511"/>
            <a:ext cx="6218228" cy="461665"/>
          </a:xfrm>
          <a:prstGeom prst="rect">
            <a:avLst/>
          </a:prstGeom>
          <a:noFill/>
        </p:spPr>
        <p:txBody>
          <a:bodyPr wrap="square" rtlCol="0">
            <a:spAutoFit/>
          </a:bodyPr>
          <a:lstStyle/>
          <a:p>
            <a:r>
              <a:rPr lang="en-US" sz="2400" b="1" dirty="0">
                <a:solidFill>
                  <a:schemeClr val="bg1"/>
                </a:solidFill>
              </a:rPr>
              <a:t>Disaster Recovery (DR)</a:t>
            </a:r>
            <a:endParaRPr lang="en-US" sz="2400" dirty="0">
              <a:solidFill>
                <a:schemeClr val="bg1"/>
              </a:solidFill>
            </a:endParaRPr>
          </a:p>
        </p:txBody>
      </p:sp>
      <p:sp>
        <p:nvSpPr>
          <p:cNvPr id="8" name="TextBox 7">
            <a:extLst>
              <a:ext uri="{FF2B5EF4-FFF2-40B4-BE49-F238E27FC236}">
                <a16:creationId xmlns:a16="http://schemas.microsoft.com/office/drawing/2014/main" id="{2CA7DC31-85D3-B4A3-A3A0-A22F08DBC19D}"/>
              </a:ext>
            </a:extLst>
          </p:cNvPr>
          <p:cNvSpPr txBox="1"/>
          <p:nvPr/>
        </p:nvSpPr>
        <p:spPr>
          <a:xfrm>
            <a:off x="177631" y="4006383"/>
            <a:ext cx="6261100" cy="1200329"/>
          </a:xfrm>
          <a:prstGeom prst="rect">
            <a:avLst/>
          </a:prstGeom>
          <a:noFill/>
        </p:spPr>
        <p:txBody>
          <a:bodyPr wrap="square">
            <a:spAutoFit/>
          </a:bodyPr>
          <a:lstStyle/>
          <a:p>
            <a:r>
              <a:rPr lang="en-US" dirty="0">
                <a:solidFill>
                  <a:schemeClr val="bg1"/>
                </a:solidFill>
              </a:rPr>
              <a:t>Fault Tolerance ensures that a system continues to operate </a:t>
            </a:r>
            <a:r>
              <a:rPr lang="en-US" b="1" dirty="0">
                <a:solidFill>
                  <a:schemeClr val="bg1"/>
                </a:solidFill>
              </a:rPr>
              <a:t>without interruption</a:t>
            </a:r>
            <a:r>
              <a:rPr lang="en-US" dirty="0">
                <a:solidFill>
                  <a:schemeClr val="bg1"/>
                </a:solidFill>
              </a:rPr>
              <a:t> even if one or more components fail. This involves building systems that can withstand failures </a:t>
            </a:r>
            <a:r>
              <a:rPr lang="en-US" b="1" dirty="0">
                <a:solidFill>
                  <a:schemeClr val="bg1"/>
                </a:solidFill>
              </a:rPr>
              <a:t>seamlessly</a:t>
            </a:r>
            <a:r>
              <a:rPr lang="en-US" dirty="0">
                <a:solidFill>
                  <a:schemeClr val="bg1"/>
                </a:solidFill>
              </a:rPr>
              <a:t>.</a:t>
            </a:r>
            <a:endParaRPr lang="en-US" b="1" dirty="0">
              <a:solidFill>
                <a:schemeClr val="bg1"/>
              </a:solidFill>
            </a:endParaRPr>
          </a:p>
        </p:txBody>
      </p:sp>
      <p:pic>
        <p:nvPicPr>
          <p:cNvPr id="15" name="Picture 14">
            <a:extLst>
              <a:ext uri="{FF2B5EF4-FFF2-40B4-BE49-F238E27FC236}">
                <a16:creationId xmlns:a16="http://schemas.microsoft.com/office/drawing/2014/main" id="{FB625097-E68C-4D3F-BD6A-372ABFF16726}"/>
              </a:ext>
            </a:extLst>
          </p:cNvPr>
          <p:cNvPicPr>
            <a:picLocks noChangeAspect="1"/>
          </p:cNvPicPr>
          <p:nvPr/>
        </p:nvPicPr>
        <p:blipFill>
          <a:blip r:embed="rId2"/>
          <a:srcRect/>
          <a:stretch/>
        </p:blipFill>
        <p:spPr>
          <a:xfrm>
            <a:off x="6810242" y="1143000"/>
            <a:ext cx="4876800" cy="4876800"/>
          </a:xfrm>
          <a:prstGeom prst="rect">
            <a:avLst/>
          </a:prstGeom>
        </p:spPr>
      </p:pic>
      <p:pic>
        <p:nvPicPr>
          <p:cNvPr id="16" name="Picture 15" descr="A blue clock with arrows&#10;&#10;Description automatically generated">
            <a:extLst>
              <a:ext uri="{FF2B5EF4-FFF2-40B4-BE49-F238E27FC236}">
                <a16:creationId xmlns:a16="http://schemas.microsoft.com/office/drawing/2014/main" id="{1C89BDC4-4AF6-9A1D-BFBE-1B50268688ED}"/>
              </a:ext>
            </a:extLst>
          </p:cNvPr>
          <p:cNvPicPr>
            <a:picLocks noChangeAspect="1"/>
          </p:cNvPicPr>
          <p:nvPr/>
        </p:nvPicPr>
        <p:blipFill>
          <a:blip r:embed="rId3"/>
          <a:stretch>
            <a:fillRect/>
          </a:stretch>
        </p:blipFill>
        <p:spPr>
          <a:xfrm>
            <a:off x="12670208" y="990600"/>
            <a:ext cx="4876800" cy="4876800"/>
          </a:xfrm>
          <a:prstGeom prst="rect">
            <a:avLst/>
          </a:prstGeom>
        </p:spPr>
      </p:pic>
      <p:sp>
        <p:nvSpPr>
          <p:cNvPr id="17" name="TextBox 16">
            <a:extLst>
              <a:ext uri="{FF2B5EF4-FFF2-40B4-BE49-F238E27FC236}">
                <a16:creationId xmlns:a16="http://schemas.microsoft.com/office/drawing/2014/main" id="{98FDB9FF-5E45-E22C-35D6-3136B5219655}"/>
              </a:ext>
            </a:extLst>
          </p:cNvPr>
          <p:cNvSpPr txBox="1"/>
          <p:nvPr/>
        </p:nvSpPr>
        <p:spPr>
          <a:xfrm>
            <a:off x="248501" y="1674674"/>
            <a:ext cx="6261100" cy="1754326"/>
          </a:xfrm>
          <a:prstGeom prst="rect">
            <a:avLst/>
          </a:prstGeom>
          <a:noFill/>
        </p:spPr>
        <p:txBody>
          <a:bodyPr wrap="square">
            <a:spAutoFit/>
          </a:bodyPr>
          <a:lstStyle/>
          <a:p>
            <a:r>
              <a:rPr lang="en-US" dirty="0">
                <a:solidFill>
                  <a:schemeClr val="bg1"/>
                </a:solidFill>
              </a:rPr>
              <a:t>High Availability refers to a system's ability to remain operational and accessible for a very high percentage of time. It aims to minimize downtime, ensuring services are continuously available to users.</a:t>
            </a:r>
          </a:p>
          <a:p>
            <a:r>
              <a:rPr lang="en-US" dirty="0">
                <a:solidFill>
                  <a:schemeClr val="bg1"/>
                </a:solidFill>
              </a:rPr>
              <a:t>Measured as a percentage of uptime (e.g., </a:t>
            </a:r>
            <a:r>
              <a:rPr lang="en-US" b="1" dirty="0">
                <a:solidFill>
                  <a:schemeClr val="bg1"/>
                </a:solidFill>
              </a:rPr>
              <a:t>99.9% availability</a:t>
            </a:r>
            <a:r>
              <a:rPr lang="en-US" dirty="0">
                <a:solidFill>
                  <a:schemeClr val="bg1"/>
                </a:solidFill>
              </a:rPr>
              <a:t> translates to ~8.76 hours of downtime annually).</a:t>
            </a:r>
            <a:endParaRPr lang="en-EG" dirty="0"/>
          </a:p>
        </p:txBody>
      </p:sp>
      <p:pic>
        <p:nvPicPr>
          <p:cNvPr id="18" name="Picture 17" descr="A blue icon with a fire flame and a blue fire on top of it&#10;&#10;Description automatically generated">
            <a:extLst>
              <a:ext uri="{FF2B5EF4-FFF2-40B4-BE49-F238E27FC236}">
                <a16:creationId xmlns:a16="http://schemas.microsoft.com/office/drawing/2014/main" id="{1D107B28-79B1-F5FA-C3A4-08E232E8019E}"/>
              </a:ext>
            </a:extLst>
          </p:cNvPr>
          <p:cNvPicPr>
            <a:picLocks noChangeAspect="1"/>
          </p:cNvPicPr>
          <p:nvPr/>
        </p:nvPicPr>
        <p:blipFill>
          <a:blip r:embed="rId4"/>
          <a:stretch>
            <a:fillRect/>
          </a:stretch>
        </p:blipFill>
        <p:spPr>
          <a:xfrm>
            <a:off x="12992286" y="1051904"/>
            <a:ext cx="4876800" cy="4876800"/>
          </a:xfrm>
          <a:prstGeom prst="rect">
            <a:avLst/>
          </a:prstGeom>
        </p:spPr>
      </p:pic>
    </p:spTree>
    <p:extLst>
      <p:ext uri="{BB962C8B-B14F-4D97-AF65-F5344CB8AC3E}">
        <p14:creationId xmlns:p14="http://schemas.microsoft.com/office/powerpoint/2010/main" val="156702456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14C59-31FC-45EB-A25A-EED8BFC36EE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BE691DA-DCE4-4B1A-FB8E-6720EF2120F4}"/>
              </a:ext>
            </a:extLst>
          </p:cNvPr>
          <p:cNvSpPr txBox="1"/>
          <p:nvPr/>
        </p:nvSpPr>
        <p:spPr>
          <a:xfrm>
            <a:off x="177631" y="1173824"/>
            <a:ext cx="11831489" cy="400110"/>
          </a:xfrm>
          <a:prstGeom prst="rect">
            <a:avLst/>
          </a:prstGeom>
          <a:noFill/>
        </p:spPr>
        <p:txBody>
          <a:bodyPr wrap="square" rtlCol="0">
            <a:spAutoFit/>
          </a:bodyPr>
          <a:lstStyle/>
          <a:p>
            <a:endParaRPr lang="en-US" sz="2000" dirty="0">
              <a:solidFill>
                <a:schemeClr val="bg1"/>
              </a:solidFill>
            </a:endParaRPr>
          </a:p>
        </p:txBody>
      </p:sp>
      <p:sp>
        <p:nvSpPr>
          <p:cNvPr id="7" name="TextBox 6">
            <a:extLst>
              <a:ext uri="{FF2B5EF4-FFF2-40B4-BE49-F238E27FC236}">
                <a16:creationId xmlns:a16="http://schemas.microsoft.com/office/drawing/2014/main" id="{3DE9273E-54AE-998D-E9E8-CCFD874DEED8}"/>
              </a:ext>
            </a:extLst>
          </p:cNvPr>
          <p:cNvSpPr txBox="1"/>
          <p:nvPr/>
        </p:nvSpPr>
        <p:spPr>
          <a:xfrm>
            <a:off x="177631" y="590239"/>
            <a:ext cx="7342842"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AWS Key concepts</a:t>
            </a:r>
          </a:p>
        </p:txBody>
      </p:sp>
      <p:sp>
        <p:nvSpPr>
          <p:cNvPr id="9" name="TextBox 8">
            <a:extLst>
              <a:ext uri="{FF2B5EF4-FFF2-40B4-BE49-F238E27FC236}">
                <a16:creationId xmlns:a16="http://schemas.microsoft.com/office/drawing/2014/main" id="{0C8420C0-E901-4035-4C5B-D422A06A6478}"/>
              </a:ext>
            </a:extLst>
          </p:cNvPr>
          <p:cNvSpPr txBox="1"/>
          <p:nvPr/>
        </p:nvSpPr>
        <p:spPr>
          <a:xfrm>
            <a:off x="269937" y="1173824"/>
            <a:ext cx="6218228" cy="461665"/>
          </a:xfrm>
          <a:prstGeom prst="rect">
            <a:avLst/>
          </a:prstGeom>
          <a:noFill/>
        </p:spPr>
        <p:txBody>
          <a:bodyPr wrap="square" rtlCol="0">
            <a:spAutoFit/>
          </a:bodyPr>
          <a:lstStyle/>
          <a:p>
            <a:r>
              <a:rPr lang="en-US" sz="2400" b="1" dirty="0">
                <a:solidFill>
                  <a:schemeClr val="bg1"/>
                </a:solidFill>
              </a:rPr>
              <a:t>High Availability (HA)</a:t>
            </a:r>
            <a:endParaRPr lang="en-US" sz="2400" dirty="0">
              <a:solidFill>
                <a:schemeClr val="bg1"/>
              </a:solidFill>
            </a:endParaRPr>
          </a:p>
        </p:txBody>
      </p:sp>
      <p:sp>
        <p:nvSpPr>
          <p:cNvPr id="2" name="TextBox 1">
            <a:extLst>
              <a:ext uri="{FF2B5EF4-FFF2-40B4-BE49-F238E27FC236}">
                <a16:creationId xmlns:a16="http://schemas.microsoft.com/office/drawing/2014/main" id="{4DF0EE35-378C-3610-CADD-5E2F8F431FAB}"/>
              </a:ext>
            </a:extLst>
          </p:cNvPr>
          <p:cNvSpPr txBox="1"/>
          <p:nvPr/>
        </p:nvSpPr>
        <p:spPr>
          <a:xfrm>
            <a:off x="177631" y="3528920"/>
            <a:ext cx="6218228" cy="461665"/>
          </a:xfrm>
          <a:prstGeom prst="rect">
            <a:avLst/>
          </a:prstGeom>
          <a:noFill/>
        </p:spPr>
        <p:txBody>
          <a:bodyPr wrap="square" rtlCol="0">
            <a:spAutoFit/>
          </a:bodyPr>
          <a:lstStyle/>
          <a:p>
            <a:r>
              <a:rPr lang="en-US" sz="2400" b="1" dirty="0">
                <a:solidFill>
                  <a:schemeClr val="bg1"/>
                </a:solidFill>
              </a:rPr>
              <a:t>Fault Tolerance (FT)</a:t>
            </a:r>
            <a:endParaRPr lang="en-US" sz="2400" dirty="0">
              <a:solidFill>
                <a:schemeClr val="bg1"/>
              </a:solidFill>
            </a:endParaRPr>
          </a:p>
        </p:txBody>
      </p:sp>
      <p:sp>
        <p:nvSpPr>
          <p:cNvPr id="5" name="TextBox 4">
            <a:extLst>
              <a:ext uri="{FF2B5EF4-FFF2-40B4-BE49-F238E27FC236}">
                <a16:creationId xmlns:a16="http://schemas.microsoft.com/office/drawing/2014/main" id="{9DD6A41C-745A-C354-64E9-404AEB7DF6CF}"/>
              </a:ext>
            </a:extLst>
          </p:cNvPr>
          <p:cNvSpPr txBox="1"/>
          <p:nvPr/>
        </p:nvSpPr>
        <p:spPr>
          <a:xfrm>
            <a:off x="177631" y="5222511"/>
            <a:ext cx="6218228" cy="461665"/>
          </a:xfrm>
          <a:prstGeom prst="rect">
            <a:avLst/>
          </a:prstGeom>
          <a:noFill/>
        </p:spPr>
        <p:txBody>
          <a:bodyPr wrap="square" rtlCol="0">
            <a:spAutoFit/>
          </a:bodyPr>
          <a:lstStyle/>
          <a:p>
            <a:r>
              <a:rPr lang="en-US" sz="2400" b="1" dirty="0">
                <a:solidFill>
                  <a:schemeClr val="bg1"/>
                </a:solidFill>
              </a:rPr>
              <a:t>Disaster Recovery (DR)</a:t>
            </a:r>
            <a:endParaRPr lang="en-US" sz="2400" dirty="0">
              <a:solidFill>
                <a:schemeClr val="bg1"/>
              </a:solidFill>
            </a:endParaRPr>
          </a:p>
        </p:txBody>
      </p:sp>
      <p:sp>
        <p:nvSpPr>
          <p:cNvPr id="3" name="TextBox 2">
            <a:extLst>
              <a:ext uri="{FF2B5EF4-FFF2-40B4-BE49-F238E27FC236}">
                <a16:creationId xmlns:a16="http://schemas.microsoft.com/office/drawing/2014/main" id="{06F9450F-2197-7C97-B736-12DF5A1D73A6}"/>
              </a:ext>
            </a:extLst>
          </p:cNvPr>
          <p:cNvSpPr txBox="1"/>
          <p:nvPr/>
        </p:nvSpPr>
        <p:spPr>
          <a:xfrm>
            <a:off x="248501" y="1674674"/>
            <a:ext cx="6261100" cy="1754326"/>
          </a:xfrm>
          <a:prstGeom prst="rect">
            <a:avLst/>
          </a:prstGeom>
          <a:noFill/>
        </p:spPr>
        <p:txBody>
          <a:bodyPr wrap="square">
            <a:spAutoFit/>
          </a:bodyPr>
          <a:lstStyle/>
          <a:p>
            <a:r>
              <a:rPr lang="en-US" dirty="0">
                <a:solidFill>
                  <a:schemeClr val="bg1"/>
                </a:solidFill>
              </a:rPr>
              <a:t>High Availability refers to a system's ability to remain operational and accessible for a very high percentage of time. It aims to minimize downtime, ensuring services are continuously available to users.</a:t>
            </a:r>
          </a:p>
          <a:p>
            <a:r>
              <a:rPr lang="en-US" dirty="0">
                <a:solidFill>
                  <a:schemeClr val="bg1"/>
                </a:solidFill>
              </a:rPr>
              <a:t>Measured as a percentage of uptime (e.g., </a:t>
            </a:r>
            <a:r>
              <a:rPr lang="en-US" b="1" dirty="0">
                <a:solidFill>
                  <a:schemeClr val="bg1"/>
                </a:solidFill>
              </a:rPr>
              <a:t>99.9% availability</a:t>
            </a:r>
            <a:r>
              <a:rPr lang="en-US" dirty="0">
                <a:solidFill>
                  <a:schemeClr val="bg1"/>
                </a:solidFill>
              </a:rPr>
              <a:t> translates to ~8.76 hours of downtime annually).</a:t>
            </a:r>
            <a:endParaRPr lang="en-EG" dirty="0"/>
          </a:p>
        </p:txBody>
      </p:sp>
      <p:sp>
        <p:nvSpPr>
          <p:cNvPr id="8" name="TextBox 7">
            <a:extLst>
              <a:ext uri="{FF2B5EF4-FFF2-40B4-BE49-F238E27FC236}">
                <a16:creationId xmlns:a16="http://schemas.microsoft.com/office/drawing/2014/main" id="{540CC0A7-E3B9-9FB7-28C7-D4A16A4944DA}"/>
              </a:ext>
            </a:extLst>
          </p:cNvPr>
          <p:cNvSpPr txBox="1"/>
          <p:nvPr/>
        </p:nvSpPr>
        <p:spPr>
          <a:xfrm>
            <a:off x="177631" y="4006383"/>
            <a:ext cx="6261100" cy="1200329"/>
          </a:xfrm>
          <a:prstGeom prst="rect">
            <a:avLst/>
          </a:prstGeom>
          <a:noFill/>
        </p:spPr>
        <p:txBody>
          <a:bodyPr wrap="square">
            <a:spAutoFit/>
          </a:bodyPr>
          <a:lstStyle/>
          <a:p>
            <a:r>
              <a:rPr lang="en-US" dirty="0">
                <a:solidFill>
                  <a:schemeClr val="bg1"/>
                </a:solidFill>
              </a:rPr>
              <a:t>Fault Tolerance ensures that a system continues to operate </a:t>
            </a:r>
            <a:r>
              <a:rPr lang="en-US" b="1" dirty="0">
                <a:solidFill>
                  <a:schemeClr val="bg1"/>
                </a:solidFill>
              </a:rPr>
              <a:t>without interruption</a:t>
            </a:r>
            <a:r>
              <a:rPr lang="en-US" dirty="0">
                <a:solidFill>
                  <a:schemeClr val="bg1"/>
                </a:solidFill>
              </a:rPr>
              <a:t> even if one or more components fail. This involves building systems that can withstand failures </a:t>
            </a:r>
            <a:r>
              <a:rPr lang="en-US" b="1" dirty="0">
                <a:solidFill>
                  <a:schemeClr val="bg1"/>
                </a:solidFill>
              </a:rPr>
              <a:t>seamlessly</a:t>
            </a:r>
            <a:r>
              <a:rPr lang="en-US" dirty="0">
                <a:solidFill>
                  <a:schemeClr val="bg1"/>
                </a:solidFill>
              </a:rPr>
              <a:t>.</a:t>
            </a:r>
            <a:endParaRPr lang="en-US" b="1" dirty="0">
              <a:solidFill>
                <a:schemeClr val="bg1"/>
              </a:solidFill>
            </a:endParaRPr>
          </a:p>
        </p:txBody>
      </p:sp>
      <p:sp>
        <p:nvSpPr>
          <p:cNvPr id="10" name="TextBox 9">
            <a:extLst>
              <a:ext uri="{FF2B5EF4-FFF2-40B4-BE49-F238E27FC236}">
                <a16:creationId xmlns:a16="http://schemas.microsoft.com/office/drawing/2014/main" id="{A9719CF2-E953-490A-B42E-C6F6A01FA222}"/>
              </a:ext>
            </a:extLst>
          </p:cNvPr>
          <p:cNvSpPr txBox="1"/>
          <p:nvPr/>
        </p:nvSpPr>
        <p:spPr>
          <a:xfrm>
            <a:off x="177631" y="5657671"/>
            <a:ext cx="6261100" cy="1200329"/>
          </a:xfrm>
          <a:prstGeom prst="rect">
            <a:avLst/>
          </a:prstGeom>
          <a:noFill/>
        </p:spPr>
        <p:txBody>
          <a:bodyPr wrap="square">
            <a:spAutoFit/>
          </a:bodyPr>
          <a:lstStyle/>
          <a:p>
            <a:r>
              <a:rPr lang="en-US" dirty="0">
                <a:solidFill>
                  <a:schemeClr val="bg1"/>
                </a:solidFill>
              </a:rPr>
              <a:t>Disaster Recovery refers to the process and infrastructure set up to </a:t>
            </a:r>
            <a:r>
              <a:rPr lang="en-US" b="1" dirty="0">
                <a:solidFill>
                  <a:schemeClr val="bg1"/>
                </a:solidFill>
              </a:rPr>
              <a:t>restore operations after a catastrophic event</a:t>
            </a:r>
            <a:r>
              <a:rPr lang="en-US" dirty="0">
                <a:solidFill>
                  <a:schemeClr val="bg1"/>
                </a:solidFill>
              </a:rPr>
              <a:t>, such as data center failures, natural disasters, or cybersecurity incidents.</a:t>
            </a:r>
          </a:p>
        </p:txBody>
      </p:sp>
      <p:pic>
        <p:nvPicPr>
          <p:cNvPr id="12" name="Picture 11" descr="A blue icon with a fire flame and a blue fire on top of it&#10;&#10;Description automatically generated">
            <a:extLst>
              <a:ext uri="{FF2B5EF4-FFF2-40B4-BE49-F238E27FC236}">
                <a16:creationId xmlns:a16="http://schemas.microsoft.com/office/drawing/2014/main" id="{13324BDD-1768-021E-910F-5EF2F90C7FC9}"/>
              </a:ext>
            </a:extLst>
          </p:cNvPr>
          <p:cNvPicPr>
            <a:picLocks noChangeAspect="1"/>
          </p:cNvPicPr>
          <p:nvPr/>
        </p:nvPicPr>
        <p:blipFill>
          <a:blip r:embed="rId2"/>
          <a:stretch>
            <a:fillRect/>
          </a:stretch>
        </p:blipFill>
        <p:spPr>
          <a:xfrm>
            <a:off x="7153756" y="1051904"/>
            <a:ext cx="4876800" cy="4876800"/>
          </a:xfrm>
          <a:prstGeom prst="rect">
            <a:avLst/>
          </a:prstGeom>
        </p:spPr>
      </p:pic>
      <p:pic>
        <p:nvPicPr>
          <p:cNvPr id="13" name="Picture 12">
            <a:extLst>
              <a:ext uri="{FF2B5EF4-FFF2-40B4-BE49-F238E27FC236}">
                <a16:creationId xmlns:a16="http://schemas.microsoft.com/office/drawing/2014/main" id="{04F54E7C-FEFD-7E3D-7179-0F50D8305414}"/>
              </a:ext>
            </a:extLst>
          </p:cNvPr>
          <p:cNvPicPr>
            <a:picLocks noChangeAspect="1"/>
          </p:cNvPicPr>
          <p:nvPr/>
        </p:nvPicPr>
        <p:blipFill>
          <a:blip r:embed="rId3"/>
          <a:srcRect/>
          <a:stretch/>
        </p:blipFill>
        <p:spPr>
          <a:xfrm>
            <a:off x="12653275" y="1143000"/>
            <a:ext cx="4876800" cy="4876800"/>
          </a:xfrm>
          <a:prstGeom prst="rect">
            <a:avLst/>
          </a:prstGeom>
        </p:spPr>
      </p:pic>
    </p:spTree>
    <p:extLst>
      <p:ext uri="{BB962C8B-B14F-4D97-AF65-F5344CB8AC3E}">
        <p14:creationId xmlns:p14="http://schemas.microsoft.com/office/powerpoint/2010/main" val="17199612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92E99-4B14-E2A7-AE9C-4D3A9D6FBFC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5943A07-CFE2-A9F8-52A1-AAA4D0316A07}"/>
              </a:ext>
            </a:extLst>
          </p:cNvPr>
          <p:cNvSpPr txBox="1"/>
          <p:nvPr/>
        </p:nvSpPr>
        <p:spPr>
          <a:xfrm>
            <a:off x="177631" y="1173824"/>
            <a:ext cx="11831489" cy="400110"/>
          </a:xfrm>
          <a:prstGeom prst="rect">
            <a:avLst/>
          </a:prstGeom>
          <a:noFill/>
        </p:spPr>
        <p:txBody>
          <a:bodyPr wrap="square" rtlCol="0">
            <a:spAutoFit/>
          </a:bodyPr>
          <a:lstStyle/>
          <a:p>
            <a:endParaRPr lang="en-US" sz="2000" dirty="0">
              <a:solidFill>
                <a:schemeClr val="bg1"/>
              </a:solidFill>
            </a:endParaRPr>
          </a:p>
        </p:txBody>
      </p:sp>
      <p:sp>
        <p:nvSpPr>
          <p:cNvPr id="7" name="TextBox 6">
            <a:extLst>
              <a:ext uri="{FF2B5EF4-FFF2-40B4-BE49-F238E27FC236}">
                <a16:creationId xmlns:a16="http://schemas.microsoft.com/office/drawing/2014/main" id="{C97297CD-A67B-761F-687D-5D407373841C}"/>
              </a:ext>
            </a:extLst>
          </p:cNvPr>
          <p:cNvSpPr txBox="1"/>
          <p:nvPr/>
        </p:nvSpPr>
        <p:spPr>
          <a:xfrm>
            <a:off x="177631" y="590239"/>
            <a:ext cx="7342842"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AWS Key Services</a:t>
            </a:r>
          </a:p>
        </p:txBody>
      </p:sp>
      <p:sp>
        <p:nvSpPr>
          <p:cNvPr id="3" name="TextBox 2">
            <a:extLst>
              <a:ext uri="{FF2B5EF4-FFF2-40B4-BE49-F238E27FC236}">
                <a16:creationId xmlns:a16="http://schemas.microsoft.com/office/drawing/2014/main" id="{462336A0-7048-662B-8F74-C1C858F373D5}"/>
              </a:ext>
            </a:extLst>
          </p:cNvPr>
          <p:cNvSpPr txBox="1"/>
          <p:nvPr/>
        </p:nvSpPr>
        <p:spPr>
          <a:xfrm>
            <a:off x="291930" y="1695854"/>
            <a:ext cx="7437607" cy="4202882"/>
          </a:xfrm>
          <a:prstGeom prst="rect">
            <a:avLst/>
          </a:prstGeom>
          <a:noFill/>
        </p:spPr>
        <p:txBody>
          <a:bodyPr wrap="square">
            <a:spAutoFit/>
          </a:bodyPr>
          <a:lstStyle/>
          <a:p>
            <a:pPr>
              <a:lnSpc>
                <a:spcPct val="150000"/>
              </a:lnSpc>
              <a:buFont typeface="Arial" panose="020B0604020202020204" pitchFamily="34" charset="0"/>
              <a:buChar char="•"/>
            </a:pPr>
            <a:r>
              <a:rPr lang="en-US" sz="2000" b="1" dirty="0">
                <a:solidFill>
                  <a:schemeClr val="bg1"/>
                </a:solidFill>
              </a:rPr>
              <a:t> Purpose</a:t>
            </a:r>
            <a:r>
              <a:rPr lang="en-US" sz="2000" dirty="0">
                <a:solidFill>
                  <a:schemeClr val="bg1"/>
                </a:solidFill>
              </a:rPr>
              <a:t>: Manage access to AWS services/resources securely.</a:t>
            </a:r>
          </a:p>
          <a:p>
            <a:pPr>
              <a:lnSpc>
                <a:spcPct val="150000"/>
              </a:lnSpc>
              <a:buFont typeface="Arial" panose="020B0604020202020204" pitchFamily="34" charset="0"/>
              <a:buChar char="•"/>
            </a:pPr>
            <a:r>
              <a:rPr lang="en-US" sz="2000" b="1" dirty="0">
                <a:solidFill>
                  <a:schemeClr val="bg1"/>
                </a:solidFill>
              </a:rPr>
              <a:t> Users</a:t>
            </a:r>
            <a:r>
              <a:rPr lang="en-US" sz="2000" dirty="0">
                <a:solidFill>
                  <a:schemeClr val="bg1"/>
                </a:solidFill>
              </a:rPr>
              <a:t>: Individual accounts representing people or apps.</a:t>
            </a:r>
          </a:p>
          <a:p>
            <a:pPr>
              <a:lnSpc>
                <a:spcPct val="150000"/>
              </a:lnSpc>
              <a:buFont typeface="Arial" panose="020B0604020202020204" pitchFamily="34" charset="0"/>
              <a:buChar char="•"/>
            </a:pPr>
            <a:r>
              <a:rPr lang="en-US" sz="2000" b="1" dirty="0">
                <a:solidFill>
                  <a:schemeClr val="bg1"/>
                </a:solidFill>
              </a:rPr>
              <a:t> Groups</a:t>
            </a:r>
            <a:r>
              <a:rPr lang="en-US" sz="2000" dirty="0">
                <a:solidFill>
                  <a:schemeClr val="bg1"/>
                </a:solidFill>
              </a:rPr>
              <a:t>: Collection of users sharing permissions.</a:t>
            </a:r>
          </a:p>
          <a:p>
            <a:pPr>
              <a:lnSpc>
                <a:spcPct val="150000"/>
              </a:lnSpc>
              <a:buFont typeface="Arial" panose="020B0604020202020204" pitchFamily="34" charset="0"/>
              <a:buChar char="•"/>
            </a:pPr>
            <a:r>
              <a:rPr lang="en-US" sz="2000" b="1" dirty="0">
                <a:solidFill>
                  <a:schemeClr val="bg1"/>
                </a:solidFill>
              </a:rPr>
              <a:t> Roles</a:t>
            </a:r>
            <a:r>
              <a:rPr lang="en-US" sz="2000" dirty="0">
                <a:solidFill>
                  <a:schemeClr val="bg1"/>
                </a:solidFill>
              </a:rPr>
              <a:t>: Temporary access for AWS services or federated users.</a:t>
            </a:r>
          </a:p>
          <a:p>
            <a:pPr>
              <a:lnSpc>
                <a:spcPct val="150000"/>
              </a:lnSpc>
              <a:buFont typeface="Arial" panose="020B0604020202020204" pitchFamily="34" charset="0"/>
              <a:buChar char="•"/>
            </a:pPr>
            <a:r>
              <a:rPr lang="en-US" sz="2000" b="1" dirty="0">
                <a:solidFill>
                  <a:schemeClr val="bg1"/>
                </a:solidFill>
              </a:rPr>
              <a:t> Policies</a:t>
            </a:r>
            <a:r>
              <a:rPr lang="en-US" sz="2000" dirty="0">
                <a:solidFill>
                  <a:schemeClr val="bg1"/>
                </a:solidFill>
              </a:rPr>
              <a:t>: JSON documents defining permissions (allow/deny actions).</a:t>
            </a:r>
          </a:p>
          <a:p>
            <a:pPr>
              <a:lnSpc>
                <a:spcPct val="150000"/>
              </a:lnSpc>
              <a:buFont typeface="Arial" panose="020B0604020202020204" pitchFamily="34" charset="0"/>
              <a:buChar char="•"/>
            </a:pPr>
            <a:r>
              <a:rPr lang="en-US" sz="2000" b="1" dirty="0">
                <a:solidFill>
                  <a:schemeClr val="bg1"/>
                </a:solidFill>
              </a:rPr>
              <a:t> Best Practices</a:t>
            </a:r>
            <a:r>
              <a:rPr lang="en-US" sz="2000" dirty="0">
                <a:solidFill>
                  <a:schemeClr val="bg1"/>
                </a:solidFill>
              </a:rPr>
              <a:t>:	</a:t>
            </a:r>
          </a:p>
          <a:p>
            <a:pPr lvl="1">
              <a:lnSpc>
                <a:spcPct val="150000"/>
              </a:lnSpc>
              <a:buFont typeface="Arial" panose="020B0604020202020204" pitchFamily="34" charset="0"/>
              <a:buChar char="•"/>
            </a:pPr>
            <a:r>
              <a:rPr lang="en-US" sz="2000" dirty="0">
                <a:solidFill>
                  <a:schemeClr val="bg1"/>
                </a:solidFill>
              </a:rPr>
              <a:t> Enable MFA for users.</a:t>
            </a:r>
          </a:p>
          <a:p>
            <a:pPr lvl="1">
              <a:lnSpc>
                <a:spcPct val="150000"/>
              </a:lnSpc>
              <a:buFont typeface="Arial" panose="020B0604020202020204" pitchFamily="34" charset="0"/>
              <a:buChar char="•"/>
            </a:pPr>
            <a:r>
              <a:rPr lang="en-US" sz="2000" dirty="0">
                <a:solidFill>
                  <a:schemeClr val="bg1"/>
                </a:solidFill>
              </a:rPr>
              <a:t> Use least privilege principles.</a:t>
            </a:r>
          </a:p>
        </p:txBody>
      </p:sp>
      <p:sp>
        <p:nvSpPr>
          <p:cNvPr id="15" name="TextBox 14">
            <a:extLst>
              <a:ext uri="{FF2B5EF4-FFF2-40B4-BE49-F238E27FC236}">
                <a16:creationId xmlns:a16="http://schemas.microsoft.com/office/drawing/2014/main" id="{6BCC5D11-577D-4E44-7A70-72B843BE0E8C}"/>
              </a:ext>
            </a:extLst>
          </p:cNvPr>
          <p:cNvSpPr txBox="1"/>
          <p:nvPr/>
        </p:nvSpPr>
        <p:spPr>
          <a:xfrm>
            <a:off x="177631" y="1051904"/>
            <a:ext cx="6513771" cy="523220"/>
          </a:xfrm>
          <a:prstGeom prst="rect">
            <a:avLst/>
          </a:prstGeom>
          <a:noFill/>
        </p:spPr>
        <p:txBody>
          <a:bodyPr wrap="none" rtlCol="0">
            <a:spAutoFit/>
          </a:bodyPr>
          <a:lstStyle/>
          <a:p>
            <a:r>
              <a:rPr lang="en-EG" sz="2800" b="1" dirty="0">
                <a:solidFill>
                  <a:schemeClr val="bg1"/>
                </a:solidFill>
              </a:rPr>
              <a:t>Identity and Access Management (IAM)</a:t>
            </a:r>
          </a:p>
        </p:txBody>
      </p:sp>
      <p:pic>
        <p:nvPicPr>
          <p:cNvPr id="4" name="Picture 3">
            <a:extLst>
              <a:ext uri="{FF2B5EF4-FFF2-40B4-BE49-F238E27FC236}">
                <a16:creationId xmlns:a16="http://schemas.microsoft.com/office/drawing/2014/main" id="{4A5BD499-918A-6C68-955A-F0C97422C556}"/>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8467894" y="829886"/>
            <a:ext cx="3503612" cy="3503612"/>
          </a:xfrm>
          <a:prstGeom prst="rect">
            <a:avLst/>
          </a:prstGeom>
        </p:spPr>
      </p:pic>
    </p:spTree>
    <p:extLst>
      <p:ext uri="{BB962C8B-B14F-4D97-AF65-F5344CB8AC3E}">
        <p14:creationId xmlns:p14="http://schemas.microsoft.com/office/powerpoint/2010/main" val="10308114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0-#ppt_w/2"/>
                                          </p:val>
                                        </p:tav>
                                        <p:tav tm="100000">
                                          <p:val>
                                            <p:strVal val="#ppt_x"/>
                                          </p:val>
                                        </p:tav>
                                      </p:tavLst>
                                    </p:anim>
                                    <p:anim calcmode="lin" valueType="num">
                                      <p:cBhvr additive="base">
                                        <p:cTn id="14"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0-#ppt_w/2"/>
                                          </p:val>
                                        </p:tav>
                                        <p:tav tm="100000">
                                          <p:val>
                                            <p:strVal val="#ppt_x"/>
                                          </p:val>
                                        </p:tav>
                                      </p:tavLst>
                                    </p:anim>
                                    <p:anim calcmode="lin" valueType="num">
                                      <p:cBhvr additive="base">
                                        <p:cTn id="20" dur="500" fill="hold"/>
                                        <p:tgtEl>
                                          <p:spTgt spid="3"/>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1+#ppt_w/2"/>
                                          </p:val>
                                        </p:tav>
                                        <p:tav tm="100000">
                                          <p:val>
                                            <p:strVal val="#ppt_x"/>
                                          </p:val>
                                        </p:tav>
                                      </p:tavLst>
                                    </p:anim>
                                    <p:anim calcmode="lin" valueType="num">
                                      <p:cBhvr additive="base">
                                        <p:cTn id="24"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1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0A43E-7F05-4AC8-5D08-FB579A5F098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C8B9A0E-97D8-2496-1AA0-9353D9314C6C}"/>
              </a:ext>
            </a:extLst>
          </p:cNvPr>
          <p:cNvSpPr txBox="1"/>
          <p:nvPr/>
        </p:nvSpPr>
        <p:spPr>
          <a:xfrm>
            <a:off x="177631" y="1173824"/>
            <a:ext cx="11831489" cy="400110"/>
          </a:xfrm>
          <a:prstGeom prst="rect">
            <a:avLst/>
          </a:prstGeom>
          <a:noFill/>
        </p:spPr>
        <p:txBody>
          <a:bodyPr wrap="square" rtlCol="0">
            <a:spAutoFit/>
          </a:bodyPr>
          <a:lstStyle/>
          <a:p>
            <a:endParaRPr lang="en-US" sz="2000" dirty="0">
              <a:solidFill>
                <a:schemeClr val="bg1"/>
              </a:solidFill>
            </a:endParaRPr>
          </a:p>
        </p:txBody>
      </p:sp>
      <p:sp>
        <p:nvSpPr>
          <p:cNvPr id="7" name="TextBox 6">
            <a:extLst>
              <a:ext uri="{FF2B5EF4-FFF2-40B4-BE49-F238E27FC236}">
                <a16:creationId xmlns:a16="http://schemas.microsoft.com/office/drawing/2014/main" id="{33CF6AE5-2E8D-75C5-C6D1-5F8A803A1BFE}"/>
              </a:ext>
            </a:extLst>
          </p:cNvPr>
          <p:cNvSpPr txBox="1"/>
          <p:nvPr/>
        </p:nvSpPr>
        <p:spPr>
          <a:xfrm>
            <a:off x="177631" y="590239"/>
            <a:ext cx="7342842"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AWS Key Services</a:t>
            </a:r>
          </a:p>
        </p:txBody>
      </p:sp>
      <p:sp>
        <p:nvSpPr>
          <p:cNvPr id="15" name="TextBox 14">
            <a:extLst>
              <a:ext uri="{FF2B5EF4-FFF2-40B4-BE49-F238E27FC236}">
                <a16:creationId xmlns:a16="http://schemas.microsoft.com/office/drawing/2014/main" id="{33C877C4-B7A8-6990-51EE-1CF071552451}"/>
              </a:ext>
            </a:extLst>
          </p:cNvPr>
          <p:cNvSpPr txBox="1"/>
          <p:nvPr/>
        </p:nvSpPr>
        <p:spPr>
          <a:xfrm>
            <a:off x="177631" y="1051904"/>
            <a:ext cx="4525406" cy="523220"/>
          </a:xfrm>
          <a:prstGeom prst="rect">
            <a:avLst/>
          </a:prstGeom>
          <a:noFill/>
        </p:spPr>
        <p:txBody>
          <a:bodyPr wrap="none" rtlCol="0">
            <a:spAutoFit/>
          </a:bodyPr>
          <a:lstStyle/>
          <a:p>
            <a:r>
              <a:rPr lang="en-EG" sz="2800" b="1" dirty="0">
                <a:solidFill>
                  <a:schemeClr val="bg1"/>
                </a:solidFill>
              </a:rPr>
              <a:t>Virtual Private Cloud (VPC)</a:t>
            </a:r>
          </a:p>
        </p:txBody>
      </p:sp>
      <p:grpSp>
        <p:nvGrpSpPr>
          <p:cNvPr id="20" name="Group 19">
            <a:extLst>
              <a:ext uri="{FF2B5EF4-FFF2-40B4-BE49-F238E27FC236}">
                <a16:creationId xmlns:a16="http://schemas.microsoft.com/office/drawing/2014/main" id="{2FB70E7A-871F-1A52-AC2D-992A5B88B46D}"/>
              </a:ext>
            </a:extLst>
          </p:cNvPr>
          <p:cNvGrpSpPr/>
          <p:nvPr/>
        </p:nvGrpSpPr>
        <p:grpSpPr>
          <a:xfrm>
            <a:off x="291930" y="1695854"/>
            <a:ext cx="10295108" cy="4438779"/>
            <a:chOff x="291930" y="1695854"/>
            <a:chExt cx="10295108" cy="4438779"/>
          </a:xfrm>
        </p:grpSpPr>
        <p:sp>
          <p:nvSpPr>
            <p:cNvPr id="3" name="TextBox 2">
              <a:extLst>
                <a:ext uri="{FF2B5EF4-FFF2-40B4-BE49-F238E27FC236}">
                  <a16:creationId xmlns:a16="http://schemas.microsoft.com/office/drawing/2014/main" id="{A4CD343A-D589-AC8F-4F4B-4087B6D40232}"/>
                </a:ext>
              </a:extLst>
            </p:cNvPr>
            <p:cNvSpPr txBox="1"/>
            <p:nvPr/>
          </p:nvSpPr>
          <p:spPr>
            <a:xfrm>
              <a:off x="291930" y="1695854"/>
              <a:ext cx="7437607" cy="1893595"/>
            </a:xfrm>
            <a:prstGeom prst="rect">
              <a:avLst/>
            </a:prstGeom>
            <a:noFill/>
          </p:spPr>
          <p:txBody>
            <a:bodyPr wrap="square">
              <a:spAutoFit/>
            </a:bodyPr>
            <a:lstStyle/>
            <a:p>
              <a:pPr>
                <a:lnSpc>
                  <a:spcPct val="150000"/>
                </a:lnSpc>
                <a:buFont typeface="Arial" panose="020B0604020202020204" pitchFamily="34" charset="0"/>
                <a:buChar char="•"/>
              </a:pPr>
              <a:r>
                <a:rPr lang="en-US" sz="2000" dirty="0">
                  <a:solidFill>
                    <a:schemeClr val="bg1"/>
                  </a:solidFill>
                  <a:effectLst/>
                  <a:latin typeface="Helvetica" pitchFamily="2" charset="0"/>
                </a:rPr>
                <a:t> A VPC = (Can’t communicate)A Virtual Network inside AWS</a:t>
              </a:r>
            </a:p>
            <a:p>
              <a:pPr>
                <a:lnSpc>
                  <a:spcPct val="150000"/>
                </a:lnSpc>
                <a:buFont typeface="Arial" panose="020B0604020202020204" pitchFamily="34" charset="0"/>
                <a:buChar char="•"/>
              </a:pPr>
              <a:r>
                <a:rPr lang="en-US" sz="2000" dirty="0">
                  <a:solidFill>
                    <a:schemeClr val="bg1"/>
                  </a:solidFill>
                  <a:effectLst/>
                  <a:latin typeface="Helvetica" pitchFamily="2" charset="0"/>
                </a:rPr>
                <a:t>﻿ ﻿A VPC is within 1 account &amp; 1 region</a:t>
              </a:r>
            </a:p>
            <a:p>
              <a:pPr>
                <a:lnSpc>
                  <a:spcPct val="150000"/>
                </a:lnSpc>
                <a:buFont typeface="Arial" panose="020B0604020202020204" pitchFamily="34" charset="0"/>
                <a:buChar char="•"/>
              </a:pPr>
              <a:r>
                <a:rPr lang="en-US" sz="2000" dirty="0">
                  <a:solidFill>
                    <a:schemeClr val="bg1"/>
                  </a:solidFill>
                  <a:effectLst/>
                  <a:latin typeface="Helvetica" pitchFamily="2" charset="0"/>
                </a:rPr>
                <a:t>﻿﻿ Private and Isolated unless you decide otherwise</a:t>
              </a:r>
            </a:p>
            <a:p>
              <a:pPr>
                <a:lnSpc>
                  <a:spcPct val="150000"/>
                </a:lnSpc>
                <a:buFont typeface="Arial" panose="020B0604020202020204" pitchFamily="34" charset="0"/>
                <a:buChar char="•"/>
              </a:pPr>
              <a:r>
                <a:rPr lang="en-US" sz="2000" dirty="0">
                  <a:solidFill>
                    <a:schemeClr val="bg1"/>
                  </a:solidFill>
                  <a:effectLst/>
                  <a:latin typeface="Helvetica" pitchFamily="2" charset="0"/>
                </a:rPr>
                <a:t>﻿﻿ Two types - Default VPC and Custom VPCs</a:t>
              </a:r>
            </a:p>
          </p:txBody>
        </p:sp>
        <p:sp>
          <p:nvSpPr>
            <p:cNvPr id="16" name="TextBox 15">
              <a:extLst>
                <a:ext uri="{FF2B5EF4-FFF2-40B4-BE49-F238E27FC236}">
                  <a16:creationId xmlns:a16="http://schemas.microsoft.com/office/drawing/2014/main" id="{D3E5A4CD-DE02-EA15-15A1-E15E2FD434C2}"/>
                </a:ext>
              </a:extLst>
            </p:cNvPr>
            <p:cNvSpPr txBox="1"/>
            <p:nvPr/>
          </p:nvSpPr>
          <p:spPr>
            <a:xfrm>
              <a:off x="291931" y="3589449"/>
              <a:ext cx="10295107" cy="2545184"/>
            </a:xfrm>
            <a:prstGeom prst="rect">
              <a:avLst/>
            </a:prstGeom>
            <a:noFill/>
          </p:spPr>
          <p:txBody>
            <a:bodyPr wrap="square" rtlCol="0">
              <a:spAutoFit/>
            </a:bodyPr>
            <a:lstStyle/>
            <a:p>
              <a:pPr>
                <a:lnSpc>
                  <a:spcPct val="150000"/>
                </a:lnSpc>
                <a:buFont typeface="Arial" panose="020B0604020202020204" pitchFamily="34" charset="0"/>
                <a:buChar char="•"/>
              </a:pPr>
              <a:r>
                <a:rPr lang="en-US" b="1" dirty="0">
                  <a:solidFill>
                    <a:schemeClr val="bg1"/>
                  </a:solidFill>
                  <a:latin typeface="Helvetica" pitchFamily="2" charset="0"/>
                </a:rPr>
                <a:t> CIDR Block</a:t>
              </a:r>
              <a:r>
                <a:rPr lang="en-US" dirty="0">
                  <a:solidFill>
                    <a:schemeClr val="bg1"/>
                  </a:solidFill>
                  <a:latin typeface="Helvetica" pitchFamily="2" charset="0"/>
                </a:rPr>
                <a:t>: Defines the range of IP addresses you can use within the VPC.</a:t>
              </a:r>
            </a:p>
            <a:p>
              <a:pPr>
                <a:lnSpc>
                  <a:spcPct val="150000"/>
                </a:lnSpc>
                <a:buFont typeface="Arial" panose="020B0604020202020204" pitchFamily="34" charset="0"/>
                <a:buChar char="•"/>
              </a:pPr>
              <a:r>
                <a:rPr lang="en-US" b="1" dirty="0">
                  <a:solidFill>
                    <a:schemeClr val="bg1"/>
                  </a:solidFill>
                  <a:latin typeface="Helvetica" pitchFamily="2" charset="0"/>
                </a:rPr>
                <a:t> Subnets</a:t>
              </a:r>
              <a:r>
                <a:rPr lang="en-US" dirty="0">
                  <a:solidFill>
                    <a:schemeClr val="bg1"/>
                  </a:solidFill>
                  <a:latin typeface="Helvetica" pitchFamily="2" charset="0"/>
                </a:rPr>
                <a:t>: (Can communicate) Divide your VPC into smaller sections:</a:t>
              </a:r>
            </a:p>
            <a:p>
              <a:pPr lvl="1">
                <a:lnSpc>
                  <a:spcPct val="150000"/>
                </a:lnSpc>
                <a:buFont typeface="Arial" panose="020B0604020202020204" pitchFamily="34" charset="0"/>
                <a:buChar char="•"/>
              </a:pPr>
              <a:r>
                <a:rPr lang="en-US" b="1" dirty="0">
                  <a:solidFill>
                    <a:schemeClr val="bg1"/>
                  </a:solidFill>
                  <a:latin typeface="Helvetica" pitchFamily="2" charset="0"/>
                </a:rPr>
                <a:t> Public Subnet</a:t>
              </a:r>
              <a:r>
                <a:rPr lang="en-US" dirty="0">
                  <a:solidFill>
                    <a:schemeClr val="bg1"/>
                  </a:solidFill>
                  <a:latin typeface="Helvetica" pitchFamily="2" charset="0"/>
                </a:rPr>
                <a:t>: Directly accessible from the internet (e.g., for web servers).</a:t>
              </a:r>
            </a:p>
            <a:p>
              <a:pPr lvl="1">
                <a:lnSpc>
                  <a:spcPct val="150000"/>
                </a:lnSpc>
                <a:buFont typeface="Arial" panose="020B0604020202020204" pitchFamily="34" charset="0"/>
                <a:buChar char="•"/>
              </a:pPr>
              <a:r>
                <a:rPr lang="en-US" b="1" dirty="0">
                  <a:solidFill>
                    <a:schemeClr val="bg1"/>
                  </a:solidFill>
                  <a:latin typeface="Helvetica" pitchFamily="2" charset="0"/>
                </a:rPr>
                <a:t> Private Subnet</a:t>
              </a:r>
              <a:r>
                <a:rPr lang="en-US" dirty="0">
                  <a:solidFill>
                    <a:schemeClr val="bg1"/>
                  </a:solidFill>
                  <a:latin typeface="Helvetica" pitchFamily="2" charset="0"/>
                </a:rPr>
                <a:t>: Hidden from the internet (e.g., for databases).</a:t>
              </a:r>
            </a:p>
            <a:p>
              <a:pPr>
                <a:lnSpc>
                  <a:spcPct val="150000"/>
                </a:lnSpc>
                <a:buFont typeface="Arial" panose="020B0604020202020204" pitchFamily="34" charset="0"/>
                <a:buChar char="•"/>
              </a:pPr>
              <a:r>
                <a:rPr lang="en-US" dirty="0">
                  <a:solidFill>
                    <a:schemeClr val="bg1"/>
                  </a:solidFill>
                  <a:latin typeface="Helvetica" pitchFamily="2" charset="0"/>
                </a:rPr>
                <a:t> </a:t>
              </a:r>
              <a:r>
                <a:rPr lang="en-US" b="1" dirty="0">
                  <a:solidFill>
                    <a:schemeClr val="bg1"/>
                  </a:solidFill>
                  <a:latin typeface="Helvetica" pitchFamily="2" charset="0"/>
                </a:rPr>
                <a:t>Internet Gateway</a:t>
              </a:r>
              <a:r>
                <a:rPr lang="en-US" dirty="0">
                  <a:solidFill>
                    <a:schemeClr val="bg1"/>
                  </a:solidFill>
                  <a:latin typeface="Helvetica" pitchFamily="2" charset="0"/>
                </a:rPr>
                <a:t>: Allows resources in a public subnet to access the internet.</a:t>
              </a:r>
            </a:p>
            <a:p>
              <a:pPr>
                <a:lnSpc>
                  <a:spcPct val="150000"/>
                </a:lnSpc>
                <a:buFont typeface="Arial" panose="020B0604020202020204" pitchFamily="34" charset="0"/>
                <a:buChar char="•"/>
              </a:pPr>
              <a:r>
                <a:rPr lang="en-US" b="1" dirty="0">
                  <a:solidFill>
                    <a:schemeClr val="bg1"/>
                  </a:solidFill>
                  <a:latin typeface="Helvetica" pitchFamily="2" charset="0"/>
                </a:rPr>
                <a:t> NAT Gateway</a:t>
              </a:r>
              <a:r>
                <a:rPr lang="en-US" dirty="0">
                  <a:solidFill>
                    <a:schemeClr val="bg1"/>
                  </a:solidFill>
                  <a:latin typeface="Helvetica" pitchFamily="2" charset="0"/>
                </a:rPr>
                <a:t>: Allows resources in a private subnet to access the internet securely.</a:t>
              </a:r>
              <a:endParaRPr lang="en-EG" dirty="0">
                <a:solidFill>
                  <a:schemeClr val="bg1"/>
                </a:solidFill>
                <a:latin typeface="Helvetica" pitchFamily="2" charset="0"/>
              </a:endParaRPr>
            </a:p>
          </p:txBody>
        </p:sp>
      </p:grpSp>
      <p:pic>
        <p:nvPicPr>
          <p:cNvPr id="17" name="Picture 16">
            <a:extLst>
              <a:ext uri="{FF2B5EF4-FFF2-40B4-BE49-F238E27FC236}">
                <a16:creationId xmlns:a16="http://schemas.microsoft.com/office/drawing/2014/main" id="{DF72FDDC-80EB-0235-8294-731F22E156DF}"/>
              </a:ext>
            </a:extLst>
          </p:cNvPr>
          <p:cNvPicPr>
            <a:picLocks noChangeAspect="1"/>
          </p:cNvPicPr>
          <p:nvPr/>
        </p:nvPicPr>
        <p:blipFill>
          <a:blip r:embed="rId2"/>
          <a:stretch>
            <a:fillRect/>
          </a:stretch>
        </p:blipFill>
        <p:spPr>
          <a:xfrm>
            <a:off x="8467894" y="829886"/>
            <a:ext cx="3503612" cy="3503612"/>
          </a:xfrm>
          <a:prstGeom prst="rect">
            <a:avLst/>
          </a:prstGeom>
        </p:spPr>
      </p:pic>
    </p:spTree>
    <p:extLst>
      <p:ext uri="{BB962C8B-B14F-4D97-AF65-F5344CB8AC3E}">
        <p14:creationId xmlns:p14="http://schemas.microsoft.com/office/powerpoint/2010/main" val="17754503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500" fill="hold"/>
                                        <p:tgtEl>
                                          <p:spTgt spid="20"/>
                                        </p:tgtEl>
                                        <p:attrNameLst>
                                          <p:attrName>ppt_x</p:attrName>
                                        </p:attrNameLst>
                                      </p:cBhvr>
                                      <p:tavLst>
                                        <p:tav tm="0">
                                          <p:val>
                                            <p:strVal val="0-#ppt_w/2"/>
                                          </p:val>
                                        </p:tav>
                                        <p:tav tm="100000">
                                          <p:val>
                                            <p:strVal val="#ppt_x"/>
                                          </p:val>
                                        </p:tav>
                                      </p:tavLst>
                                    </p:anim>
                                    <p:anim calcmode="lin" valueType="num">
                                      <p:cBhvr additive="base">
                                        <p:cTn id="14" dur="500" fill="hold"/>
                                        <p:tgtEl>
                                          <p:spTgt spid="20"/>
                                        </p:tgtEl>
                                        <p:attrNameLst>
                                          <p:attrName>ppt_y</p:attrName>
                                        </p:attrNameLst>
                                      </p:cBhvr>
                                      <p:tavLst>
                                        <p:tav tm="0">
                                          <p:val>
                                            <p:strVal val="#ppt_y"/>
                                          </p:val>
                                        </p:tav>
                                        <p:tav tm="100000">
                                          <p:val>
                                            <p:strVal val="#ppt_y"/>
                                          </p:val>
                                        </p:tav>
                                      </p:tavLst>
                                    </p:anim>
                                  </p:childTnLst>
                                </p:cTn>
                              </p:par>
                              <p:par>
                                <p:cTn id="15" presetID="2" presetClass="entr" presetSubtype="2"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1+#ppt_w/2"/>
                                          </p:val>
                                        </p:tav>
                                        <p:tav tm="100000">
                                          <p:val>
                                            <p:strVal val="#ppt_x"/>
                                          </p:val>
                                        </p:tav>
                                      </p:tavLst>
                                    </p:anim>
                                    <p:anim calcmode="lin" valueType="num">
                                      <p:cBhvr additive="base">
                                        <p:cTn id="18"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93198-FE80-F46D-C285-0C88868263F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B408C8A-7CDD-6842-22C2-76A925196EF9}"/>
              </a:ext>
            </a:extLst>
          </p:cNvPr>
          <p:cNvSpPr txBox="1"/>
          <p:nvPr/>
        </p:nvSpPr>
        <p:spPr>
          <a:xfrm>
            <a:off x="177631" y="1173824"/>
            <a:ext cx="11831489" cy="400110"/>
          </a:xfrm>
          <a:prstGeom prst="rect">
            <a:avLst/>
          </a:prstGeom>
          <a:noFill/>
        </p:spPr>
        <p:txBody>
          <a:bodyPr wrap="square" rtlCol="0">
            <a:spAutoFit/>
          </a:bodyPr>
          <a:lstStyle/>
          <a:p>
            <a:endParaRPr lang="en-US" sz="2000" dirty="0">
              <a:solidFill>
                <a:schemeClr val="bg1"/>
              </a:solidFill>
            </a:endParaRPr>
          </a:p>
        </p:txBody>
      </p:sp>
      <p:sp>
        <p:nvSpPr>
          <p:cNvPr id="7" name="TextBox 6">
            <a:extLst>
              <a:ext uri="{FF2B5EF4-FFF2-40B4-BE49-F238E27FC236}">
                <a16:creationId xmlns:a16="http://schemas.microsoft.com/office/drawing/2014/main" id="{AADF9AF0-4D18-0711-88C9-B251886F52AA}"/>
              </a:ext>
            </a:extLst>
          </p:cNvPr>
          <p:cNvSpPr txBox="1"/>
          <p:nvPr/>
        </p:nvSpPr>
        <p:spPr>
          <a:xfrm>
            <a:off x="177631" y="590239"/>
            <a:ext cx="7342842"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AWS Key Services</a:t>
            </a:r>
          </a:p>
        </p:txBody>
      </p:sp>
      <p:sp>
        <p:nvSpPr>
          <p:cNvPr id="15" name="TextBox 14">
            <a:extLst>
              <a:ext uri="{FF2B5EF4-FFF2-40B4-BE49-F238E27FC236}">
                <a16:creationId xmlns:a16="http://schemas.microsoft.com/office/drawing/2014/main" id="{E6E31CF9-E9A9-9B96-8D7F-110249496A65}"/>
              </a:ext>
            </a:extLst>
          </p:cNvPr>
          <p:cNvSpPr txBox="1"/>
          <p:nvPr/>
        </p:nvSpPr>
        <p:spPr>
          <a:xfrm>
            <a:off x="177631" y="1051904"/>
            <a:ext cx="4525406" cy="523220"/>
          </a:xfrm>
          <a:prstGeom prst="rect">
            <a:avLst/>
          </a:prstGeom>
          <a:noFill/>
        </p:spPr>
        <p:txBody>
          <a:bodyPr wrap="none" rtlCol="0">
            <a:spAutoFit/>
          </a:bodyPr>
          <a:lstStyle/>
          <a:p>
            <a:r>
              <a:rPr lang="en-EG" sz="2800" b="1" dirty="0">
                <a:solidFill>
                  <a:schemeClr val="bg1"/>
                </a:solidFill>
              </a:rPr>
              <a:t>Virtual Private Cloud (VPC)</a:t>
            </a:r>
          </a:p>
        </p:txBody>
      </p:sp>
      <p:pic>
        <p:nvPicPr>
          <p:cNvPr id="2" name="Picture 1">
            <a:extLst>
              <a:ext uri="{FF2B5EF4-FFF2-40B4-BE49-F238E27FC236}">
                <a16:creationId xmlns:a16="http://schemas.microsoft.com/office/drawing/2014/main" id="{3E27FF39-C78D-D84C-5A93-9FE52EFF0525}"/>
              </a:ext>
            </a:extLst>
          </p:cNvPr>
          <p:cNvPicPr>
            <a:picLocks noChangeAspect="1"/>
          </p:cNvPicPr>
          <p:nvPr/>
        </p:nvPicPr>
        <p:blipFill>
          <a:blip r:embed="rId2"/>
          <a:stretch>
            <a:fillRect/>
          </a:stretch>
        </p:blipFill>
        <p:spPr>
          <a:xfrm>
            <a:off x="983212" y="1695854"/>
            <a:ext cx="10220325" cy="4844978"/>
          </a:xfrm>
          <a:prstGeom prst="rect">
            <a:avLst/>
          </a:prstGeom>
        </p:spPr>
      </p:pic>
    </p:spTree>
    <p:extLst>
      <p:ext uri="{BB962C8B-B14F-4D97-AF65-F5344CB8AC3E}">
        <p14:creationId xmlns:p14="http://schemas.microsoft.com/office/powerpoint/2010/main" val="403268134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6C88F-D703-D100-B952-863960F24B3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08D58CD-5DF4-6B72-B022-2FA7FE014F7D}"/>
              </a:ext>
            </a:extLst>
          </p:cNvPr>
          <p:cNvSpPr txBox="1"/>
          <p:nvPr/>
        </p:nvSpPr>
        <p:spPr>
          <a:xfrm>
            <a:off x="177631" y="1173824"/>
            <a:ext cx="11831489" cy="400110"/>
          </a:xfrm>
          <a:prstGeom prst="rect">
            <a:avLst/>
          </a:prstGeom>
          <a:noFill/>
        </p:spPr>
        <p:txBody>
          <a:bodyPr wrap="square" rtlCol="0">
            <a:spAutoFit/>
          </a:bodyPr>
          <a:lstStyle/>
          <a:p>
            <a:endParaRPr lang="en-US" sz="2000" dirty="0">
              <a:solidFill>
                <a:schemeClr val="bg1"/>
              </a:solidFill>
            </a:endParaRPr>
          </a:p>
        </p:txBody>
      </p:sp>
      <p:sp>
        <p:nvSpPr>
          <p:cNvPr id="7" name="TextBox 6">
            <a:extLst>
              <a:ext uri="{FF2B5EF4-FFF2-40B4-BE49-F238E27FC236}">
                <a16:creationId xmlns:a16="http://schemas.microsoft.com/office/drawing/2014/main" id="{0B44DB35-792C-2F63-21FE-9A25FE58207B}"/>
              </a:ext>
            </a:extLst>
          </p:cNvPr>
          <p:cNvSpPr txBox="1"/>
          <p:nvPr/>
        </p:nvSpPr>
        <p:spPr>
          <a:xfrm>
            <a:off x="177631" y="590239"/>
            <a:ext cx="7342842"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AWS Key Services</a:t>
            </a:r>
          </a:p>
        </p:txBody>
      </p:sp>
      <p:sp>
        <p:nvSpPr>
          <p:cNvPr id="3" name="TextBox 2">
            <a:extLst>
              <a:ext uri="{FF2B5EF4-FFF2-40B4-BE49-F238E27FC236}">
                <a16:creationId xmlns:a16="http://schemas.microsoft.com/office/drawing/2014/main" id="{14DE5684-6AE9-7F07-12A4-8C4186D116C6}"/>
              </a:ext>
            </a:extLst>
          </p:cNvPr>
          <p:cNvSpPr txBox="1"/>
          <p:nvPr/>
        </p:nvSpPr>
        <p:spPr>
          <a:xfrm>
            <a:off x="291930" y="1695854"/>
            <a:ext cx="7437607" cy="4862870"/>
          </a:xfrm>
          <a:prstGeom prst="rect">
            <a:avLst/>
          </a:prstGeom>
          <a:noFill/>
        </p:spPr>
        <p:txBody>
          <a:bodyPr wrap="square">
            <a:spAutoFit/>
          </a:bodyPr>
          <a:lstStyle/>
          <a:p>
            <a:pPr>
              <a:buFont typeface="Arial" panose="020B0604020202020204" pitchFamily="34" charset="0"/>
              <a:buChar char="•"/>
            </a:pPr>
            <a:r>
              <a:rPr lang="en-US" sz="2000" b="1" dirty="0">
                <a:solidFill>
                  <a:schemeClr val="bg1"/>
                </a:solidFill>
              </a:rPr>
              <a:t>Purpose</a:t>
            </a:r>
            <a:r>
              <a:rPr lang="en-US" sz="2000" dirty="0">
                <a:solidFill>
                  <a:schemeClr val="bg1"/>
                </a:solidFill>
              </a:rPr>
              <a:t>: Scalable virtual servers for running applications.</a:t>
            </a:r>
          </a:p>
          <a:p>
            <a:pPr>
              <a:spcAft>
                <a:spcPts val="1200"/>
              </a:spcAft>
              <a:buFont typeface="Arial" panose="020B0604020202020204" pitchFamily="34" charset="0"/>
              <a:buChar char="•"/>
            </a:pPr>
            <a:r>
              <a:rPr lang="en-US" sz="2000" b="1" dirty="0">
                <a:solidFill>
                  <a:schemeClr val="bg1"/>
                </a:solidFill>
              </a:rPr>
              <a:t> Instances</a:t>
            </a:r>
            <a:r>
              <a:rPr lang="en-US" sz="2000" dirty="0">
                <a:solidFill>
                  <a:schemeClr val="bg1"/>
                </a:solidFill>
              </a:rPr>
              <a:t>: Virtual machines with configurable CPU, memory, storage, and OS.</a:t>
            </a:r>
          </a:p>
          <a:p>
            <a:pPr>
              <a:buFont typeface="Arial" panose="020B0604020202020204" pitchFamily="34" charset="0"/>
              <a:buChar char="•"/>
            </a:pPr>
            <a:r>
              <a:rPr lang="en-US" sz="2000" b="1" dirty="0">
                <a:solidFill>
                  <a:schemeClr val="bg1"/>
                </a:solidFill>
              </a:rPr>
              <a:t> Key Features</a:t>
            </a:r>
            <a:r>
              <a:rPr lang="en-US" sz="2000" dirty="0">
                <a:solidFill>
                  <a:schemeClr val="bg1"/>
                </a:solidFill>
              </a:rPr>
              <a:t>:</a:t>
            </a:r>
          </a:p>
          <a:p>
            <a:pPr lvl="1">
              <a:buFont typeface="Arial" panose="020B0604020202020204" pitchFamily="34" charset="0"/>
              <a:buChar char="•"/>
            </a:pPr>
            <a:r>
              <a:rPr lang="en-US" sz="2000" b="1" dirty="0">
                <a:solidFill>
                  <a:schemeClr val="bg1"/>
                </a:solidFill>
              </a:rPr>
              <a:t> Elasticity</a:t>
            </a:r>
            <a:r>
              <a:rPr lang="en-US" sz="2000" dirty="0">
                <a:solidFill>
                  <a:schemeClr val="bg1"/>
                </a:solidFill>
              </a:rPr>
              <a:t>: Scale up/down based on demand.</a:t>
            </a:r>
          </a:p>
          <a:p>
            <a:pPr lvl="1">
              <a:buFont typeface="Arial" panose="020B0604020202020204" pitchFamily="34" charset="0"/>
              <a:buChar char="•"/>
            </a:pPr>
            <a:r>
              <a:rPr lang="en-US" sz="2000" b="1" dirty="0">
                <a:solidFill>
                  <a:schemeClr val="bg1"/>
                </a:solidFill>
              </a:rPr>
              <a:t> Instance Types</a:t>
            </a:r>
            <a:r>
              <a:rPr lang="en-US" sz="2000" dirty="0">
                <a:solidFill>
                  <a:schemeClr val="bg1"/>
                </a:solidFill>
              </a:rPr>
              <a:t>: Choose from a variety of types.</a:t>
            </a:r>
          </a:p>
          <a:p>
            <a:pPr lvl="1">
              <a:buFont typeface="Arial" panose="020B0604020202020204" pitchFamily="34" charset="0"/>
              <a:buChar char="•"/>
            </a:pPr>
            <a:r>
              <a:rPr lang="en-US" sz="2000" b="1" dirty="0">
                <a:solidFill>
                  <a:schemeClr val="bg1"/>
                </a:solidFill>
              </a:rPr>
              <a:t> Pricing Models</a:t>
            </a:r>
            <a:r>
              <a:rPr lang="en-US" sz="2000" dirty="0">
                <a:solidFill>
                  <a:schemeClr val="bg1"/>
                </a:solidFill>
              </a:rPr>
              <a:t>: On-demand, Reserved.</a:t>
            </a:r>
          </a:p>
          <a:p>
            <a:pPr lvl="1">
              <a:spcAft>
                <a:spcPts val="1200"/>
              </a:spcAft>
              <a:buFont typeface="Arial" panose="020B0604020202020204" pitchFamily="34" charset="0"/>
              <a:buChar char="•"/>
            </a:pPr>
            <a:r>
              <a:rPr lang="en-US" sz="2000" b="1" dirty="0">
                <a:solidFill>
                  <a:schemeClr val="bg1"/>
                </a:solidFill>
              </a:rPr>
              <a:t> Storage</a:t>
            </a:r>
            <a:r>
              <a:rPr lang="en-US" sz="2000" dirty="0">
                <a:solidFill>
                  <a:schemeClr val="bg1"/>
                </a:solidFill>
              </a:rPr>
              <a:t>: Attach Elastic Block Store (EBS)</a:t>
            </a:r>
          </a:p>
          <a:p>
            <a:pPr>
              <a:buFont typeface="Arial" panose="020B0604020202020204" pitchFamily="34" charset="0"/>
              <a:buChar char="•"/>
            </a:pPr>
            <a:r>
              <a:rPr lang="en-US" sz="2000" b="1" dirty="0">
                <a:solidFill>
                  <a:schemeClr val="bg1"/>
                </a:solidFill>
              </a:rPr>
              <a:t> Networking</a:t>
            </a:r>
            <a:r>
              <a:rPr lang="en-US" sz="2000" dirty="0">
                <a:solidFill>
                  <a:schemeClr val="bg1"/>
                </a:solidFill>
              </a:rPr>
              <a:t>: Public/Private subnets in VPC.</a:t>
            </a:r>
          </a:p>
          <a:p>
            <a:pPr>
              <a:spcAft>
                <a:spcPts val="1200"/>
              </a:spcAft>
              <a:buFont typeface="Arial" panose="020B0604020202020204" pitchFamily="34" charset="0"/>
              <a:buChar char="•"/>
            </a:pPr>
            <a:r>
              <a:rPr lang="en-US" sz="2000" dirty="0">
                <a:solidFill>
                  <a:schemeClr val="bg1"/>
                </a:solidFill>
              </a:rPr>
              <a:t> Assign Elastic IP for static public addresses.</a:t>
            </a:r>
          </a:p>
          <a:p>
            <a:pPr>
              <a:buFont typeface="Arial" panose="020B0604020202020204" pitchFamily="34" charset="0"/>
              <a:buChar char="•"/>
            </a:pPr>
            <a:r>
              <a:rPr lang="en-US" sz="2000" b="1" dirty="0">
                <a:solidFill>
                  <a:schemeClr val="bg1"/>
                </a:solidFill>
              </a:rPr>
              <a:t> Best Practices</a:t>
            </a:r>
            <a:r>
              <a:rPr lang="en-US" sz="2000" dirty="0">
                <a:solidFill>
                  <a:schemeClr val="bg1"/>
                </a:solidFill>
              </a:rPr>
              <a:t>:</a:t>
            </a:r>
          </a:p>
          <a:p>
            <a:pPr lvl="1">
              <a:buFont typeface="Arial" panose="020B0604020202020204" pitchFamily="34" charset="0"/>
              <a:buChar char="•"/>
            </a:pPr>
            <a:r>
              <a:rPr lang="en-US" sz="2000" dirty="0">
                <a:solidFill>
                  <a:schemeClr val="bg1"/>
                </a:solidFill>
              </a:rPr>
              <a:t> Use IAM Roles for access control.</a:t>
            </a:r>
          </a:p>
          <a:p>
            <a:pPr lvl="1">
              <a:buFont typeface="Arial" panose="020B0604020202020204" pitchFamily="34" charset="0"/>
              <a:buChar char="•"/>
            </a:pPr>
            <a:r>
              <a:rPr lang="en-US" sz="2000" dirty="0">
                <a:solidFill>
                  <a:schemeClr val="bg1"/>
                </a:solidFill>
              </a:rPr>
              <a:t> Enable security groups for traffic filtering.</a:t>
            </a:r>
          </a:p>
          <a:p>
            <a:pPr lvl="1">
              <a:buFont typeface="Arial" panose="020B0604020202020204" pitchFamily="34" charset="0"/>
              <a:buChar char="•"/>
            </a:pPr>
            <a:r>
              <a:rPr lang="en-US" sz="2000" dirty="0">
                <a:solidFill>
                  <a:schemeClr val="bg1"/>
                </a:solidFill>
              </a:rPr>
              <a:t> Automate configuration with user data.</a:t>
            </a:r>
            <a:endParaRPr lang="en-US" sz="2000" dirty="0">
              <a:solidFill>
                <a:schemeClr val="bg1"/>
              </a:solidFill>
              <a:effectLst/>
              <a:latin typeface="Helvetica" pitchFamily="2" charset="0"/>
            </a:endParaRPr>
          </a:p>
        </p:txBody>
      </p:sp>
      <p:sp>
        <p:nvSpPr>
          <p:cNvPr id="15" name="TextBox 14">
            <a:extLst>
              <a:ext uri="{FF2B5EF4-FFF2-40B4-BE49-F238E27FC236}">
                <a16:creationId xmlns:a16="http://schemas.microsoft.com/office/drawing/2014/main" id="{740585CD-05E6-C324-352F-E848E81F4EDF}"/>
              </a:ext>
            </a:extLst>
          </p:cNvPr>
          <p:cNvSpPr txBox="1"/>
          <p:nvPr/>
        </p:nvSpPr>
        <p:spPr>
          <a:xfrm>
            <a:off x="177631" y="1051904"/>
            <a:ext cx="4884479" cy="523220"/>
          </a:xfrm>
          <a:prstGeom prst="rect">
            <a:avLst/>
          </a:prstGeom>
          <a:noFill/>
        </p:spPr>
        <p:txBody>
          <a:bodyPr wrap="none" rtlCol="0">
            <a:spAutoFit/>
          </a:bodyPr>
          <a:lstStyle/>
          <a:p>
            <a:r>
              <a:rPr lang="en-EG" sz="2800" b="1" dirty="0">
                <a:solidFill>
                  <a:schemeClr val="bg1"/>
                </a:solidFill>
              </a:rPr>
              <a:t>Elastic Compute Cloud (EC2)</a:t>
            </a:r>
          </a:p>
        </p:txBody>
      </p:sp>
      <p:pic>
        <p:nvPicPr>
          <p:cNvPr id="4" name="Picture 3">
            <a:extLst>
              <a:ext uri="{FF2B5EF4-FFF2-40B4-BE49-F238E27FC236}">
                <a16:creationId xmlns:a16="http://schemas.microsoft.com/office/drawing/2014/main" id="{7A17FFC5-6734-FD85-F349-1551BFA7B92A}"/>
              </a:ext>
            </a:extLst>
          </p:cNvPr>
          <p:cNvPicPr>
            <a:picLocks noChangeAspect="1"/>
          </p:cNvPicPr>
          <p:nvPr/>
        </p:nvPicPr>
        <p:blipFill>
          <a:blip r:embed="rId2"/>
          <a:srcRect/>
          <a:stretch/>
        </p:blipFill>
        <p:spPr>
          <a:xfrm>
            <a:off x="8467894" y="829886"/>
            <a:ext cx="3503612" cy="3503612"/>
          </a:xfrm>
          <a:prstGeom prst="rect">
            <a:avLst/>
          </a:prstGeom>
        </p:spPr>
      </p:pic>
    </p:spTree>
    <p:extLst>
      <p:ext uri="{BB962C8B-B14F-4D97-AF65-F5344CB8AC3E}">
        <p14:creationId xmlns:p14="http://schemas.microsoft.com/office/powerpoint/2010/main" val="38475653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par>
                                <p:cTn id="15" presetID="2" presetClass="entr" presetSubtype="2" fill="hold"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1+#ppt_w/2"/>
                                          </p:val>
                                        </p:tav>
                                        <p:tav tm="100000">
                                          <p:val>
                                            <p:strVal val="#ppt_x"/>
                                          </p:val>
                                        </p:tav>
                                      </p:tavLst>
                                    </p:anim>
                                    <p:anim calcmode="lin" valueType="num">
                                      <p:cBhvr additive="base">
                                        <p:cTn id="1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68BBD-84E7-FBB5-D5C3-1C19E46D3C57}"/>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602D124A-BC5A-EE29-18C6-A296F2701D7A}"/>
              </a:ext>
            </a:extLst>
          </p:cNvPr>
          <p:cNvSpPr txBox="1"/>
          <p:nvPr/>
        </p:nvSpPr>
        <p:spPr>
          <a:xfrm>
            <a:off x="177631" y="590239"/>
            <a:ext cx="7342842" cy="461665"/>
          </a:xfrm>
          <a:prstGeom prst="rect">
            <a:avLst/>
          </a:prstGeom>
          <a:noFill/>
        </p:spPr>
        <p:txBody>
          <a:bodyPr wrap="square" rtlCol="0">
            <a:spAutoFit/>
          </a:bodyPr>
          <a:lstStyle/>
          <a:p>
            <a:r>
              <a:rPr lang="en-US" sz="2400" dirty="0">
                <a:solidFill>
                  <a:schemeClr val="bg1"/>
                </a:solidFill>
                <a:latin typeface="Arial Black" panose="020B0A04020102020204" pitchFamily="34" charset="0"/>
              </a:rPr>
              <a:t>Day 1 Assignment</a:t>
            </a:r>
          </a:p>
        </p:txBody>
      </p:sp>
      <p:sp>
        <p:nvSpPr>
          <p:cNvPr id="20" name="TextBox 19">
            <a:extLst>
              <a:ext uri="{FF2B5EF4-FFF2-40B4-BE49-F238E27FC236}">
                <a16:creationId xmlns:a16="http://schemas.microsoft.com/office/drawing/2014/main" id="{F31E420C-A859-5485-0C2A-11980694EBC2}"/>
              </a:ext>
            </a:extLst>
          </p:cNvPr>
          <p:cNvSpPr txBox="1"/>
          <p:nvPr/>
        </p:nvSpPr>
        <p:spPr>
          <a:xfrm>
            <a:off x="87253" y="1105765"/>
            <a:ext cx="7523598" cy="584775"/>
          </a:xfrm>
          <a:prstGeom prst="rect">
            <a:avLst/>
          </a:prstGeom>
          <a:noFill/>
        </p:spPr>
        <p:txBody>
          <a:bodyPr wrap="none" rtlCol="0">
            <a:spAutoFit/>
          </a:bodyPr>
          <a:lstStyle/>
          <a:p>
            <a:pPr>
              <a:spcAft>
                <a:spcPts val="1200"/>
              </a:spcAft>
            </a:pPr>
            <a:r>
              <a:rPr lang="en-US" sz="3200" dirty="0">
                <a:solidFill>
                  <a:schemeClr val="bg1"/>
                </a:solidFill>
              </a:rPr>
              <a:t>Create a PDF explaining key AWS services</a:t>
            </a:r>
          </a:p>
        </p:txBody>
      </p:sp>
      <p:pic>
        <p:nvPicPr>
          <p:cNvPr id="22" name="Picture 21" descr="A clipboard with a pen&#10;&#10;Description automatically generated">
            <a:extLst>
              <a:ext uri="{FF2B5EF4-FFF2-40B4-BE49-F238E27FC236}">
                <a16:creationId xmlns:a16="http://schemas.microsoft.com/office/drawing/2014/main" id="{35B709E1-CB96-6EA2-A206-DDD1C1742CBE}"/>
              </a:ext>
            </a:extLst>
          </p:cNvPr>
          <p:cNvPicPr>
            <a:picLocks noChangeAspect="1"/>
          </p:cNvPicPr>
          <p:nvPr/>
        </p:nvPicPr>
        <p:blipFill>
          <a:blip r:embed="rId2"/>
          <a:stretch>
            <a:fillRect/>
          </a:stretch>
        </p:blipFill>
        <p:spPr>
          <a:xfrm>
            <a:off x="8167702" y="1267096"/>
            <a:ext cx="3846667" cy="3846667"/>
          </a:xfrm>
          <a:prstGeom prst="rect">
            <a:avLst/>
          </a:prstGeom>
        </p:spPr>
      </p:pic>
      <p:sp>
        <p:nvSpPr>
          <p:cNvPr id="24" name="TextBox 23">
            <a:extLst>
              <a:ext uri="{FF2B5EF4-FFF2-40B4-BE49-F238E27FC236}">
                <a16:creationId xmlns:a16="http://schemas.microsoft.com/office/drawing/2014/main" id="{29FDF899-1734-FDF0-2B9F-764F2B4CDFF9}"/>
              </a:ext>
            </a:extLst>
          </p:cNvPr>
          <p:cNvSpPr txBox="1"/>
          <p:nvPr/>
        </p:nvSpPr>
        <p:spPr>
          <a:xfrm>
            <a:off x="171774" y="4875072"/>
            <a:ext cx="8646937" cy="1862048"/>
          </a:xfrm>
          <a:prstGeom prst="rect">
            <a:avLst/>
          </a:prstGeom>
          <a:noFill/>
        </p:spPr>
        <p:txBody>
          <a:bodyPr wrap="square">
            <a:spAutoFit/>
          </a:bodyPr>
          <a:lstStyle/>
          <a:p>
            <a:r>
              <a:rPr lang="en-US" sz="2300" b="1" dirty="0">
                <a:solidFill>
                  <a:srgbClr val="FF0000"/>
                </a:solidFill>
              </a:rPr>
              <a:t>Submission</a:t>
            </a:r>
            <a:r>
              <a:rPr lang="en-US" sz="2300" dirty="0">
                <a:solidFill>
                  <a:srgbClr val="FF0000"/>
                </a:solidFill>
              </a:rPr>
              <a:t>:</a:t>
            </a:r>
          </a:p>
          <a:p>
            <a:pPr lvl="1">
              <a:buFont typeface="Arial" panose="020B0604020202020204" pitchFamily="34" charset="0"/>
              <a:buChar char="•"/>
            </a:pPr>
            <a:r>
              <a:rPr lang="en-US" sz="2300" dirty="0">
                <a:solidFill>
                  <a:schemeClr val="bg1"/>
                </a:solidFill>
              </a:rPr>
              <a:t> Save the file as </a:t>
            </a:r>
            <a:r>
              <a:rPr lang="en-US" sz="2300" i="1" dirty="0">
                <a:solidFill>
                  <a:schemeClr val="bg1"/>
                </a:solidFill>
              </a:rPr>
              <a:t>FirstName-LastName-AWS-DayOne.pdf</a:t>
            </a:r>
          </a:p>
          <a:p>
            <a:pPr lvl="1">
              <a:buFont typeface="Arial" panose="020B0604020202020204" pitchFamily="34" charset="0"/>
              <a:buChar char="•"/>
            </a:pPr>
            <a:r>
              <a:rPr lang="en-US" sz="2300" dirty="0">
                <a:solidFill>
                  <a:schemeClr val="bg1"/>
                </a:solidFill>
              </a:rPr>
              <a:t> Upload the file to the Drive—create a folder </a:t>
            </a:r>
          </a:p>
          <a:p>
            <a:pPr lvl="1"/>
            <a:r>
              <a:rPr lang="en-US" sz="2300" dirty="0">
                <a:solidFill>
                  <a:schemeClr val="bg1"/>
                </a:solidFill>
              </a:rPr>
              <a:t>   named after you to which only you and I have access</a:t>
            </a:r>
          </a:p>
          <a:p>
            <a:pPr lvl="1">
              <a:buFont typeface="Arial" panose="020B0604020202020204" pitchFamily="34" charset="0"/>
              <a:buChar char="•"/>
            </a:pPr>
            <a:r>
              <a:rPr lang="en-US" sz="2300" i="1" dirty="0">
                <a:solidFill>
                  <a:schemeClr val="bg1"/>
                </a:solidFill>
              </a:rPr>
              <a:t> </a:t>
            </a:r>
            <a:r>
              <a:rPr lang="en-US" sz="2300" dirty="0">
                <a:solidFill>
                  <a:schemeClr val="bg1"/>
                </a:solidFill>
              </a:rPr>
              <a:t>Deadline </a:t>
            </a:r>
            <a:r>
              <a:rPr lang="en-US" sz="2300" u="sng" dirty="0">
                <a:solidFill>
                  <a:schemeClr val="bg1"/>
                </a:solidFill>
              </a:rPr>
              <a:t>Today</a:t>
            </a:r>
            <a:r>
              <a:rPr lang="en-US" sz="2300" dirty="0">
                <a:solidFill>
                  <a:schemeClr val="bg1"/>
                </a:solidFill>
              </a:rPr>
              <a:t> 13/12/2024 at </a:t>
            </a:r>
            <a:r>
              <a:rPr lang="en-US" sz="2300" b="1" dirty="0">
                <a:solidFill>
                  <a:srgbClr val="FF0000"/>
                </a:solidFill>
              </a:rPr>
              <a:t>11:00 PM</a:t>
            </a:r>
          </a:p>
        </p:txBody>
      </p:sp>
      <p:sp>
        <p:nvSpPr>
          <p:cNvPr id="26" name="TextBox 25">
            <a:extLst>
              <a:ext uri="{FF2B5EF4-FFF2-40B4-BE49-F238E27FC236}">
                <a16:creationId xmlns:a16="http://schemas.microsoft.com/office/drawing/2014/main" id="{0DAD9532-9989-914E-D182-04FFDF1A60BA}"/>
              </a:ext>
            </a:extLst>
          </p:cNvPr>
          <p:cNvSpPr txBox="1"/>
          <p:nvPr/>
        </p:nvSpPr>
        <p:spPr>
          <a:xfrm>
            <a:off x="171774" y="1643418"/>
            <a:ext cx="6263640" cy="954107"/>
          </a:xfrm>
          <a:prstGeom prst="rect">
            <a:avLst/>
          </a:prstGeom>
          <a:noFill/>
        </p:spPr>
        <p:txBody>
          <a:bodyPr wrap="square">
            <a:spAutoFit/>
          </a:bodyPr>
          <a:lstStyle/>
          <a:p>
            <a:pPr>
              <a:spcAft>
                <a:spcPts val="1200"/>
              </a:spcAft>
            </a:pPr>
            <a:r>
              <a:rPr lang="en-US" sz="2300" b="1" dirty="0">
                <a:solidFill>
                  <a:srgbClr val="FF0000"/>
                </a:solidFill>
              </a:rPr>
              <a:t>Instructions</a:t>
            </a:r>
            <a:r>
              <a:rPr lang="en-US" sz="2300" dirty="0">
                <a:solidFill>
                  <a:srgbClr val="FF0000"/>
                </a:solidFill>
              </a:rPr>
              <a:t>:</a:t>
            </a:r>
          </a:p>
          <a:p>
            <a:pPr>
              <a:spcAft>
                <a:spcPts val="1200"/>
              </a:spcAft>
            </a:pPr>
            <a:r>
              <a:rPr lang="en-US" sz="2300" b="1" dirty="0">
                <a:solidFill>
                  <a:schemeClr val="bg1"/>
                </a:solidFill>
              </a:rPr>
              <a:t>Content</a:t>
            </a:r>
            <a:r>
              <a:rPr lang="en-US" sz="2300" dirty="0">
                <a:solidFill>
                  <a:schemeClr val="bg1"/>
                </a:solidFill>
              </a:rPr>
              <a:t>: Include the following sections:</a:t>
            </a:r>
          </a:p>
        </p:txBody>
      </p:sp>
      <p:sp>
        <p:nvSpPr>
          <p:cNvPr id="28" name="TextBox 27">
            <a:extLst>
              <a:ext uri="{FF2B5EF4-FFF2-40B4-BE49-F238E27FC236}">
                <a16:creationId xmlns:a16="http://schemas.microsoft.com/office/drawing/2014/main" id="{D4716A9D-00D7-D163-C264-14FD084D38B4}"/>
              </a:ext>
            </a:extLst>
          </p:cNvPr>
          <p:cNvSpPr txBox="1"/>
          <p:nvPr/>
        </p:nvSpPr>
        <p:spPr>
          <a:xfrm>
            <a:off x="-23886" y="2549502"/>
            <a:ext cx="6263640" cy="446276"/>
          </a:xfrm>
          <a:prstGeom prst="rect">
            <a:avLst/>
          </a:prstGeom>
          <a:noFill/>
        </p:spPr>
        <p:txBody>
          <a:bodyPr wrap="square">
            <a:spAutoFit/>
          </a:bodyPr>
          <a:lstStyle/>
          <a:p>
            <a:pPr marL="742950" lvl="1" indent="-285750">
              <a:buFont typeface="+mj-lt"/>
              <a:buAutoNum type="arabicPeriod"/>
            </a:pPr>
            <a:r>
              <a:rPr lang="en-US" sz="2300" b="1" dirty="0">
                <a:solidFill>
                  <a:schemeClr val="bg1"/>
                </a:solidFill>
              </a:rPr>
              <a:t>   IAM (Identity and Access Management)</a:t>
            </a:r>
            <a:endParaRPr lang="en-US" sz="2300" dirty="0">
              <a:solidFill>
                <a:schemeClr val="bg1"/>
              </a:solidFill>
            </a:endParaRPr>
          </a:p>
        </p:txBody>
      </p:sp>
      <p:sp>
        <p:nvSpPr>
          <p:cNvPr id="32" name="TextBox 31">
            <a:extLst>
              <a:ext uri="{FF2B5EF4-FFF2-40B4-BE49-F238E27FC236}">
                <a16:creationId xmlns:a16="http://schemas.microsoft.com/office/drawing/2014/main" id="{1B4F1CA1-FAF9-6DE9-111E-07E728EC2C72}"/>
              </a:ext>
            </a:extLst>
          </p:cNvPr>
          <p:cNvSpPr txBox="1"/>
          <p:nvPr/>
        </p:nvSpPr>
        <p:spPr>
          <a:xfrm>
            <a:off x="-17914" y="2944521"/>
            <a:ext cx="6263640" cy="446276"/>
          </a:xfrm>
          <a:prstGeom prst="rect">
            <a:avLst/>
          </a:prstGeom>
          <a:noFill/>
        </p:spPr>
        <p:txBody>
          <a:bodyPr wrap="square">
            <a:spAutoFit/>
          </a:bodyPr>
          <a:lstStyle/>
          <a:p>
            <a:pPr marL="800100" lvl="1" indent="-342900">
              <a:buFont typeface="+mj-lt"/>
              <a:buAutoNum type="arabicPeriod" startAt="2"/>
            </a:pPr>
            <a:r>
              <a:rPr lang="en-US" sz="2300" b="1" dirty="0">
                <a:solidFill>
                  <a:schemeClr val="bg1"/>
                </a:solidFill>
              </a:rPr>
              <a:t>  VPC (Virtual Private Cloud)</a:t>
            </a:r>
            <a:endParaRPr lang="en-US" sz="2300" dirty="0">
              <a:solidFill>
                <a:schemeClr val="bg1"/>
              </a:solidFill>
            </a:endParaRPr>
          </a:p>
        </p:txBody>
      </p:sp>
      <p:sp>
        <p:nvSpPr>
          <p:cNvPr id="34" name="TextBox 33">
            <a:extLst>
              <a:ext uri="{FF2B5EF4-FFF2-40B4-BE49-F238E27FC236}">
                <a16:creationId xmlns:a16="http://schemas.microsoft.com/office/drawing/2014/main" id="{9C870378-96A6-A52A-F36E-FD5714EFDA43}"/>
              </a:ext>
            </a:extLst>
          </p:cNvPr>
          <p:cNvSpPr txBox="1"/>
          <p:nvPr/>
        </p:nvSpPr>
        <p:spPr>
          <a:xfrm>
            <a:off x="-11942" y="3339540"/>
            <a:ext cx="6263640" cy="446276"/>
          </a:xfrm>
          <a:prstGeom prst="rect">
            <a:avLst/>
          </a:prstGeom>
          <a:noFill/>
        </p:spPr>
        <p:txBody>
          <a:bodyPr wrap="square">
            <a:spAutoFit/>
          </a:bodyPr>
          <a:lstStyle/>
          <a:p>
            <a:pPr marL="914400" lvl="1" indent="-457200">
              <a:buFont typeface="+mj-lt"/>
              <a:buAutoNum type="arabicPeriod" startAt="3"/>
            </a:pPr>
            <a:r>
              <a:rPr lang="en-US" sz="2300" b="1" dirty="0">
                <a:solidFill>
                  <a:schemeClr val="bg1"/>
                </a:solidFill>
              </a:rPr>
              <a:t> EC2 (Elastic Compute Cloud)</a:t>
            </a:r>
            <a:endParaRPr lang="en-US" sz="2300" dirty="0">
              <a:solidFill>
                <a:schemeClr val="bg1"/>
              </a:solidFill>
            </a:endParaRPr>
          </a:p>
        </p:txBody>
      </p:sp>
      <p:sp>
        <p:nvSpPr>
          <p:cNvPr id="36" name="TextBox 35">
            <a:extLst>
              <a:ext uri="{FF2B5EF4-FFF2-40B4-BE49-F238E27FC236}">
                <a16:creationId xmlns:a16="http://schemas.microsoft.com/office/drawing/2014/main" id="{D35DAAC1-2A14-5BAA-9A88-206768399F7A}"/>
              </a:ext>
            </a:extLst>
          </p:cNvPr>
          <p:cNvSpPr txBox="1"/>
          <p:nvPr/>
        </p:nvSpPr>
        <p:spPr>
          <a:xfrm>
            <a:off x="-5970" y="3734559"/>
            <a:ext cx="6263640" cy="446276"/>
          </a:xfrm>
          <a:prstGeom prst="rect">
            <a:avLst/>
          </a:prstGeom>
          <a:noFill/>
        </p:spPr>
        <p:txBody>
          <a:bodyPr wrap="square">
            <a:spAutoFit/>
          </a:bodyPr>
          <a:lstStyle/>
          <a:p>
            <a:pPr marL="800100" lvl="1" indent="-342900">
              <a:buFont typeface="+mj-lt"/>
              <a:buAutoNum type="arabicPeriod" startAt="4"/>
            </a:pPr>
            <a:r>
              <a:rPr lang="en-US" sz="2300" b="1" dirty="0">
                <a:solidFill>
                  <a:schemeClr val="bg1"/>
                </a:solidFill>
              </a:rPr>
              <a:t> DynamoDB (DDB)</a:t>
            </a:r>
            <a:endParaRPr lang="en-US" sz="2300" dirty="0">
              <a:solidFill>
                <a:schemeClr val="bg1"/>
              </a:solidFill>
            </a:endParaRPr>
          </a:p>
        </p:txBody>
      </p:sp>
      <p:sp>
        <p:nvSpPr>
          <p:cNvPr id="38" name="TextBox 37">
            <a:extLst>
              <a:ext uri="{FF2B5EF4-FFF2-40B4-BE49-F238E27FC236}">
                <a16:creationId xmlns:a16="http://schemas.microsoft.com/office/drawing/2014/main" id="{3546426D-7810-2C3D-3018-C943927DDC73}"/>
              </a:ext>
            </a:extLst>
          </p:cNvPr>
          <p:cNvSpPr txBox="1"/>
          <p:nvPr/>
        </p:nvSpPr>
        <p:spPr>
          <a:xfrm>
            <a:off x="0" y="4129578"/>
            <a:ext cx="6263640" cy="446276"/>
          </a:xfrm>
          <a:prstGeom prst="rect">
            <a:avLst/>
          </a:prstGeom>
          <a:noFill/>
        </p:spPr>
        <p:txBody>
          <a:bodyPr wrap="square">
            <a:spAutoFit/>
          </a:bodyPr>
          <a:lstStyle/>
          <a:p>
            <a:pPr marL="914400" lvl="1" indent="-457200">
              <a:buFont typeface="+mj-lt"/>
              <a:buAutoNum type="arabicPeriod" startAt="5"/>
            </a:pPr>
            <a:r>
              <a:rPr lang="en-US" sz="2300" b="1" dirty="0">
                <a:solidFill>
                  <a:schemeClr val="bg1"/>
                </a:solidFill>
              </a:rPr>
              <a:t> Lambda</a:t>
            </a:r>
            <a:endParaRPr lang="en-US" sz="2300" dirty="0">
              <a:solidFill>
                <a:schemeClr val="bg1"/>
              </a:solidFill>
            </a:endParaRPr>
          </a:p>
        </p:txBody>
      </p:sp>
      <p:sp>
        <p:nvSpPr>
          <p:cNvPr id="40" name="TextBox 39">
            <a:extLst>
              <a:ext uri="{FF2B5EF4-FFF2-40B4-BE49-F238E27FC236}">
                <a16:creationId xmlns:a16="http://schemas.microsoft.com/office/drawing/2014/main" id="{5DC2FCCB-9E98-5A60-DC34-30339ACB8E47}"/>
              </a:ext>
            </a:extLst>
          </p:cNvPr>
          <p:cNvSpPr txBox="1"/>
          <p:nvPr/>
        </p:nvSpPr>
        <p:spPr>
          <a:xfrm>
            <a:off x="-29858" y="4524598"/>
            <a:ext cx="6263640" cy="446276"/>
          </a:xfrm>
          <a:prstGeom prst="rect">
            <a:avLst/>
          </a:prstGeom>
          <a:noFill/>
        </p:spPr>
        <p:txBody>
          <a:bodyPr wrap="square">
            <a:spAutoFit/>
          </a:bodyPr>
          <a:lstStyle/>
          <a:p>
            <a:pPr marL="914400" lvl="1" indent="-457200">
              <a:spcAft>
                <a:spcPts val="1200"/>
              </a:spcAft>
              <a:buFont typeface="+mj-lt"/>
              <a:buAutoNum type="arabicPeriod" startAt="6"/>
            </a:pPr>
            <a:r>
              <a:rPr lang="en-US" sz="2300" b="1" dirty="0">
                <a:solidFill>
                  <a:schemeClr val="bg1"/>
                </a:solidFill>
              </a:rPr>
              <a:t> S3 (Simple Storage Service)</a:t>
            </a:r>
            <a:endParaRPr lang="en-US" sz="2300" dirty="0">
              <a:solidFill>
                <a:schemeClr val="bg1"/>
              </a:solidFill>
            </a:endParaRPr>
          </a:p>
        </p:txBody>
      </p:sp>
    </p:spTree>
    <p:extLst>
      <p:ext uri="{BB962C8B-B14F-4D97-AF65-F5344CB8AC3E}">
        <p14:creationId xmlns:p14="http://schemas.microsoft.com/office/powerpoint/2010/main" val="1426822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0-#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22"/>
                                        </p:tgtEl>
                                        <p:attrNameLst>
                                          <p:attrName>style.visibility</p:attrName>
                                        </p:attrNameLst>
                                      </p:cBhvr>
                                      <p:to>
                                        <p:strVal val="visible"/>
                                      </p:to>
                                    </p:set>
                                    <p:anim calcmode="lin" valueType="num">
                                      <p:cBhvr>
                                        <p:cTn id="12" dur="500" fill="hold"/>
                                        <p:tgtEl>
                                          <p:spTgt spid="22"/>
                                        </p:tgtEl>
                                        <p:attrNameLst>
                                          <p:attrName>ppt_w</p:attrName>
                                        </p:attrNameLst>
                                      </p:cBhvr>
                                      <p:tavLst>
                                        <p:tav tm="0">
                                          <p:val>
                                            <p:fltVal val="0"/>
                                          </p:val>
                                        </p:tav>
                                        <p:tav tm="100000">
                                          <p:val>
                                            <p:strVal val="#ppt_w"/>
                                          </p:val>
                                        </p:tav>
                                      </p:tavLst>
                                    </p:anim>
                                    <p:anim calcmode="lin" valueType="num">
                                      <p:cBhvr>
                                        <p:cTn id="13" dur="500" fill="hold"/>
                                        <p:tgtEl>
                                          <p:spTgt spid="22"/>
                                        </p:tgtEl>
                                        <p:attrNameLst>
                                          <p:attrName>ppt_h</p:attrName>
                                        </p:attrNameLst>
                                      </p:cBhvr>
                                      <p:tavLst>
                                        <p:tav tm="0">
                                          <p:val>
                                            <p:fltVal val="0"/>
                                          </p:val>
                                        </p:tav>
                                        <p:tav tm="100000">
                                          <p:val>
                                            <p:strVal val="#ppt_h"/>
                                          </p:val>
                                        </p:tav>
                                      </p:tavLst>
                                    </p:anim>
                                    <p:animEffect transition="in" filter="fade">
                                      <p:cBhvr>
                                        <p:cTn id="14" dur="500"/>
                                        <p:tgtEl>
                                          <p:spTgt spid="22"/>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0-#ppt_w/2"/>
                                          </p:val>
                                        </p:tav>
                                        <p:tav tm="100000">
                                          <p:val>
                                            <p:strVal val="#ppt_x"/>
                                          </p:val>
                                        </p:tav>
                                      </p:tavLst>
                                    </p:anim>
                                    <p:anim calcmode="lin" valueType="num">
                                      <p:cBhvr additive="base">
                                        <p:cTn id="20"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5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28"/>
                                        </p:tgtEl>
                                        <p:attrNameLst>
                                          <p:attrName>style.visibility</p:attrName>
                                        </p:attrNameLst>
                                      </p:cBhvr>
                                      <p:to>
                                        <p:strVal val="visible"/>
                                      </p:to>
                                    </p:set>
                                    <p:anim calcmode="lin" valueType="num">
                                      <p:cBhvr additive="base">
                                        <p:cTn id="30" dur="500" fill="hold"/>
                                        <p:tgtEl>
                                          <p:spTgt spid="28"/>
                                        </p:tgtEl>
                                        <p:attrNameLst>
                                          <p:attrName>ppt_x</p:attrName>
                                        </p:attrNameLst>
                                      </p:cBhvr>
                                      <p:tavLst>
                                        <p:tav tm="0">
                                          <p:val>
                                            <p:strVal val="0-#ppt_w/2"/>
                                          </p:val>
                                        </p:tav>
                                        <p:tav tm="100000">
                                          <p:val>
                                            <p:strVal val="#ppt_x"/>
                                          </p:val>
                                        </p:tav>
                                      </p:tavLst>
                                    </p:anim>
                                    <p:anim calcmode="lin" valueType="num">
                                      <p:cBhvr additive="base">
                                        <p:cTn id="31"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32"/>
                                        </p:tgtEl>
                                        <p:attrNameLst>
                                          <p:attrName>style.visibility</p:attrName>
                                        </p:attrNameLst>
                                      </p:cBhvr>
                                      <p:to>
                                        <p:strVal val="visible"/>
                                      </p:to>
                                    </p:set>
                                    <p:anim calcmode="lin" valueType="num">
                                      <p:cBhvr additive="base">
                                        <p:cTn id="36" dur="500" fill="hold"/>
                                        <p:tgtEl>
                                          <p:spTgt spid="32"/>
                                        </p:tgtEl>
                                        <p:attrNameLst>
                                          <p:attrName>ppt_x</p:attrName>
                                        </p:attrNameLst>
                                      </p:cBhvr>
                                      <p:tavLst>
                                        <p:tav tm="0">
                                          <p:val>
                                            <p:strVal val="0-#ppt_w/2"/>
                                          </p:val>
                                        </p:tav>
                                        <p:tav tm="100000">
                                          <p:val>
                                            <p:strVal val="#ppt_x"/>
                                          </p:val>
                                        </p:tav>
                                      </p:tavLst>
                                    </p:anim>
                                    <p:anim calcmode="lin" valueType="num">
                                      <p:cBhvr additive="base">
                                        <p:cTn id="37" dur="500" fill="hold"/>
                                        <p:tgtEl>
                                          <p:spTgt spid="32"/>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grpId="0" nodeType="clickEffect">
                                  <p:stCondLst>
                                    <p:cond delay="0"/>
                                  </p:stCondLst>
                                  <p:childTnLst>
                                    <p:set>
                                      <p:cBhvr>
                                        <p:cTn id="41" dur="1" fill="hold">
                                          <p:stCondLst>
                                            <p:cond delay="0"/>
                                          </p:stCondLst>
                                        </p:cTn>
                                        <p:tgtEl>
                                          <p:spTgt spid="34"/>
                                        </p:tgtEl>
                                        <p:attrNameLst>
                                          <p:attrName>style.visibility</p:attrName>
                                        </p:attrNameLst>
                                      </p:cBhvr>
                                      <p:to>
                                        <p:strVal val="visible"/>
                                      </p:to>
                                    </p:set>
                                    <p:anim calcmode="lin" valueType="num">
                                      <p:cBhvr additive="base">
                                        <p:cTn id="42" dur="500" fill="hold"/>
                                        <p:tgtEl>
                                          <p:spTgt spid="34"/>
                                        </p:tgtEl>
                                        <p:attrNameLst>
                                          <p:attrName>ppt_x</p:attrName>
                                        </p:attrNameLst>
                                      </p:cBhvr>
                                      <p:tavLst>
                                        <p:tav tm="0">
                                          <p:val>
                                            <p:strVal val="0-#ppt_w/2"/>
                                          </p:val>
                                        </p:tav>
                                        <p:tav tm="100000">
                                          <p:val>
                                            <p:strVal val="#ppt_x"/>
                                          </p:val>
                                        </p:tav>
                                      </p:tavLst>
                                    </p:anim>
                                    <p:anim calcmode="lin" valueType="num">
                                      <p:cBhvr additive="base">
                                        <p:cTn id="43" dur="5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8" fill="hold" grpId="0" nodeType="clickEffect">
                                  <p:stCondLst>
                                    <p:cond delay="0"/>
                                  </p:stCondLst>
                                  <p:childTnLst>
                                    <p:set>
                                      <p:cBhvr>
                                        <p:cTn id="47" dur="1" fill="hold">
                                          <p:stCondLst>
                                            <p:cond delay="0"/>
                                          </p:stCondLst>
                                        </p:cTn>
                                        <p:tgtEl>
                                          <p:spTgt spid="36"/>
                                        </p:tgtEl>
                                        <p:attrNameLst>
                                          <p:attrName>style.visibility</p:attrName>
                                        </p:attrNameLst>
                                      </p:cBhvr>
                                      <p:to>
                                        <p:strVal val="visible"/>
                                      </p:to>
                                    </p:set>
                                    <p:anim calcmode="lin" valueType="num">
                                      <p:cBhvr additive="base">
                                        <p:cTn id="48" dur="500" fill="hold"/>
                                        <p:tgtEl>
                                          <p:spTgt spid="36"/>
                                        </p:tgtEl>
                                        <p:attrNameLst>
                                          <p:attrName>ppt_x</p:attrName>
                                        </p:attrNameLst>
                                      </p:cBhvr>
                                      <p:tavLst>
                                        <p:tav tm="0">
                                          <p:val>
                                            <p:strVal val="0-#ppt_w/2"/>
                                          </p:val>
                                        </p:tav>
                                        <p:tav tm="100000">
                                          <p:val>
                                            <p:strVal val="#ppt_x"/>
                                          </p:val>
                                        </p:tav>
                                      </p:tavLst>
                                    </p:anim>
                                    <p:anim calcmode="lin" valueType="num">
                                      <p:cBhvr additive="base">
                                        <p:cTn id="49" dur="500" fill="hold"/>
                                        <p:tgtEl>
                                          <p:spTgt spid="36"/>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8" fill="hold" grpId="0" nodeType="clickEffect">
                                  <p:stCondLst>
                                    <p:cond delay="0"/>
                                  </p:stCondLst>
                                  <p:childTnLst>
                                    <p:set>
                                      <p:cBhvr>
                                        <p:cTn id="53" dur="1" fill="hold">
                                          <p:stCondLst>
                                            <p:cond delay="0"/>
                                          </p:stCondLst>
                                        </p:cTn>
                                        <p:tgtEl>
                                          <p:spTgt spid="38"/>
                                        </p:tgtEl>
                                        <p:attrNameLst>
                                          <p:attrName>style.visibility</p:attrName>
                                        </p:attrNameLst>
                                      </p:cBhvr>
                                      <p:to>
                                        <p:strVal val="visible"/>
                                      </p:to>
                                    </p:set>
                                    <p:anim calcmode="lin" valueType="num">
                                      <p:cBhvr additive="base">
                                        <p:cTn id="54" dur="500" fill="hold"/>
                                        <p:tgtEl>
                                          <p:spTgt spid="38"/>
                                        </p:tgtEl>
                                        <p:attrNameLst>
                                          <p:attrName>ppt_x</p:attrName>
                                        </p:attrNameLst>
                                      </p:cBhvr>
                                      <p:tavLst>
                                        <p:tav tm="0">
                                          <p:val>
                                            <p:strVal val="0-#ppt_w/2"/>
                                          </p:val>
                                        </p:tav>
                                        <p:tav tm="100000">
                                          <p:val>
                                            <p:strVal val="#ppt_x"/>
                                          </p:val>
                                        </p:tav>
                                      </p:tavLst>
                                    </p:anim>
                                    <p:anim calcmode="lin" valueType="num">
                                      <p:cBhvr additive="base">
                                        <p:cTn id="55" dur="500" fill="hold"/>
                                        <p:tgtEl>
                                          <p:spTgt spid="38"/>
                                        </p:tgtEl>
                                        <p:attrNameLst>
                                          <p:attrName>ppt_y</p:attrName>
                                        </p:attrNameLst>
                                      </p:cBhvr>
                                      <p:tavLst>
                                        <p:tav tm="0">
                                          <p:val>
                                            <p:strVal val="#ppt_y"/>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8" fill="hold" grpId="0" nodeType="clickEffect">
                                  <p:stCondLst>
                                    <p:cond delay="0"/>
                                  </p:stCondLst>
                                  <p:childTnLst>
                                    <p:set>
                                      <p:cBhvr>
                                        <p:cTn id="59" dur="1" fill="hold">
                                          <p:stCondLst>
                                            <p:cond delay="0"/>
                                          </p:stCondLst>
                                        </p:cTn>
                                        <p:tgtEl>
                                          <p:spTgt spid="40"/>
                                        </p:tgtEl>
                                        <p:attrNameLst>
                                          <p:attrName>style.visibility</p:attrName>
                                        </p:attrNameLst>
                                      </p:cBhvr>
                                      <p:to>
                                        <p:strVal val="visible"/>
                                      </p:to>
                                    </p:set>
                                    <p:anim calcmode="lin" valueType="num">
                                      <p:cBhvr additive="base">
                                        <p:cTn id="60" dur="500" fill="hold"/>
                                        <p:tgtEl>
                                          <p:spTgt spid="40"/>
                                        </p:tgtEl>
                                        <p:attrNameLst>
                                          <p:attrName>ppt_x</p:attrName>
                                        </p:attrNameLst>
                                      </p:cBhvr>
                                      <p:tavLst>
                                        <p:tav tm="0">
                                          <p:val>
                                            <p:strVal val="0-#ppt_w/2"/>
                                          </p:val>
                                        </p:tav>
                                        <p:tav tm="100000">
                                          <p:val>
                                            <p:strVal val="#ppt_x"/>
                                          </p:val>
                                        </p:tav>
                                      </p:tavLst>
                                    </p:anim>
                                    <p:anim calcmode="lin" valueType="num">
                                      <p:cBhvr additive="base">
                                        <p:cTn id="61" dur="500" fill="hold"/>
                                        <p:tgtEl>
                                          <p:spTgt spid="40"/>
                                        </p:tgtEl>
                                        <p:attrNameLst>
                                          <p:attrName>ppt_y</p:attrName>
                                        </p:attrNameLst>
                                      </p:cBhvr>
                                      <p:tavLst>
                                        <p:tav tm="0">
                                          <p:val>
                                            <p:strVal val="#ppt_y"/>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4" grpId="0"/>
      <p:bldP spid="26" grpId="0"/>
      <p:bldP spid="28" grpId="0"/>
      <p:bldP spid="32" grpId="0"/>
      <p:bldP spid="34" grpId="0"/>
      <p:bldP spid="36" grpId="0"/>
      <p:bldP spid="38" grpId="0"/>
      <p:bldP spid="40"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8D89E-DBA2-93D9-A0A1-5B36D284BE10}"/>
            </a:ext>
          </a:extLst>
        </p:cNvPr>
        <p:cNvGrpSpPr/>
        <p:nvPr/>
      </p:nvGrpSpPr>
      <p:grpSpPr>
        <a:xfrm>
          <a:off x="0" y="0"/>
          <a:ext cx="0" cy="0"/>
          <a:chOff x="0" y="0"/>
          <a:chExt cx="0" cy="0"/>
        </a:xfrm>
      </p:grpSpPr>
      <p:pic>
        <p:nvPicPr>
          <p:cNvPr id="15" name="Graphic 14">
            <a:extLst>
              <a:ext uri="{FF2B5EF4-FFF2-40B4-BE49-F238E27FC236}">
                <a16:creationId xmlns:a16="http://schemas.microsoft.com/office/drawing/2014/main" id="{65D1344C-C24D-DE4E-4D68-33A70016B2F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4031" y="422459"/>
            <a:ext cx="10363937" cy="6013081"/>
          </a:xfrm>
          <a:prstGeom prst="rect">
            <a:avLst/>
          </a:prstGeom>
        </p:spPr>
      </p:pic>
      <p:sp>
        <p:nvSpPr>
          <p:cNvPr id="17" name="TextBox 16">
            <a:extLst>
              <a:ext uri="{FF2B5EF4-FFF2-40B4-BE49-F238E27FC236}">
                <a16:creationId xmlns:a16="http://schemas.microsoft.com/office/drawing/2014/main" id="{1255B966-3848-AE85-405E-C42E3DC293B5}"/>
              </a:ext>
            </a:extLst>
          </p:cNvPr>
          <p:cNvSpPr txBox="1"/>
          <p:nvPr/>
        </p:nvSpPr>
        <p:spPr>
          <a:xfrm rot="16200000">
            <a:off x="-173107" y="973769"/>
            <a:ext cx="1101584" cy="400110"/>
          </a:xfrm>
          <a:prstGeom prst="rect">
            <a:avLst/>
          </a:prstGeom>
          <a:noFill/>
        </p:spPr>
        <p:txBody>
          <a:bodyPr wrap="none" rtlCol="0">
            <a:spAutoFit/>
          </a:bodyPr>
          <a:lstStyle/>
          <a:p>
            <a:r>
              <a:rPr lang="en-EG" sz="2000" b="1" dirty="0">
                <a:solidFill>
                  <a:srgbClr val="FFA93A"/>
                </a:solidFill>
              </a:rPr>
              <a:t>DEMO 1</a:t>
            </a:r>
          </a:p>
        </p:txBody>
      </p:sp>
    </p:spTree>
    <p:extLst>
      <p:ext uri="{BB962C8B-B14F-4D97-AF65-F5344CB8AC3E}">
        <p14:creationId xmlns:p14="http://schemas.microsoft.com/office/powerpoint/2010/main" val="3137849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7"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anim calcmode="lin" valueType="num">
                                      <p:cBhvr>
                                        <p:cTn id="14" dur="1000" fill="hold"/>
                                        <p:tgtEl>
                                          <p:spTgt spid="15"/>
                                        </p:tgtEl>
                                        <p:attrNameLst>
                                          <p:attrName>ppt_x</p:attrName>
                                        </p:attrNameLst>
                                      </p:cBhvr>
                                      <p:tavLst>
                                        <p:tav tm="0">
                                          <p:val>
                                            <p:strVal val="#ppt_x"/>
                                          </p:val>
                                        </p:tav>
                                        <p:tav tm="100000">
                                          <p:val>
                                            <p:strVal val="#ppt_x"/>
                                          </p:val>
                                        </p:tav>
                                      </p:tavLst>
                                    </p:anim>
                                    <p:anim calcmode="lin" valueType="num">
                                      <p:cBhvr>
                                        <p:cTn id="15" dur="900" decel="100000" fill="hold"/>
                                        <p:tgtEl>
                                          <p:spTgt spid="15"/>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15"/>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2E8B2-B8D3-99A4-4629-3E79D40875A7}"/>
            </a:ext>
          </a:extLst>
        </p:cNvPr>
        <p:cNvGrpSpPr/>
        <p:nvPr/>
      </p:nvGrpSpPr>
      <p:grpSpPr>
        <a:xfrm>
          <a:off x="0" y="0"/>
          <a:ext cx="0" cy="0"/>
          <a:chOff x="0" y="0"/>
          <a:chExt cx="0" cy="0"/>
        </a:xfrm>
      </p:grpSpPr>
      <p:pic>
        <p:nvPicPr>
          <p:cNvPr id="10" name="Graphic 9">
            <a:extLst>
              <a:ext uri="{FF2B5EF4-FFF2-40B4-BE49-F238E27FC236}">
                <a16:creationId xmlns:a16="http://schemas.microsoft.com/office/drawing/2014/main" id="{2FE175F4-000C-4D93-682C-97606DCD60D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25569" y="592677"/>
            <a:ext cx="11335612" cy="5672645"/>
          </a:xfrm>
          <a:prstGeom prst="rect">
            <a:avLst/>
          </a:prstGeom>
        </p:spPr>
      </p:pic>
      <p:sp>
        <p:nvSpPr>
          <p:cNvPr id="2" name="TextBox 1">
            <a:extLst>
              <a:ext uri="{FF2B5EF4-FFF2-40B4-BE49-F238E27FC236}">
                <a16:creationId xmlns:a16="http://schemas.microsoft.com/office/drawing/2014/main" id="{C21BADF0-957A-7229-540A-E71BC7EE18ED}"/>
              </a:ext>
            </a:extLst>
          </p:cNvPr>
          <p:cNvSpPr txBox="1"/>
          <p:nvPr/>
        </p:nvSpPr>
        <p:spPr>
          <a:xfrm rot="16200000">
            <a:off x="-173107" y="973769"/>
            <a:ext cx="1101584" cy="400110"/>
          </a:xfrm>
          <a:prstGeom prst="rect">
            <a:avLst/>
          </a:prstGeom>
          <a:noFill/>
        </p:spPr>
        <p:txBody>
          <a:bodyPr wrap="none" rtlCol="0">
            <a:spAutoFit/>
          </a:bodyPr>
          <a:lstStyle/>
          <a:p>
            <a:r>
              <a:rPr lang="en-EG" sz="2000" b="1" dirty="0">
                <a:solidFill>
                  <a:srgbClr val="FFA93A"/>
                </a:solidFill>
              </a:rPr>
              <a:t>DEMO 2</a:t>
            </a:r>
          </a:p>
        </p:txBody>
      </p:sp>
    </p:spTree>
    <p:extLst>
      <p:ext uri="{BB962C8B-B14F-4D97-AF65-F5344CB8AC3E}">
        <p14:creationId xmlns:p14="http://schemas.microsoft.com/office/powerpoint/2010/main" val="4166886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7033</TotalTime>
  <Words>5722</Words>
  <Application>Microsoft Macintosh PowerPoint</Application>
  <PresentationFormat>Widescreen</PresentationFormat>
  <Paragraphs>475</Paragraphs>
  <Slides>58</Slides>
  <Notes>0</Notes>
  <HiddenSlides>0</HiddenSlides>
  <MMClips>0</MMClips>
  <ScaleCrop>false</ScaleCrop>
  <HeadingPairs>
    <vt:vector size="6" baseType="variant">
      <vt:variant>
        <vt:lpstr>Fonts Used</vt:lpstr>
      </vt:variant>
      <vt:variant>
        <vt:i4>14</vt:i4>
      </vt:variant>
      <vt:variant>
        <vt:lpstr>Theme</vt:lpstr>
      </vt:variant>
      <vt:variant>
        <vt:i4>2</vt:i4>
      </vt:variant>
      <vt:variant>
        <vt:lpstr>Slide Titles</vt:lpstr>
      </vt:variant>
      <vt:variant>
        <vt:i4>58</vt:i4>
      </vt:variant>
    </vt:vector>
  </HeadingPairs>
  <TitlesOfParts>
    <vt:vector size="74" baseType="lpstr">
      <vt:lpstr>AmazonEmberLight</vt:lpstr>
      <vt:lpstr>Aptos</vt:lpstr>
      <vt:lpstr>Aptos Display</vt:lpstr>
      <vt:lpstr>Arial</vt:lpstr>
      <vt:lpstr>Arial Black</vt:lpstr>
      <vt:lpstr>Georgia</vt:lpstr>
      <vt:lpstr>Georgia Pro Cond</vt:lpstr>
      <vt:lpstr>Georgia Pro Light</vt:lpstr>
      <vt:lpstr>Google Sans</vt:lpstr>
      <vt:lpstr>Google Sans Text</vt:lpstr>
      <vt:lpstr>Helvetica</vt:lpstr>
      <vt:lpstr>Inter</vt:lpstr>
      <vt:lpstr>Segoe UI</vt:lpstr>
      <vt:lpstr>source-serif-pro</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Ahmad Shata, Vodafone</dc:creator>
  <cp:lastModifiedBy>Ahmad Shata, Vodafone</cp:lastModifiedBy>
  <cp:revision>10</cp:revision>
  <dcterms:created xsi:type="dcterms:W3CDTF">2024-12-09T13:35:26Z</dcterms:created>
  <dcterms:modified xsi:type="dcterms:W3CDTF">2024-12-14T13:24:47Z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7da11e7-ad83-4459-98c6-12a88e2eac78_Enabled">
    <vt:lpwstr>true</vt:lpwstr>
  </property>
  <property fmtid="{D5CDD505-2E9C-101B-9397-08002B2CF9AE}" pid="3" name="MSIP_Label_17da11e7-ad83-4459-98c6-12a88e2eac78_SetDate">
    <vt:lpwstr>2024-12-09T15:04:24Z</vt:lpwstr>
  </property>
  <property fmtid="{D5CDD505-2E9C-101B-9397-08002B2CF9AE}" pid="4" name="MSIP_Label_17da11e7-ad83-4459-98c6-12a88e2eac78_Method">
    <vt:lpwstr>Privileged</vt:lpwstr>
  </property>
  <property fmtid="{D5CDD505-2E9C-101B-9397-08002B2CF9AE}" pid="5" name="MSIP_Label_17da11e7-ad83-4459-98c6-12a88e2eac78_Name">
    <vt:lpwstr>17da11e7-ad83-4459-98c6-12a88e2eac78</vt:lpwstr>
  </property>
  <property fmtid="{D5CDD505-2E9C-101B-9397-08002B2CF9AE}" pid="6" name="MSIP_Label_17da11e7-ad83-4459-98c6-12a88e2eac78_SiteId">
    <vt:lpwstr>68283f3b-8487-4c86-adb3-a5228f18b893</vt:lpwstr>
  </property>
  <property fmtid="{D5CDD505-2E9C-101B-9397-08002B2CF9AE}" pid="7" name="MSIP_Label_17da11e7-ad83-4459-98c6-12a88e2eac78_ActionId">
    <vt:lpwstr>c0f15cad-9b89-4a07-ab64-e0f6ad093158</vt:lpwstr>
  </property>
  <property fmtid="{D5CDD505-2E9C-101B-9397-08002B2CF9AE}" pid="8" name="MSIP_Label_17da11e7-ad83-4459-98c6-12a88e2eac78_ContentBits">
    <vt:lpwstr>0</vt:lpwstr>
  </property>
</Properties>
</file>